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meeting in one sentence: this is a status report on where the project stands, not a results presentation.
Say up front what the deck does: it walks from the problem definition, through how the DTA field got to where it is, to why I picked these two specific papers, and then to what I actually found when I opened their code.
The most important thing to flag early is the amber box. Neither paper has been reproduced. What has been done is two full paper audits and two full code audits. If the supervisor takes one thing from this meeting, it should be that the audits changed what the next experiment needs to look like.
Keep this slide to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we are all using the same vocabulary for the rest of the meeting.
Walk the left flow quickly: a drug comes in as a SMILES string, a target as an amino-acid sequence, they bind, and the thing we want to predict is the strength of that binding.
The distinction on the right is the one that matters. DTI is a yes/no question and is usually posed as classification. DTA is a "how much" question and is posed as regression. The survey makes the point that the binary formulation has to invent negatives, because non-interacting pairs are mostly just unmeasured pairs rather than confirmed non-binders. Affinity sidesteps that.
Conclusion the supervisor should take: everything after this slide is about the regression problem. Both of my papers are DTA papers, which is what makes them comparable at all.
Don't get drawn into the biochemistry here — if asked about Kd versus Ki versus IC50, say the papers use different ones and that this actually turns out to matter in the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The point is to justify why anyone builds these models at all.
The funnel on the left is the argument in one picture: the candidate space is too big to test, computation cuts it down, and what survives goes to the bench. The four cards on the right are just the reasons that funnel is necessary — cost, time, scale, and coverage of pairs nobody has measured.
The amber bar at the bottom is deliberate and I should say it out loud. I am not claiming these models replace experiments. They reorder the queue. Supervisors tend to push back if a student overclaims here, so I'd rather state the limit myself.
The "coverage" card is worth a beat, because it sets up the new-drug and new-target evaluation settings that both papers use and that I audit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the most time on. It is the spine of the literature review.
Walk left to right along the top row, then drop to the second row. The story is a steady removal of human feature engineering. Stage 1 depends entirely on descriptors somebody designed by hand. By stage 6 the model learns its own representation from the raw sequence. By stage 8 the representation is learned before the DTA task is even seen, on unlabelled corpora.
Two things to draw attention to. First, the colour shift is deliberate: dark for the classical era, teal for the first deep-learning era, violet for the current one. Second, the band at the bottom — the field also moved from asking "do they interact" to "how strongly", and that is a change in the task, not just in the model.
Be honest about the source: I am following the taxonomy from the 2026 Biotechnology Advances survey and I have redrawn the diagram myself rather than reproducing their figure. I should flag that I have worked from the survey's categorisation and abstract; I have not had access to the full text, so if the supervisor wants the figure itself we need library access.
Do not turn this into a list of papers. If asked for representative methods, give one or two per stage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slide is to make the previous timeline concrete. The stages on slide 4 are not arbitrary — each one corresponds to a change in how the drug and the target are encoded.
Read it as three parallel tracks. Drugs move from strings and fingerprints to graphs to learned embeddings. Targets move from descriptors and raw sequence to learned sequence models to structure. The joint track is how the two sides get combined, and it moves from simple fusion to explicit interaction modelling.
The bottom bar is the one that matters for my project. Both DCGAN-DTA and Co-VAE sit in the leftmost column on both tracks — they consume label-encoded sequences and nothing else. That is a deliberate scoping choice, and it is also what makes them comparable to each other: they take the same kind of input.
If the supervisor asks why I am not looking at graph or structure-based methods, the answer is that keeping representation fixed isolates the variable I actually want to study, which is the generative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positions my work inside the field rather than overselling it.
The eight cards are the model families the survey organises modern DTA work into. I do not need to dwell on each one — point at them, note that they are mostly about how the encoder is built.
The violet band is the real content. Generative and representation-learning methods cut across the families rather than sitting beside them: a GAN or a VAE is a way of learning the representation, and the affinity head can then be a CNN or anything else. That is exactly what both of my papers do.
The amber caveat is the honest part and I should say it without being prompted. GAN and VAE approaches are not where the leaderboard is. If the supervisor asks "why study a branch that isn't state of the art", the answer is that the interesting question is whether the generative component actually contributes what the papers claim it contributes — which is a reproducibility question, and it turns out to be a good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presentation — it connects the literature review to my two papers.
Keep the two boxes conceptual. GAN: two networks compete, and the discriminator ends up with useful features. VAE: encode to a distribution, sample, decode, and the latent code is the useful representation. Do not go into the loss functions here; the maths comes later and only where the audit needs it.
The chain across the middle is the argument in one line: DTA, narrowed to deep learning, narrowed to generative and representation learning, narrowed to GAN and VAE, and then to the two specific papers I selected.
The last sentence in the grey box is the one to land, and it is deliberately in red. Both papers claim the generative component contributes something. The audits raise concrete doubts about whether it does in the released code. That is the thread running through the second half of the deck.
If asked why not compare GAN to GAN or VAE to VAE: because the research question is about the two families, not about two implementations of one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selection honestly: the first five criteria are why I picked these papers up front, and the sixth is practical scope.
Criteria one and two are the real scientific reasons. Same task and same input level means the comparison is not confounded by representation. Different generative families means there is actually something to compare.
Criteria three to five are what made an audit possible at all — released code, a citable venue, and a codebase small enough to read line by line with bundled data I can check.
The amber box at the bottom is a finding, not a criterion, and I want to be clear about that distinction. I discovered during the audit that the two papers have no dataset in common. That is a problem for the comparison and it directly shapes the next phase: I cannot just line up their published numbers, I have to build a shared evaluation protocol. Expect the supervisor to ask what that protocol should be — my current answer is that it is an open design decision and one of the things I would like to discuss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what the paper says. I have not mixed in any code findings — that is the next slide, and keeping them apart is the whole method of the audit.
Walk the architecture strip left to right: encode, pretrain a DCGAN, reuse the discriminator's features, run a CNN block, merge the drug and protein branches with an add layer, and predict. The three variants differ only in how the protein side is encoded.
The specs on the right are the reproducible parts — datasets with exact counts, a clear training configuration, four defined metrics.
The grey box is the finding I want to land. The paper has four numbered equations and every one of them is an evaluation metric. There is no loss function anywhere in the paper, no adversarial objective, and no statement of what actually gets transferred from the GAN into the predictor. For a method named after its GAN, that is a substantial gap — and it means the code is the only place that information exists.
Note the redrawn figure and the citation. I did not reproduce their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deck turns. Everything here came from reading the repository, and every line is tagged VERIFIED because I traced it in the source or confirmed it against the bundled data files.
Start with the pipeline strip so the supervisor can see it is not uniformly bad. Data and preprocessing match the paper exactly — I loaded both affinity matrices and the fold files and confirmed the published counts to the pair. That is a genuine positive and I should say so.
Then the problems. The first one is the most serious: the layer the method transfers from the GAN into the predictor was built for a one-channel input and is then applied to a thirty-two-channel embedding. That is the method's namesake mechanism and, as written, the shapes do not line up. I have not executed it, so I am careful to say the shapes are verified and the consequence is inferred — that distinction matters and Phase 4 has to settle it.
Second: three of the five experiment families in the paper simply have no code. Four of the eight figures cannot be produced from this repository.
Third: the headline metric is not the metric the paper defines.
The green row matters for balance. This is not a bad repository across the board; it is a repository whose data handling is solid and whose model and evaluation diverge from the paper.
If asked "is this a bug or a difference?", my answer is that I am reporting behaviour, not intent, and Phase 4 is designed to settle the one item that is still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as the DCGAN-DTA paper slide, so the supervisor can compare like with like. Again, everything here is paper-side only.
The architecture is two parallel VAEs — one over the drug SMILES, one over the target sequence — each with a gated-CNN encoder, a latent code, and a deconvolutional decoder. The regression block takes both latent codes and predicts the affinity. That regression term is what couples the two VAEs, which is what "co-regularised" means.
Point out the contrast with the previous paper. Where DCGAN-DTA had no objective at all, Co-VAE derives one formally as a theorem, with an explicit lower bound on the joint likelihood. This is a TPAMI paper and it shows.
But the grey box is important: it is not complete either. The latent dimension is never stated, so you literally cannot instantiate the model from the paper. Lambda's sign does not work out as printed. And a validation set appears in the caption of Figure 6 but nowhere in the protocol description. Those three gaps are exactly what the code audit had to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framework as slide 10 so the two audits are directly comparable.
The single most important finding is the first one. The KIBA dataset the code actually builds is not the dataset the paper reports — it is 1954 by 217 instead of 2111 by 229. I traced why: the bundled data files already contain the paper's filtered 2111 by 229, so that step happened offline, and then the code applies a second length filter on top that nobody documents. That is a concrete, explainable divergence and it affects every KIBA number in the paper.
Second finding: the affinity filter the paper describes does not run at all. I confirmed this by loading the matrix — values below ten are still there.
Third: the same model-selection problem as DCGAN-DTA. The code builds a validation set and then throws it away, passing the test fold to the grid search instead. That the same issue appears independently in two unrelated repositories is itself worth noting.
The green row is genuinely positive and I should not skip it. The code answers three questions the paper left open — lambda is used as ten to the power of lambda, so the sign paradox I flagged in the paper audit simply does not arise; the latent dimension is 96; and I now have every FC width. Reading the code made the paper more reproducible, not less.
Finish on the blockers. As shipped, this code cannot run on a modern Python, cannot run without a specific flag that no README documents, and cannot run without a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table aloud. Let the supervisor scan it and point at four rows.
Row one and two: the comparison is fair at the task level. Same problem, same kind of input, genuinely different model families. That is what makes the study worth doing.
The datasets row is where it gets awkward. DCGAN-DTA's data reproduces the paper exactly — I verified both matrices and every fold file. Co-VAE's Davis reproduces, but KIBA does not. So the two codebases are not equally trustworthy at the data level, and that asymmetry has to be handled in the comparison.
The code-availability row: DCGAN-DTA has no confirmed execution blocker, Co-VAE has three. So the practical effort to get each running is very different, and that shapes the Phase 4 plan.
The last row is the honest one. Both are audited, neither is executed. I want to be unambiguous that nothing in this deck is a performance claim.
If the supervisor asks which paper is better — that is not a question the audits can answer, and I should say so. They answer which paper is more faithfully implemented, which is a different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intellectual payoff of the audit phase, and it is probably the one the supervisor will engage with most. These are transferable lessons, not a list of bugs.
Lesson three is the one I would foreground. Two completely unrelated codebases, different authors, different countries, different frameworks, different years — and both build a validation set and then quietly evaluate on the test fold. That is not a coincidence about these two papers; it says something about how the field's reference implementations get written. It also means published numbers in this area are probably selection-optimistic more often than the papers admit.
Lesson two is the most consequential for my own next step. If the dataset the code builds is not the dataset the paper reports, then reproducing the paper's number and reproducing the code's number are two different goals, and I have to decide which one I am pursuing.
Lesson six is deliberately last and deliberately green. Auditing is not only about finding faults. Reading the Co-VAE code told me three things the paper does not contain, and it dissolved an apparent contradiction I had flagged in the paper audit. That is a genuinely useful outcome and it argues for doing the code audit before, not after, attempting reproduction.
If there is time, this is a good slide to pause on and invite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accountability slide. Be precise and do not blur the columns.
The completed column is substantial and I should own it — two full paper audits, two full code audits, plus data and fold verification on all four datasets. That is real work and it produced findings that change the plan.
The open column is what I genuinely do not know. The first item is the one I care about most: I have verified that the shapes in DCGAN-DTA's transferred layer do not match, but I have not executed it, so I do not yet know whether the model constructs at all. If it does not, then a large part of what the paper reports needs a different explanation, and that is a significant claim I am not yet in a position to make.
The planned column has not been started. The amber bar says that explicitly because the easiest way to lose a supervisor's trust is to let planned work drift into sounding completed.
If asked how long the open column takes: the diagnostics are small and cheap, but they depend on getting an environment with a GPU and the right framework versions, which is the practical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slide and leave it up for the discussion.
The roadmap is deliberately literal. Five steps are done, five are not, and the amber marker sits exactly between the code audit and experimental verification. That is where I am.
State the research question as a question. It is what I want to answer, not something I have answered. And explain why the audits mean I cannot shortcut to it: the two papers share no dataset, so their published tables cannot be compared directly; and in both repositories the reported numbers were produced with the test fold informing model selection, so they are not a clean baseline either. Between those two facts, a controlled protocol is not a nicety, it is the only way the question becomes answerable.
The last line is the concrete ask. I am not proposing to jump into comparative experiments. I want to clear three specific blockers and run construction-only smoke tests first, because if DCGAN-DTA does not construct, the whole comparison has to be reframed.
Two things I would like from the supervisor today: agreement on whether I am reproducing the papers' numbers or the code's behaviour, since the Co-VAE dataset divergence makes those different targets; and guidance on what a fair common evaluation protocol looks like given that the datasets do not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02920" y="1874520"/>
            <a:ext cx="11185855"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Drug–Target Affinity Prediction</a:t>
            </a:r>
            <a:endParaRPr lang="en-US" sz="4400" dirty="0"/>
          </a:p>
        </p:txBody>
      </p:sp>
      <p:sp>
        <p:nvSpPr>
          <p:cNvPr id="3" name="Text 1"/>
          <p:cNvSpPr/>
          <p:nvPr/>
        </p:nvSpPr>
        <p:spPr>
          <a:xfrm>
            <a:off x="502920" y="2761488"/>
            <a:ext cx="11185855" cy="457200"/>
          </a:xfrm>
          <a:prstGeom prst="rect">
            <a:avLst/>
          </a:prstGeom>
          <a:noFill/>
          <a:ln/>
        </p:spPr>
        <p:txBody>
          <a:bodyPr wrap="square" lIns="0" tIns="0" rIns="0" bIns="0" rtlCol="0" anchor="ctr"/>
          <a:lstStyle/>
          <a:p>
            <a:pPr indent="0" marL="0">
              <a:buNone/>
            </a:pPr>
            <a:r>
              <a:rPr lang="en-US" sz="2100" dirty="0">
                <a:solidFill>
                  <a:srgbClr val="C8D4E6"/>
                </a:solidFill>
                <a:latin typeface="Calibri" pitchFamily="34" charset="0"/>
                <a:ea typeface="Calibri" pitchFamily="34" charset="-122"/>
                <a:cs typeface="Calibri" pitchFamily="34" charset="-120"/>
              </a:rPr>
              <a:t>Research Path, Model Selection &amp; Code Audit</a:t>
            </a:r>
            <a:endParaRPr lang="en-US" sz="2100" dirty="0"/>
          </a:p>
        </p:txBody>
      </p:sp>
      <p:sp>
        <p:nvSpPr>
          <p:cNvPr id="4" name="Shape 2"/>
          <p:cNvSpPr/>
          <p:nvPr/>
        </p:nvSpPr>
        <p:spPr>
          <a:xfrm>
            <a:off x="502920" y="3611880"/>
            <a:ext cx="2331720" cy="566928"/>
          </a:xfrm>
          <a:prstGeom prst="roundRect">
            <a:avLst>
              <a:gd name="adj" fmla="val 16129"/>
            </a:avLst>
          </a:prstGeom>
          <a:solidFill>
            <a:srgbClr val="0E7C86"/>
          </a:solidFill>
          <a:ln w="12700">
            <a:solidFill>
              <a:srgbClr val="0E7C86"/>
            </a:solidFill>
            <a:prstDash val="solid"/>
          </a:ln>
        </p:spPr>
      </p:sp>
      <p:sp>
        <p:nvSpPr>
          <p:cNvPr id="5" name="Text 3"/>
          <p:cNvSpPr/>
          <p:nvPr/>
        </p:nvSpPr>
        <p:spPr>
          <a:xfrm>
            <a:off x="502920" y="3611880"/>
            <a:ext cx="23317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DCGAN-DTA</a:t>
            </a:r>
            <a:endParaRPr lang="en-US" sz="1600" dirty="0"/>
          </a:p>
        </p:txBody>
      </p:sp>
      <p:sp>
        <p:nvSpPr>
          <p:cNvPr id="6" name="Text 4"/>
          <p:cNvSpPr/>
          <p:nvPr/>
        </p:nvSpPr>
        <p:spPr>
          <a:xfrm>
            <a:off x="2971800" y="3611880"/>
            <a:ext cx="548640" cy="566928"/>
          </a:xfrm>
          <a:prstGeom prst="rect">
            <a:avLst/>
          </a:prstGeom>
          <a:noFill/>
          <a:ln/>
        </p:spPr>
        <p:txBody>
          <a:bodyPr wrap="square" lIns="0" tIns="0" rIns="0" bIns="0" rtlCol="0" anchor="ctr"/>
          <a:lstStyle/>
          <a:p>
            <a:pPr algn="ctr" indent="0" marL="0">
              <a:buNone/>
            </a:pPr>
            <a:r>
              <a:rPr lang="en-US" sz="1500" i="1" dirty="0">
                <a:solidFill>
                  <a:srgbClr val="8FA3BF"/>
                </a:solidFill>
                <a:latin typeface="Cambria" pitchFamily="34" charset="0"/>
                <a:ea typeface="Cambria" pitchFamily="34" charset="-122"/>
                <a:cs typeface="Cambria" pitchFamily="34" charset="-120"/>
              </a:rPr>
              <a:t>vs</a:t>
            </a:r>
            <a:endParaRPr lang="en-US" sz="1500" dirty="0"/>
          </a:p>
        </p:txBody>
      </p:sp>
      <p:sp>
        <p:nvSpPr>
          <p:cNvPr id="7" name="Shape 5"/>
          <p:cNvSpPr/>
          <p:nvPr/>
        </p:nvSpPr>
        <p:spPr>
          <a:xfrm>
            <a:off x="3566160" y="3611880"/>
            <a:ext cx="2331720" cy="566928"/>
          </a:xfrm>
          <a:prstGeom prst="roundRect">
            <a:avLst>
              <a:gd name="adj" fmla="val 16129"/>
            </a:avLst>
          </a:prstGeom>
          <a:solidFill>
            <a:srgbClr val="6C4AB6"/>
          </a:solidFill>
          <a:ln w="12700">
            <a:solidFill>
              <a:srgbClr val="6C4AB6"/>
            </a:solidFill>
            <a:prstDash val="solid"/>
          </a:ln>
        </p:spPr>
      </p:sp>
      <p:sp>
        <p:nvSpPr>
          <p:cNvPr id="8" name="Text 6"/>
          <p:cNvSpPr/>
          <p:nvPr/>
        </p:nvSpPr>
        <p:spPr>
          <a:xfrm>
            <a:off x="3566160" y="3611880"/>
            <a:ext cx="23317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Co-VAE</a:t>
            </a:r>
            <a:endParaRPr lang="en-US" sz="1600" dirty="0"/>
          </a:p>
        </p:txBody>
      </p:sp>
      <p:sp>
        <p:nvSpPr>
          <p:cNvPr id="9" name="Shape 7"/>
          <p:cNvSpPr/>
          <p:nvPr/>
        </p:nvSpPr>
        <p:spPr>
          <a:xfrm>
            <a:off x="502920" y="4709160"/>
            <a:ext cx="6766560" cy="457200"/>
          </a:xfrm>
          <a:prstGeom prst="roundRect">
            <a:avLst>
              <a:gd name="adj" fmla="val 16000"/>
            </a:avLst>
          </a:prstGeom>
          <a:solidFill>
            <a:srgbClr val="1E3157"/>
          </a:solidFill>
          <a:ln w="12700">
            <a:solidFill>
              <a:srgbClr val="C77D14"/>
            </a:solidFill>
            <a:prstDash val="solid"/>
          </a:ln>
        </p:spPr>
      </p:sp>
      <p:sp>
        <p:nvSpPr>
          <p:cNvPr id="10" name="Text 8"/>
          <p:cNvSpPr/>
          <p:nvPr/>
        </p:nvSpPr>
        <p:spPr>
          <a:xfrm>
            <a:off x="667512" y="4709160"/>
            <a:ext cx="6400800" cy="457200"/>
          </a:xfrm>
          <a:prstGeom prst="rect">
            <a:avLst/>
          </a:prstGeom>
          <a:noFill/>
          <a:ln/>
        </p:spPr>
        <p:txBody>
          <a:bodyPr wrap="square" lIns="0" tIns="0" rIns="0" bIns="0" rtlCol="0" anchor="ctr"/>
          <a:lstStyle/>
          <a:p>
            <a:pPr indent="0" marL="0">
              <a:buNone/>
            </a:pPr>
            <a:r>
              <a:rPr lang="en-US" sz="1250" dirty="0">
                <a:solidFill>
                  <a:srgbClr val="F0D9AE"/>
                </a:solidFill>
                <a:latin typeface="Calibri" pitchFamily="34" charset="0"/>
                <a:ea typeface="Calibri" pitchFamily="34" charset="-122"/>
                <a:cs typeface="Calibri" pitchFamily="34" charset="-120"/>
              </a:rPr>
              <a:t>Audit-stage report — no reproduction of either paper is claimed</a:t>
            </a:r>
            <a:endParaRPr lang="en-US" sz="1250" dirty="0"/>
          </a:p>
        </p:txBody>
      </p:sp>
      <p:sp>
        <p:nvSpPr>
          <p:cNvPr id="11" name="Text 9"/>
          <p:cNvSpPr/>
          <p:nvPr/>
        </p:nvSpPr>
        <p:spPr>
          <a:xfrm>
            <a:off x="502920" y="5989320"/>
            <a:ext cx="11185855" cy="27432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MSc Thesis · Supervisor Status Meeting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PROBLEM DEFINITION</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The Research Problem</a:t>
            </a:r>
            <a:endParaRPr lang="en-US" sz="3000" dirty="0"/>
          </a:p>
        </p:txBody>
      </p:sp>
      <p:sp>
        <p:nvSpPr>
          <p:cNvPr id="4" name="Shape 2"/>
          <p:cNvSpPr/>
          <p:nvPr/>
        </p:nvSpPr>
        <p:spPr>
          <a:xfrm>
            <a:off x="502920" y="1325880"/>
            <a:ext cx="2212848" cy="868680"/>
          </a:xfrm>
          <a:prstGeom prst="roundRect">
            <a:avLst>
              <a:gd name="adj" fmla="val 7368"/>
            </a:avLst>
          </a:prstGeom>
          <a:solidFill>
            <a:srgbClr val="F1F4F8"/>
          </a:solidFill>
          <a:ln w="9525">
            <a:solidFill>
              <a:srgbClr val="E6ECF3"/>
            </a:solidFill>
            <a:prstDash val="solid"/>
          </a:ln>
        </p:spPr>
      </p:sp>
      <p:sp>
        <p:nvSpPr>
          <p:cNvPr id="5" name="Shape 3"/>
          <p:cNvSpPr/>
          <p:nvPr/>
        </p:nvSpPr>
        <p:spPr>
          <a:xfrm>
            <a:off x="667512" y="1490472"/>
            <a:ext cx="384048" cy="384048"/>
          </a:xfrm>
          <a:prstGeom prst="ellipse">
            <a:avLst/>
          </a:prstGeom>
          <a:solidFill>
            <a:srgbClr val="0E7C86"/>
          </a:solidFill>
          <a:ln w="12700">
            <a:solidFill>
              <a:srgbClr val="0E7C86"/>
            </a:solidFill>
            <a:prstDash val="solid"/>
          </a:ln>
        </p:spPr>
      </p:sp>
      <p:sp>
        <p:nvSpPr>
          <p:cNvPr id="6" name="Text 4"/>
          <p:cNvSpPr/>
          <p:nvPr/>
        </p:nvSpPr>
        <p:spPr>
          <a:xfrm>
            <a:off x="667512" y="1490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7" name="Text 5"/>
          <p:cNvSpPr/>
          <p:nvPr/>
        </p:nvSpPr>
        <p:spPr>
          <a:xfrm>
            <a:off x="1161288" y="1426464"/>
            <a:ext cx="1463040" cy="237744"/>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Drug</a:t>
            </a:r>
            <a:endParaRPr lang="en-US" sz="1300" dirty="0"/>
          </a:p>
        </p:txBody>
      </p:sp>
      <p:sp>
        <p:nvSpPr>
          <p:cNvPr id="8" name="Text 6"/>
          <p:cNvSpPr/>
          <p:nvPr/>
        </p:nvSpPr>
        <p:spPr>
          <a:xfrm>
            <a:off x="1161288" y="1655064"/>
            <a:ext cx="1481328" cy="457200"/>
          </a:xfrm>
          <a:prstGeom prst="rect">
            <a:avLst/>
          </a:prstGeom>
          <a:noFill/>
          <a:ln/>
        </p:spPr>
        <p:txBody>
          <a:bodyPr wrap="square" lIns="0" tIns="0" rIns="0" bIns="0" rtlCol="0" anchor="ctr"/>
          <a:lstStyle/>
          <a:p>
            <a:pPr indent="0" marL="0">
              <a:buNone/>
            </a:pPr>
            <a:r>
              <a:rPr lang="en-US" sz="900" dirty="0">
                <a:solidFill>
                  <a:srgbClr val="62708A"/>
                </a:solidFill>
                <a:latin typeface="Calibri" pitchFamily="34" charset="0"/>
                <a:ea typeface="Calibri" pitchFamily="34" charset="-122"/>
                <a:cs typeface="Calibri" pitchFamily="34" charset="-120"/>
              </a:rPr>
              <a:t>small molecule,</a:t>
            </a:r>
            <a:endParaRPr lang="en-US" sz="900" dirty="0"/>
          </a:p>
          <a:p>
            <a:pPr indent="0" marL="0">
              <a:buNone/>
            </a:pPr>
            <a:r>
              <a:rPr lang="en-US" sz="900" dirty="0">
                <a:solidFill>
                  <a:srgbClr val="62708A"/>
                </a:solidFill>
                <a:latin typeface="Calibri" pitchFamily="34" charset="0"/>
                <a:ea typeface="Calibri" pitchFamily="34" charset="-122"/>
                <a:cs typeface="Calibri" pitchFamily="34" charset="-120"/>
              </a:rPr>
              <a:t>given as a SMILES string</a:t>
            </a:r>
            <a:endParaRPr lang="en-US" sz="900" dirty="0"/>
          </a:p>
        </p:txBody>
      </p:sp>
      <p:sp>
        <p:nvSpPr>
          <p:cNvPr id="9" name="Text 7"/>
          <p:cNvSpPr/>
          <p:nvPr/>
        </p:nvSpPr>
        <p:spPr>
          <a:xfrm>
            <a:off x="2770632" y="1325880"/>
            <a:ext cx="237744" cy="868680"/>
          </a:xfrm>
          <a:prstGeom prst="rect">
            <a:avLst/>
          </a:prstGeom>
          <a:noFill/>
          <a:ln/>
        </p:spPr>
        <p:txBody>
          <a:bodyPr wrap="square" lIns="0" tIns="0" rIns="0" bIns="0" rtlCol="0" anchor="ctr"/>
          <a:lstStyle/>
          <a:p>
            <a:pPr algn="ctr" indent="0" marL="0">
              <a:buNone/>
            </a:pPr>
            <a:r>
              <a:rPr lang="en-US" sz="2000" b="1" dirty="0">
                <a:solidFill>
                  <a:srgbClr val="62708A"/>
                </a:solidFill>
                <a:latin typeface="Cambria" pitchFamily="34" charset="0"/>
                <a:ea typeface="Cambria" pitchFamily="34" charset="-122"/>
                <a:cs typeface="Cambria" pitchFamily="34" charset="-120"/>
              </a:rPr>
              <a:t>+</a:t>
            </a:r>
            <a:endParaRPr lang="en-US" sz="2000" dirty="0"/>
          </a:p>
        </p:txBody>
      </p:sp>
      <p:sp>
        <p:nvSpPr>
          <p:cNvPr id="10" name="Shape 8"/>
          <p:cNvSpPr/>
          <p:nvPr/>
        </p:nvSpPr>
        <p:spPr>
          <a:xfrm>
            <a:off x="2971800" y="1325880"/>
            <a:ext cx="2194560" cy="868680"/>
          </a:xfrm>
          <a:prstGeom prst="roundRect">
            <a:avLst>
              <a:gd name="adj" fmla="val 7368"/>
            </a:avLst>
          </a:prstGeom>
          <a:solidFill>
            <a:srgbClr val="F1F4F8"/>
          </a:solidFill>
          <a:ln w="9525">
            <a:solidFill>
              <a:srgbClr val="E6ECF3"/>
            </a:solidFill>
            <a:prstDash val="solid"/>
          </a:ln>
        </p:spPr>
      </p:sp>
      <p:sp>
        <p:nvSpPr>
          <p:cNvPr id="11" name="Shape 9"/>
          <p:cNvSpPr/>
          <p:nvPr/>
        </p:nvSpPr>
        <p:spPr>
          <a:xfrm>
            <a:off x="3136392" y="1490472"/>
            <a:ext cx="384048" cy="384048"/>
          </a:xfrm>
          <a:prstGeom prst="ellipse">
            <a:avLst/>
          </a:prstGeom>
          <a:solidFill>
            <a:srgbClr val="6C4AB6"/>
          </a:solidFill>
          <a:ln w="12700">
            <a:solidFill>
              <a:srgbClr val="6C4AB6"/>
            </a:solidFill>
            <a:prstDash val="solid"/>
          </a:ln>
        </p:spPr>
      </p:sp>
      <p:sp>
        <p:nvSpPr>
          <p:cNvPr id="12" name="Text 10"/>
          <p:cNvSpPr/>
          <p:nvPr/>
        </p:nvSpPr>
        <p:spPr>
          <a:xfrm>
            <a:off x="3136392" y="1490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t>
            </a:r>
            <a:endParaRPr lang="en-US" sz="1300" dirty="0"/>
          </a:p>
        </p:txBody>
      </p:sp>
      <p:sp>
        <p:nvSpPr>
          <p:cNvPr id="13" name="Text 11"/>
          <p:cNvSpPr/>
          <p:nvPr/>
        </p:nvSpPr>
        <p:spPr>
          <a:xfrm>
            <a:off x="3630168" y="1426464"/>
            <a:ext cx="1463040" cy="237744"/>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Target protein</a:t>
            </a:r>
            <a:endParaRPr lang="en-US" sz="1300" dirty="0"/>
          </a:p>
        </p:txBody>
      </p:sp>
      <p:sp>
        <p:nvSpPr>
          <p:cNvPr id="14" name="Text 12"/>
          <p:cNvSpPr/>
          <p:nvPr/>
        </p:nvSpPr>
        <p:spPr>
          <a:xfrm>
            <a:off x="3630168" y="1655064"/>
            <a:ext cx="1463040" cy="457200"/>
          </a:xfrm>
          <a:prstGeom prst="rect">
            <a:avLst/>
          </a:prstGeom>
          <a:noFill/>
          <a:ln/>
        </p:spPr>
        <p:txBody>
          <a:bodyPr wrap="square" lIns="0" tIns="0" rIns="0" bIns="0" rtlCol="0" anchor="ctr"/>
          <a:lstStyle/>
          <a:p>
            <a:pPr indent="0" marL="0">
              <a:buNone/>
            </a:pPr>
            <a:r>
              <a:rPr lang="en-US" sz="900" dirty="0">
                <a:solidFill>
                  <a:srgbClr val="62708A"/>
                </a:solidFill>
                <a:latin typeface="Calibri" pitchFamily="34" charset="0"/>
                <a:ea typeface="Calibri" pitchFamily="34" charset="-122"/>
                <a:cs typeface="Calibri" pitchFamily="34" charset="-120"/>
              </a:rPr>
              <a:t>given as an</a:t>
            </a:r>
            <a:endParaRPr lang="en-US" sz="900" dirty="0"/>
          </a:p>
          <a:p>
            <a:pPr indent="0" marL="0">
              <a:buNone/>
            </a:pPr>
            <a:r>
              <a:rPr lang="en-US" sz="900" dirty="0">
                <a:solidFill>
                  <a:srgbClr val="62708A"/>
                </a:solidFill>
                <a:latin typeface="Calibri" pitchFamily="34" charset="0"/>
                <a:ea typeface="Calibri" pitchFamily="34" charset="-122"/>
                <a:cs typeface="Calibri" pitchFamily="34" charset="-120"/>
              </a:rPr>
              <a:t>amino-acid sequence</a:t>
            </a:r>
            <a:endParaRPr lang="en-US" sz="900" dirty="0"/>
          </a:p>
        </p:txBody>
      </p:sp>
      <p:sp>
        <p:nvSpPr>
          <p:cNvPr id="15" name="Shape 13"/>
          <p:cNvSpPr/>
          <p:nvPr/>
        </p:nvSpPr>
        <p:spPr>
          <a:xfrm>
            <a:off x="2834640" y="2267712"/>
            <a:ext cx="0" cy="329184"/>
          </a:xfrm>
          <a:prstGeom prst="line">
            <a:avLst/>
          </a:prstGeom>
          <a:noFill/>
          <a:ln w="19050">
            <a:solidFill>
              <a:srgbClr val="2B3A55"/>
            </a:solidFill>
            <a:prstDash val="solid"/>
            <a:tailEnd type="triangle"/>
          </a:ln>
        </p:spPr>
      </p:sp>
      <p:sp>
        <p:nvSpPr>
          <p:cNvPr id="16" name="Shape 14"/>
          <p:cNvSpPr/>
          <p:nvPr/>
        </p:nvSpPr>
        <p:spPr>
          <a:xfrm>
            <a:off x="1417320" y="2670048"/>
            <a:ext cx="2834640" cy="566928"/>
          </a:xfrm>
          <a:prstGeom prst="roundRect">
            <a:avLst>
              <a:gd name="adj" fmla="val 12903"/>
            </a:avLst>
          </a:prstGeom>
          <a:solidFill>
            <a:srgbClr val="2B3A55"/>
          </a:solidFill>
          <a:ln w="12700">
            <a:solidFill>
              <a:srgbClr val="2B3A55"/>
            </a:solidFill>
            <a:prstDash val="solid"/>
          </a:ln>
        </p:spPr>
      </p:sp>
      <p:sp>
        <p:nvSpPr>
          <p:cNvPr id="17" name="Text 15"/>
          <p:cNvSpPr/>
          <p:nvPr/>
        </p:nvSpPr>
        <p:spPr>
          <a:xfrm>
            <a:off x="1417320" y="2670048"/>
            <a:ext cx="28346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Binding interaction</a:t>
            </a:r>
            <a:endParaRPr lang="en-US" sz="1300" dirty="0"/>
          </a:p>
        </p:txBody>
      </p:sp>
      <p:sp>
        <p:nvSpPr>
          <p:cNvPr id="18" name="Shape 16"/>
          <p:cNvSpPr/>
          <p:nvPr/>
        </p:nvSpPr>
        <p:spPr>
          <a:xfrm>
            <a:off x="2834640" y="3310128"/>
            <a:ext cx="0" cy="329184"/>
          </a:xfrm>
          <a:prstGeom prst="line">
            <a:avLst/>
          </a:prstGeom>
          <a:noFill/>
          <a:ln w="19050">
            <a:solidFill>
              <a:srgbClr val="2B3A55"/>
            </a:solidFill>
            <a:prstDash val="solid"/>
            <a:tailEnd type="triangle"/>
          </a:ln>
        </p:spPr>
      </p:sp>
      <p:sp>
        <p:nvSpPr>
          <p:cNvPr id="19" name="Shape 17"/>
          <p:cNvSpPr/>
          <p:nvPr/>
        </p:nvSpPr>
        <p:spPr>
          <a:xfrm>
            <a:off x="1005840" y="3712464"/>
            <a:ext cx="3657600" cy="804672"/>
          </a:xfrm>
          <a:prstGeom prst="roundRect">
            <a:avLst>
              <a:gd name="adj" fmla="val 9091"/>
            </a:avLst>
          </a:prstGeom>
          <a:solidFill>
            <a:srgbClr val="14213D"/>
          </a:solidFill>
          <a:ln w="12700">
            <a:solidFill>
              <a:srgbClr val="14213D"/>
            </a:solidFill>
            <a:prstDash val="solid"/>
          </a:ln>
        </p:spPr>
      </p:sp>
      <p:sp>
        <p:nvSpPr>
          <p:cNvPr id="20" name="Text 18"/>
          <p:cNvSpPr/>
          <p:nvPr/>
        </p:nvSpPr>
        <p:spPr>
          <a:xfrm>
            <a:off x="1005840" y="3785616"/>
            <a:ext cx="36576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Binding affinity</a:t>
            </a:r>
            <a:endParaRPr lang="en-US" sz="1400" dirty="0"/>
          </a:p>
        </p:txBody>
      </p:sp>
      <p:sp>
        <p:nvSpPr>
          <p:cNvPr id="21" name="Text 19"/>
          <p:cNvSpPr/>
          <p:nvPr/>
        </p:nvSpPr>
        <p:spPr>
          <a:xfrm>
            <a:off x="1097280" y="4059936"/>
            <a:ext cx="3474720" cy="365760"/>
          </a:xfrm>
          <a:prstGeom prst="rect">
            <a:avLst/>
          </a:prstGeom>
          <a:noFill/>
          <a:ln/>
        </p:spPr>
        <p:txBody>
          <a:bodyPr wrap="square" lIns="0" tIns="0" rIns="0" bIns="0" rtlCol="0" anchor="ctr"/>
          <a:lstStyle/>
          <a:p>
            <a:pPr algn="ctr" indent="0" marL="0">
              <a:buNone/>
            </a:pPr>
            <a:r>
              <a:rPr lang="en-US" sz="950" dirty="0">
                <a:solidFill>
                  <a:srgbClr val="AFC0D8"/>
                </a:solidFill>
                <a:latin typeface="Calibri" pitchFamily="34" charset="0"/>
                <a:ea typeface="Calibri" pitchFamily="34" charset="-122"/>
                <a:cs typeface="Calibri" pitchFamily="34" charset="-120"/>
              </a:rPr>
              <a:t>a continuous value — Kd, Ki or IC50, usually log-transformed</a:t>
            </a:r>
            <a:endParaRPr lang="en-US" sz="950" dirty="0"/>
          </a:p>
        </p:txBody>
      </p:sp>
      <p:sp>
        <p:nvSpPr>
          <p:cNvPr id="22" name="Shape 20"/>
          <p:cNvSpPr/>
          <p:nvPr/>
        </p:nvSpPr>
        <p:spPr>
          <a:xfrm>
            <a:off x="5806440" y="1325880"/>
            <a:ext cx="5897880" cy="1481328"/>
          </a:xfrm>
          <a:prstGeom prst="roundRect">
            <a:avLst>
              <a:gd name="adj" fmla="val 4321"/>
            </a:avLst>
          </a:prstGeom>
          <a:solidFill>
            <a:srgbClr val="FFFFFF"/>
          </a:solidFill>
          <a:ln w="9525">
            <a:solidFill>
              <a:srgbClr val="E6ECF3"/>
            </a:solidFill>
            <a:prstDash val="solid"/>
          </a:ln>
        </p:spPr>
      </p:sp>
      <p:sp>
        <p:nvSpPr>
          <p:cNvPr id="23" name="Shape 21"/>
          <p:cNvSpPr/>
          <p:nvPr/>
        </p:nvSpPr>
        <p:spPr>
          <a:xfrm>
            <a:off x="5806440" y="1325880"/>
            <a:ext cx="5897880" cy="1481328"/>
          </a:xfrm>
          <a:prstGeom prst="roundRect">
            <a:avLst>
              <a:gd name="adj" fmla="val 4321"/>
            </a:avLst>
          </a:prstGeom>
          <a:solidFill>
            <a:srgbClr val="FFFFFF"/>
          </a:solidFill>
          <a:ln w="15875">
            <a:solidFill>
              <a:srgbClr val="0E7C86"/>
            </a:solidFill>
            <a:prstDash val="solid"/>
          </a:ln>
        </p:spPr>
      </p:sp>
      <p:sp>
        <p:nvSpPr>
          <p:cNvPr id="24" name="Shape 22"/>
          <p:cNvSpPr/>
          <p:nvPr/>
        </p:nvSpPr>
        <p:spPr>
          <a:xfrm>
            <a:off x="6007608" y="1517904"/>
            <a:ext cx="685800" cy="237744"/>
          </a:xfrm>
          <a:prstGeom prst="roundRect">
            <a:avLst>
              <a:gd name="adj" fmla="val 50000"/>
            </a:avLst>
          </a:prstGeom>
          <a:solidFill>
            <a:srgbClr val="0E7C86"/>
          </a:solidFill>
          <a:ln w="6350">
            <a:solidFill>
              <a:srgbClr val="0E7C86"/>
            </a:solidFill>
            <a:prstDash val="solid"/>
          </a:ln>
        </p:spPr>
      </p:sp>
      <p:sp>
        <p:nvSpPr>
          <p:cNvPr id="25" name="Text 23"/>
          <p:cNvSpPr/>
          <p:nvPr/>
        </p:nvSpPr>
        <p:spPr>
          <a:xfrm>
            <a:off x="6007608" y="1517904"/>
            <a:ext cx="6858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DTI</a:t>
            </a:r>
            <a:endParaRPr lang="en-US" sz="900" dirty="0"/>
          </a:p>
        </p:txBody>
      </p:sp>
      <p:sp>
        <p:nvSpPr>
          <p:cNvPr id="26" name="Text 24"/>
          <p:cNvSpPr/>
          <p:nvPr/>
        </p:nvSpPr>
        <p:spPr>
          <a:xfrm>
            <a:off x="6812280" y="1481328"/>
            <a:ext cx="4480560" cy="292608"/>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Drug–Target Interaction</a:t>
            </a:r>
            <a:endParaRPr lang="en-US" sz="1400" dirty="0"/>
          </a:p>
        </p:txBody>
      </p:sp>
      <p:sp>
        <p:nvSpPr>
          <p:cNvPr id="27" name="Text 25"/>
          <p:cNvSpPr/>
          <p:nvPr/>
        </p:nvSpPr>
        <p:spPr>
          <a:xfrm>
            <a:off x="6007608" y="1847088"/>
            <a:ext cx="5495544" cy="822960"/>
          </a:xfrm>
          <a:prstGeom prst="rect">
            <a:avLst/>
          </a:prstGeom>
          <a:noFill/>
          <a:ln/>
        </p:spPr>
        <p:txBody>
          <a:bodyPr wrap="square" lIns="0" tIns="0" rIns="0" bIns="0" rtlCol="0" anchor="ctr"/>
          <a:lstStyle/>
          <a:p>
            <a:pPr indent="0" marL="0">
              <a:buNone/>
            </a:pPr>
            <a:r>
              <a:rPr lang="en-US" sz="1050" dirty="0">
                <a:solidFill>
                  <a:srgbClr val="2B3A55"/>
                </a:solidFill>
                <a:latin typeface="Calibri" pitchFamily="34" charset="0"/>
                <a:ea typeface="Calibri" pitchFamily="34" charset="-122"/>
                <a:cs typeface="Calibri" pitchFamily="34" charset="-120"/>
              </a:rPr>
              <a:t>Does this drug interact with this target, yes or no? A binary classification problem. Unknown pairs are often treated as pseudo-negatives, which is a known weakness of the formulation.</a:t>
            </a:r>
            <a:endParaRPr lang="en-US" sz="1050" dirty="0"/>
          </a:p>
        </p:txBody>
      </p:sp>
      <p:sp>
        <p:nvSpPr>
          <p:cNvPr id="28" name="Shape 26"/>
          <p:cNvSpPr/>
          <p:nvPr/>
        </p:nvSpPr>
        <p:spPr>
          <a:xfrm>
            <a:off x="5806440" y="2999232"/>
            <a:ext cx="5897880" cy="1517904"/>
          </a:xfrm>
          <a:prstGeom prst="roundRect">
            <a:avLst>
              <a:gd name="adj" fmla="val 4217"/>
            </a:avLst>
          </a:prstGeom>
          <a:solidFill>
            <a:srgbClr val="FFFFFF"/>
          </a:solidFill>
          <a:ln w="9525">
            <a:solidFill>
              <a:srgbClr val="E6ECF3"/>
            </a:solidFill>
            <a:prstDash val="solid"/>
          </a:ln>
        </p:spPr>
      </p:sp>
      <p:sp>
        <p:nvSpPr>
          <p:cNvPr id="29" name="Shape 27"/>
          <p:cNvSpPr/>
          <p:nvPr/>
        </p:nvSpPr>
        <p:spPr>
          <a:xfrm>
            <a:off x="5806440" y="2999232"/>
            <a:ext cx="5897880" cy="1517904"/>
          </a:xfrm>
          <a:prstGeom prst="roundRect">
            <a:avLst>
              <a:gd name="adj" fmla="val 4217"/>
            </a:avLst>
          </a:prstGeom>
          <a:solidFill>
            <a:srgbClr val="FFFFFF"/>
          </a:solidFill>
          <a:ln w="15875">
            <a:solidFill>
              <a:srgbClr val="6C4AB6"/>
            </a:solidFill>
            <a:prstDash val="solid"/>
          </a:ln>
        </p:spPr>
      </p:sp>
      <p:sp>
        <p:nvSpPr>
          <p:cNvPr id="30" name="Shape 28"/>
          <p:cNvSpPr/>
          <p:nvPr/>
        </p:nvSpPr>
        <p:spPr>
          <a:xfrm>
            <a:off x="6007608" y="3191256"/>
            <a:ext cx="685800" cy="237744"/>
          </a:xfrm>
          <a:prstGeom prst="roundRect">
            <a:avLst>
              <a:gd name="adj" fmla="val 50000"/>
            </a:avLst>
          </a:prstGeom>
          <a:solidFill>
            <a:srgbClr val="6C4AB6"/>
          </a:solidFill>
          <a:ln w="6350">
            <a:solidFill>
              <a:srgbClr val="6C4AB6"/>
            </a:solidFill>
            <a:prstDash val="solid"/>
          </a:ln>
        </p:spPr>
      </p:sp>
      <p:sp>
        <p:nvSpPr>
          <p:cNvPr id="31" name="Text 29"/>
          <p:cNvSpPr/>
          <p:nvPr/>
        </p:nvSpPr>
        <p:spPr>
          <a:xfrm>
            <a:off x="6007608" y="3191256"/>
            <a:ext cx="6858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DTA</a:t>
            </a:r>
            <a:endParaRPr lang="en-US" sz="900" dirty="0"/>
          </a:p>
        </p:txBody>
      </p:sp>
      <p:sp>
        <p:nvSpPr>
          <p:cNvPr id="32" name="Text 30"/>
          <p:cNvSpPr/>
          <p:nvPr/>
        </p:nvSpPr>
        <p:spPr>
          <a:xfrm>
            <a:off x="6812280" y="3154680"/>
            <a:ext cx="4480560" cy="292608"/>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Drug–Target Affinity</a:t>
            </a:r>
            <a:endParaRPr lang="en-US" sz="1400" dirty="0"/>
          </a:p>
        </p:txBody>
      </p:sp>
      <p:sp>
        <p:nvSpPr>
          <p:cNvPr id="33" name="Text 31"/>
          <p:cNvSpPr/>
          <p:nvPr/>
        </p:nvSpPr>
        <p:spPr>
          <a:xfrm>
            <a:off x="6007608" y="3520440"/>
            <a:ext cx="5495544" cy="868680"/>
          </a:xfrm>
          <a:prstGeom prst="rect">
            <a:avLst/>
          </a:prstGeom>
          <a:noFill/>
          <a:ln/>
        </p:spPr>
        <p:txBody>
          <a:bodyPr wrap="square" lIns="0" tIns="0" rIns="0" bIns="0" rtlCol="0" anchor="ctr"/>
          <a:lstStyle/>
          <a:p>
            <a:pPr indent="0" marL="0">
              <a:buNone/>
            </a:pPr>
            <a:r>
              <a:rPr lang="en-US" sz="1050" dirty="0">
                <a:solidFill>
                  <a:srgbClr val="2B3A55"/>
                </a:solidFill>
                <a:latin typeface="Calibri" pitchFamily="34" charset="0"/>
                <a:ea typeface="Calibri" pitchFamily="34" charset="-122"/>
                <a:cs typeface="Calibri" pitchFamily="34" charset="-120"/>
              </a:rPr>
              <a:t>How strongly do they bind? A regression problem on a measured, continuous value. Carries strictly more information than a binary label — it distinguishes a weak binder from a potent one.</a:t>
            </a:r>
            <a:endParaRPr lang="en-US" sz="1050" dirty="0"/>
          </a:p>
        </p:txBody>
      </p:sp>
      <p:sp>
        <p:nvSpPr>
          <p:cNvPr id="34" name="Shape 32"/>
          <p:cNvSpPr/>
          <p:nvPr/>
        </p:nvSpPr>
        <p:spPr>
          <a:xfrm>
            <a:off x="502920" y="4800600"/>
            <a:ext cx="11185855" cy="658368"/>
          </a:xfrm>
          <a:prstGeom prst="roundRect">
            <a:avLst>
              <a:gd name="adj" fmla="val 9722"/>
            </a:avLst>
          </a:prstGeom>
          <a:solidFill>
            <a:srgbClr val="F1F4F8"/>
          </a:solidFill>
          <a:ln w="9525">
            <a:solidFill>
              <a:srgbClr val="E6ECF3"/>
            </a:solidFill>
            <a:prstDash val="solid"/>
          </a:ln>
        </p:spPr>
      </p:sp>
      <p:sp>
        <p:nvSpPr>
          <p:cNvPr id="35" name="Text 33"/>
          <p:cNvSpPr/>
          <p:nvPr/>
        </p:nvSpPr>
        <p:spPr>
          <a:xfrm>
            <a:off x="704088" y="4800600"/>
            <a:ext cx="10783519" cy="658368"/>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This project works on DTA, not DTI.  </a:t>
            </a:r>
            <a:pPr indent="0" marL="0">
              <a:buNone/>
            </a:pPr>
            <a:r>
              <a:rPr lang="en-US" sz="1150" dirty="0">
                <a:solidFill>
                  <a:srgbClr val="2B3A55"/>
                </a:solidFill>
                <a:latin typeface="Calibri" pitchFamily="34" charset="0"/>
                <a:ea typeface="Calibri" pitchFamily="34" charset="-122"/>
                <a:cs typeface="Calibri" pitchFamily="34" charset="-120"/>
              </a:rPr>
              <a:t>Both selected papers formulate the task as regression on a continuous affinity value, evaluated with ranking and error metrics rather than classification accuracy.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Why Computational DTA?</a:t>
            </a:r>
            <a:endParaRPr lang="en-US" sz="3000" dirty="0"/>
          </a:p>
        </p:txBody>
      </p:sp>
      <p:sp>
        <p:nvSpPr>
          <p:cNvPr id="4" name="Shape 2"/>
          <p:cNvSpPr/>
          <p:nvPr/>
        </p:nvSpPr>
        <p:spPr>
          <a:xfrm>
            <a:off x="685800" y="1371600"/>
            <a:ext cx="5120640" cy="676656"/>
          </a:xfrm>
          <a:prstGeom prst="roundRect">
            <a:avLst>
              <a:gd name="adj" fmla="val 8108"/>
            </a:avLst>
          </a:prstGeom>
          <a:solidFill>
            <a:srgbClr val="14213D"/>
          </a:solidFill>
          <a:ln w="12700">
            <a:solidFill>
              <a:srgbClr val="14213D"/>
            </a:solidFill>
            <a:prstDash val="solid"/>
          </a:ln>
        </p:spPr>
      </p:sp>
      <p:sp>
        <p:nvSpPr>
          <p:cNvPr id="5" name="Text 3"/>
          <p:cNvSpPr/>
          <p:nvPr/>
        </p:nvSpPr>
        <p:spPr>
          <a:xfrm>
            <a:off x="685800" y="1444752"/>
            <a:ext cx="512064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Chemical space of candidate compounds</a:t>
            </a:r>
            <a:endParaRPr lang="en-US" sz="1150" dirty="0"/>
          </a:p>
        </p:txBody>
      </p:sp>
      <p:sp>
        <p:nvSpPr>
          <p:cNvPr id="6" name="Text 4"/>
          <p:cNvSpPr/>
          <p:nvPr/>
        </p:nvSpPr>
        <p:spPr>
          <a:xfrm>
            <a:off x="685800" y="1719072"/>
            <a:ext cx="5120640" cy="256032"/>
          </a:xfrm>
          <a:prstGeom prst="rect">
            <a:avLst/>
          </a:prstGeom>
          <a:noFill/>
          <a:ln/>
        </p:spPr>
        <p:txBody>
          <a:bodyPr wrap="square" lIns="0" tIns="0" rIns="0" bIns="0" rtlCol="0" anchor="ctr"/>
          <a:lstStyle/>
          <a:p>
            <a:pPr algn="ctr" indent="0" marL="0">
              <a:buNone/>
            </a:pPr>
            <a:r>
              <a:rPr lang="en-US" sz="850" dirty="0">
                <a:solidFill>
                  <a:srgbClr val="DCE6F2"/>
                </a:solidFill>
                <a:latin typeface="Calibri" pitchFamily="34" charset="0"/>
                <a:ea typeface="Calibri" pitchFamily="34" charset="-122"/>
                <a:cs typeface="Calibri" pitchFamily="34" charset="-120"/>
              </a:rPr>
              <a:t>far too large to screen exhaustively</a:t>
            </a:r>
            <a:endParaRPr lang="en-US" sz="850" dirty="0"/>
          </a:p>
        </p:txBody>
      </p:sp>
      <p:sp>
        <p:nvSpPr>
          <p:cNvPr id="7" name="Shape 5"/>
          <p:cNvSpPr/>
          <p:nvPr/>
        </p:nvSpPr>
        <p:spPr>
          <a:xfrm>
            <a:off x="3246120" y="2084832"/>
            <a:ext cx="0" cy="256032"/>
          </a:xfrm>
          <a:prstGeom prst="line">
            <a:avLst/>
          </a:prstGeom>
          <a:noFill/>
          <a:ln w="19050">
            <a:solidFill>
              <a:srgbClr val="62708A"/>
            </a:solidFill>
            <a:prstDash val="solid"/>
            <a:tailEnd type="triangle"/>
          </a:ln>
        </p:spPr>
      </p:sp>
      <p:sp>
        <p:nvSpPr>
          <p:cNvPr id="8" name="Shape 6"/>
          <p:cNvSpPr/>
          <p:nvPr/>
        </p:nvSpPr>
        <p:spPr>
          <a:xfrm>
            <a:off x="1188720" y="2414016"/>
            <a:ext cx="4114800" cy="676656"/>
          </a:xfrm>
          <a:prstGeom prst="roundRect">
            <a:avLst>
              <a:gd name="adj" fmla="val 8108"/>
            </a:avLst>
          </a:prstGeom>
          <a:solidFill>
            <a:srgbClr val="0E7C86"/>
          </a:solidFill>
          <a:ln w="12700">
            <a:solidFill>
              <a:srgbClr val="0E7C86"/>
            </a:solidFill>
            <a:prstDash val="solid"/>
          </a:ln>
        </p:spPr>
      </p:sp>
      <p:sp>
        <p:nvSpPr>
          <p:cNvPr id="9" name="Text 7"/>
          <p:cNvSpPr/>
          <p:nvPr/>
        </p:nvSpPr>
        <p:spPr>
          <a:xfrm>
            <a:off x="1188720" y="2487168"/>
            <a:ext cx="411480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Computational screening</a:t>
            </a:r>
            <a:endParaRPr lang="en-US" sz="1150" dirty="0"/>
          </a:p>
        </p:txBody>
      </p:sp>
      <p:sp>
        <p:nvSpPr>
          <p:cNvPr id="10" name="Text 8"/>
          <p:cNvSpPr/>
          <p:nvPr/>
        </p:nvSpPr>
        <p:spPr>
          <a:xfrm>
            <a:off x="1188720" y="2761488"/>
            <a:ext cx="4114800" cy="256032"/>
          </a:xfrm>
          <a:prstGeom prst="rect">
            <a:avLst/>
          </a:prstGeom>
          <a:noFill/>
          <a:ln/>
        </p:spPr>
        <p:txBody>
          <a:bodyPr wrap="square" lIns="0" tIns="0" rIns="0" bIns="0" rtlCol="0" anchor="ctr"/>
          <a:lstStyle/>
          <a:p>
            <a:pPr algn="ctr" indent="0" marL="0">
              <a:buNone/>
            </a:pPr>
            <a:r>
              <a:rPr lang="en-US" sz="850" dirty="0">
                <a:solidFill>
                  <a:srgbClr val="DCE6F2"/>
                </a:solidFill>
                <a:latin typeface="Calibri" pitchFamily="34" charset="0"/>
                <a:ea typeface="Calibri" pitchFamily="34" charset="-122"/>
                <a:cs typeface="Calibri" pitchFamily="34" charset="-120"/>
              </a:rPr>
              <a:t>model scores many pairs cheaply</a:t>
            </a:r>
            <a:endParaRPr lang="en-US" sz="850" dirty="0"/>
          </a:p>
        </p:txBody>
      </p:sp>
      <p:sp>
        <p:nvSpPr>
          <p:cNvPr id="11" name="Shape 9"/>
          <p:cNvSpPr/>
          <p:nvPr/>
        </p:nvSpPr>
        <p:spPr>
          <a:xfrm>
            <a:off x="3246120" y="3127248"/>
            <a:ext cx="0" cy="256032"/>
          </a:xfrm>
          <a:prstGeom prst="line">
            <a:avLst/>
          </a:prstGeom>
          <a:noFill/>
          <a:ln w="19050">
            <a:solidFill>
              <a:srgbClr val="62708A"/>
            </a:solidFill>
            <a:prstDash val="solid"/>
            <a:tailEnd type="triangle"/>
          </a:ln>
        </p:spPr>
      </p:sp>
      <p:sp>
        <p:nvSpPr>
          <p:cNvPr id="12" name="Shape 10"/>
          <p:cNvSpPr/>
          <p:nvPr/>
        </p:nvSpPr>
        <p:spPr>
          <a:xfrm>
            <a:off x="1737360" y="3456432"/>
            <a:ext cx="3017520" cy="676656"/>
          </a:xfrm>
          <a:prstGeom prst="roundRect">
            <a:avLst>
              <a:gd name="adj" fmla="val 8108"/>
            </a:avLst>
          </a:prstGeom>
          <a:solidFill>
            <a:srgbClr val="6C4AB6"/>
          </a:solidFill>
          <a:ln w="12700">
            <a:solidFill>
              <a:srgbClr val="6C4AB6"/>
            </a:solidFill>
            <a:prstDash val="solid"/>
          </a:ln>
        </p:spPr>
      </p:sp>
      <p:sp>
        <p:nvSpPr>
          <p:cNvPr id="13" name="Text 11"/>
          <p:cNvSpPr/>
          <p:nvPr/>
        </p:nvSpPr>
        <p:spPr>
          <a:xfrm>
            <a:off x="1737360" y="3529584"/>
            <a:ext cx="30175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Prioritised candidates</a:t>
            </a:r>
            <a:endParaRPr lang="en-US" sz="1150" dirty="0"/>
          </a:p>
        </p:txBody>
      </p:sp>
      <p:sp>
        <p:nvSpPr>
          <p:cNvPr id="14" name="Text 12"/>
          <p:cNvSpPr/>
          <p:nvPr/>
        </p:nvSpPr>
        <p:spPr>
          <a:xfrm>
            <a:off x="1737360" y="3803904"/>
            <a:ext cx="3017520" cy="256032"/>
          </a:xfrm>
          <a:prstGeom prst="rect">
            <a:avLst/>
          </a:prstGeom>
          <a:noFill/>
          <a:ln/>
        </p:spPr>
        <p:txBody>
          <a:bodyPr wrap="square" lIns="0" tIns="0" rIns="0" bIns="0" rtlCol="0" anchor="ctr"/>
          <a:lstStyle/>
          <a:p>
            <a:pPr algn="ctr" indent="0" marL="0">
              <a:buNone/>
            </a:pPr>
            <a:r>
              <a:rPr lang="en-US" sz="850" dirty="0">
                <a:solidFill>
                  <a:srgbClr val="DCE6F2"/>
                </a:solidFill>
                <a:latin typeface="Calibri" pitchFamily="34" charset="0"/>
                <a:ea typeface="Calibri" pitchFamily="34" charset="-122"/>
                <a:cs typeface="Calibri" pitchFamily="34" charset="-120"/>
              </a:rPr>
              <a:t>a shortlist worth the bench time</a:t>
            </a:r>
            <a:endParaRPr lang="en-US" sz="850" dirty="0"/>
          </a:p>
        </p:txBody>
      </p:sp>
      <p:sp>
        <p:nvSpPr>
          <p:cNvPr id="15" name="Shape 13"/>
          <p:cNvSpPr/>
          <p:nvPr/>
        </p:nvSpPr>
        <p:spPr>
          <a:xfrm>
            <a:off x="3246120" y="4169664"/>
            <a:ext cx="0" cy="256032"/>
          </a:xfrm>
          <a:prstGeom prst="line">
            <a:avLst/>
          </a:prstGeom>
          <a:noFill/>
          <a:ln w="19050">
            <a:solidFill>
              <a:srgbClr val="62708A"/>
            </a:solidFill>
            <a:prstDash val="solid"/>
            <a:tailEnd type="triangle"/>
          </a:ln>
        </p:spPr>
      </p:sp>
      <p:sp>
        <p:nvSpPr>
          <p:cNvPr id="16" name="Shape 14"/>
          <p:cNvSpPr/>
          <p:nvPr/>
        </p:nvSpPr>
        <p:spPr>
          <a:xfrm>
            <a:off x="2240280" y="4498848"/>
            <a:ext cx="2011680" cy="676656"/>
          </a:xfrm>
          <a:prstGeom prst="roundRect">
            <a:avLst>
              <a:gd name="adj" fmla="val 8108"/>
            </a:avLst>
          </a:prstGeom>
          <a:solidFill>
            <a:srgbClr val="C77D14"/>
          </a:solidFill>
          <a:ln w="12700">
            <a:solidFill>
              <a:srgbClr val="C77D14"/>
            </a:solidFill>
            <a:prstDash val="solid"/>
          </a:ln>
        </p:spPr>
      </p:sp>
      <p:sp>
        <p:nvSpPr>
          <p:cNvPr id="17" name="Text 15"/>
          <p:cNvSpPr/>
          <p:nvPr/>
        </p:nvSpPr>
        <p:spPr>
          <a:xfrm>
            <a:off x="2240280" y="4572000"/>
            <a:ext cx="201168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Experimental validation</a:t>
            </a:r>
            <a:endParaRPr lang="en-US" sz="1150" dirty="0"/>
          </a:p>
        </p:txBody>
      </p:sp>
      <p:sp>
        <p:nvSpPr>
          <p:cNvPr id="18" name="Text 16"/>
          <p:cNvSpPr/>
          <p:nvPr/>
        </p:nvSpPr>
        <p:spPr>
          <a:xfrm>
            <a:off x="2240280" y="4846320"/>
            <a:ext cx="2011680" cy="256032"/>
          </a:xfrm>
          <a:prstGeom prst="rect">
            <a:avLst/>
          </a:prstGeom>
          <a:noFill/>
          <a:ln/>
        </p:spPr>
        <p:txBody>
          <a:bodyPr wrap="square" lIns="0" tIns="0" rIns="0" bIns="0" rtlCol="0" anchor="ctr"/>
          <a:lstStyle/>
          <a:p>
            <a:pPr algn="ctr" indent="0" marL="0">
              <a:buNone/>
            </a:pPr>
            <a:r>
              <a:rPr lang="en-US" sz="850" dirty="0">
                <a:solidFill>
                  <a:srgbClr val="DCE6F2"/>
                </a:solidFill>
                <a:latin typeface="Calibri" pitchFamily="34" charset="0"/>
                <a:ea typeface="Calibri" pitchFamily="34" charset="-122"/>
                <a:cs typeface="Calibri" pitchFamily="34" charset="-120"/>
              </a:rPr>
              <a:t>still required</a:t>
            </a:r>
            <a:endParaRPr lang="en-US" sz="850" dirty="0"/>
          </a:p>
        </p:txBody>
      </p:sp>
      <p:sp>
        <p:nvSpPr>
          <p:cNvPr id="19" name="Shape 17"/>
          <p:cNvSpPr/>
          <p:nvPr/>
        </p:nvSpPr>
        <p:spPr>
          <a:xfrm>
            <a:off x="6492240" y="1371600"/>
            <a:ext cx="5212080" cy="969264"/>
          </a:xfrm>
          <a:prstGeom prst="roundRect">
            <a:avLst>
              <a:gd name="adj" fmla="val 6604"/>
            </a:avLst>
          </a:prstGeom>
          <a:solidFill>
            <a:srgbClr val="F1F4F8"/>
          </a:solidFill>
          <a:ln w="9525">
            <a:solidFill>
              <a:srgbClr val="E6ECF3"/>
            </a:solidFill>
            <a:prstDash val="solid"/>
          </a:ln>
        </p:spPr>
      </p:sp>
      <p:sp>
        <p:nvSpPr>
          <p:cNvPr id="20" name="Shape 18"/>
          <p:cNvSpPr/>
          <p:nvPr/>
        </p:nvSpPr>
        <p:spPr>
          <a:xfrm>
            <a:off x="6675120" y="1627632"/>
            <a:ext cx="457200" cy="457200"/>
          </a:xfrm>
          <a:prstGeom prst="ellipse">
            <a:avLst/>
          </a:prstGeom>
          <a:solidFill>
            <a:srgbClr val="0E7C86"/>
          </a:solidFill>
          <a:ln w="12700">
            <a:solidFill>
              <a:srgbClr val="0E7C86"/>
            </a:solidFill>
            <a:prstDash val="solid"/>
          </a:ln>
        </p:spPr>
      </p:sp>
      <p:sp>
        <p:nvSpPr>
          <p:cNvPr id="21" name="Text 19"/>
          <p:cNvSpPr/>
          <p:nvPr/>
        </p:nvSpPr>
        <p:spPr>
          <a:xfrm>
            <a:off x="6675120" y="16276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7269480" y="1517904"/>
            <a:ext cx="4206240" cy="237744"/>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Cost</a:t>
            </a:r>
            <a:endParaRPr lang="en-US" sz="1250" dirty="0"/>
          </a:p>
        </p:txBody>
      </p:sp>
      <p:sp>
        <p:nvSpPr>
          <p:cNvPr id="23" name="Text 21"/>
          <p:cNvSpPr/>
          <p:nvPr/>
        </p:nvSpPr>
        <p:spPr>
          <a:xfrm>
            <a:off x="7269480" y="1755648"/>
            <a:ext cx="4206240" cy="512064"/>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Wet-lab assays are expensive per drug–target pair, so exhaustive screening is not affordable.</a:t>
            </a:r>
            <a:endParaRPr lang="en-US" sz="950" dirty="0"/>
          </a:p>
        </p:txBody>
      </p:sp>
      <p:sp>
        <p:nvSpPr>
          <p:cNvPr id="24" name="Shape 22"/>
          <p:cNvSpPr/>
          <p:nvPr/>
        </p:nvSpPr>
        <p:spPr>
          <a:xfrm>
            <a:off x="6492240" y="2468880"/>
            <a:ext cx="5212080" cy="969264"/>
          </a:xfrm>
          <a:prstGeom prst="roundRect">
            <a:avLst>
              <a:gd name="adj" fmla="val 6604"/>
            </a:avLst>
          </a:prstGeom>
          <a:solidFill>
            <a:srgbClr val="F1F4F8"/>
          </a:solidFill>
          <a:ln w="9525">
            <a:solidFill>
              <a:srgbClr val="E6ECF3"/>
            </a:solidFill>
            <a:prstDash val="solid"/>
          </a:ln>
        </p:spPr>
      </p:sp>
      <p:sp>
        <p:nvSpPr>
          <p:cNvPr id="25" name="Shape 23"/>
          <p:cNvSpPr/>
          <p:nvPr/>
        </p:nvSpPr>
        <p:spPr>
          <a:xfrm>
            <a:off x="6675120" y="2724912"/>
            <a:ext cx="457200" cy="457200"/>
          </a:xfrm>
          <a:prstGeom prst="ellipse">
            <a:avLst/>
          </a:prstGeom>
          <a:solidFill>
            <a:srgbClr val="6C4AB6"/>
          </a:solidFill>
          <a:ln w="12700">
            <a:solidFill>
              <a:srgbClr val="6C4AB6"/>
            </a:solidFill>
            <a:prstDash val="solid"/>
          </a:ln>
        </p:spPr>
      </p:sp>
      <p:sp>
        <p:nvSpPr>
          <p:cNvPr id="26" name="Text 24"/>
          <p:cNvSpPr/>
          <p:nvPr/>
        </p:nvSpPr>
        <p:spPr>
          <a:xfrm>
            <a:off x="6675120" y="272491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Text 25"/>
          <p:cNvSpPr/>
          <p:nvPr/>
        </p:nvSpPr>
        <p:spPr>
          <a:xfrm>
            <a:off x="7269480" y="2615184"/>
            <a:ext cx="4206240" cy="237744"/>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Time</a:t>
            </a:r>
            <a:endParaRPr lang="en-US" sz="1250" dirty="0"/>
          </a:p>
        </p:txBody>
      </p:sp>
      <p:sp>
        <p:nvSpPr>
          <p:cNvPr id="28" name="Text 26"/>
          <p:cNvSpPr/>
          <p:nvPr/>
        </p:nvSpPr>
        <p:spPr>
          <a:xfrm>
            <a:off x="7269480" y="2852928"/>
            <a:ext cx="4206240" cy="512064"/>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Assays are slow. A model can rank thousands of pairs before a single experiment is run.</a:t>
            </a:r>
            <a:endParaRPr lang="en-US" sz="950" dirty="0"/>
          </a:p>
        </p:txBody>
      </p:sp>
      <p:sp>
        <p:nvSpPr>
          <p:cNvPr id="29" name="Shape 27"/>
          <p:cNvSpPr/>
          <p:nvPr/>
        </p:nvSpPr>
        <p:spPr>
          <a:xfrm>
            <a:off x="6492240" y="3566160"/>
            <a:ext cx="5212080" cy="969264"/>
          </a:xfrm>
          <a:prstGeom prst="roundRect">
            <a:avLst>
              <a:gd name="adj" fmla="val 6604"/>
            </a:avLst>
          </a:prstGeom>
          <a:solidFill>
            <a:srgbClr val="F1F4F8"/>
          </a:solidFill>
          <a:ln w="9525">
            <a:solidFill>
              <a:srgbClr val="E6ECF3"/>
            </a:solidFill>
            <a:prstDash val="solid"/>
          </a:ln>
        </p:spPr>
      </p:sp>
      <p:sp>
        <p:nvSpPr>
          <p:cNvPr id="30" name="Shape 28"/>
          <p:cNvSpPr/>
          <p:nvPr/>
        </p:nvSpPr>
        <p:spPr>
          <a:xfrm>
            <a:off x="6675120" y="3822192"/>
            <a:ext cx="457200" cy="457200"/>
          </a:xfrm>
          <a:prstGeom prst="ellipse">
            <a:avLst/>
          </a:prstGeom>
          <a:solidFill>
            <a:srgbClr val="2B3A55"/>
          </a:solidFill>
          <a:ln w="12700">
            <a:solidFill>
              <a:srgbClr val="2B3A55"/>
            </a:solidFill>
            <a:prstDash val="solid"/>
          </a:ln>
        </p:spPr>
      </p:sp>
      <p:sp>
        <p:nvSpPr>
          <p:cNvPr id="31" name="Text 29"/>
          <p:cNvSpPr/>
          <p:nvPr/>
        </p:nvSpPr>
        <p:spPr>
          <a:xfrm>
            <a:off x="6675120" y="382219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p:nvPr/>
        </p:nvSpPr>
        <p:spPr>
          <a:xfrm>
            <a:off x="7269480" y="3712464"/>
            <a:ext cx="4206240" cy="237744"/>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Scale</a:t>
            </a:r>
            <a:endParaRPr lang="en-US" sz="1250" dirty="0"/>
          </a:p>
        </p:txBody>
      </p:sp>
      <p:sp>
        <p:nvSpPr>
          <p:cNvPr id="33" name="Text 31"/>
          <p:cNvSpPr/>
          <p:nvPr/>
        </p:nvSpPr>
        <p:spPr>
          <a:xfrm>
            <a:off x="7269480" y="3950208"/>
            <a:ext cx="4206240" cy="512064"/>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The number of plausible drug–target pairs grows multiplicatively; only computation scales with it.</a:t>
            </a:r>
            <a:endParaRPr lang="en-US" sz="950" dirty="0"/>
          </a:p>
        </p:txBody>
      </p:sp>
      <p:sp>
        <p:nvSpPr>
          <p:cNvPr id="34" name="Shape 32"/>
          <p:cNvSpPr/>
          <p:nvPr/>
        </p:nvSpPr>
        <p:spPr>
          <a:xfrm>
            <a:off x="6492240" y="4663440"/>
            <a:ext cx="5212080" cy="969264"/>
          </a:xfrm>
          <a:prstGeom prst="roundRect">
            <a:avLst>
              <a:gd name="adj" fmla="val 6604"/>
            </a:avLst>
          </a:prstGeom>
          <a:solidFill>
            <a:srgbClr val="F1F4F8"/>
          </a:solidFill>
          <a:ln w="9525">
            <a:solidFill>
              <a:srgbClr val="E6ECF3"/>
            </a:solidFill>
            <a:prstDash val="solid"/>
          </a:ln>
        </p:spPr>
      </p:sp>
      <p:sp>
        <p:nvSpPr>
          <p:cNvPr id="35" name="Shape 33"/>
          <p:cNvSpPr/>
          <p:nvPr/>
        </p:nvSpPr>
        <p:spPr>
          <a:xfrm>
            <a:off x="6675120" y="4919472"/>
            <a:ext cx="457200" cy="457200"/>
          </a:xfrm>
          <a:prstGeom prst="ellipse">
            <a:avLst/>
          </a:prstGeom>
          <a:solidFill>
            <a:srgbClr val="C77D14"/>
          </a:solidFill>
          <a:ln w="12700">
            <a:solidFill>
              <a:srgbClr val="C77D14"/>
            </a:solidFill>
            <a:prstDash val="solid"/>
          </a:ln>
        </p:spPr>
      </p:sp>
      <p:sp>
        <p:nvSpPr>
          <p:cNvPr id="36" name="Text 34"/>
          <p:cNvSpPr/>
          <p:nvPr/>
        </p:nvSpPr>
        <p:spPr>
          <a:xfrm>
            <a:off x="6675120" y="49194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Text 35"/>
          <p:cNvSpPr/>
          <p:nvPr/>
        </p:nvSpPr>
        <p:spPr>
          <a:xfrm>
            <a:off x="7269480" y="4809744"/>
            <a:ext cx="4206240" cy="237744"/>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Coverage</a:t>
            </a:r>
            <a:endParaRPr lang="en-US" sz="1250" dirty="0"/>
          </a:p>
        </p:txBody>
      </p:sp>
      <p:sp>
        <p:nvSpPr>
          <p:cNvPr id="38" name="Text 36"/>
          <p:cNvSpPr/>
          <p:nvPr/>
        </p:nvSpPr>
        <p:spPr>
          <a:xfrm>
            <a:off x="7269480" y="5047488"/>
            <a:ext cx="4206240" cy="512064"/>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Models can score pairs for which no measurement exists — the new-drug and new-target settings.</a:t>
            </a:r>
            <a:endParaRPr lang="en-US" sz="950" dirty="0"/>
          </a:p>
        </p:txBody>
      </p:sp>
      <p:sp>
        <p:nvSpPr>
          <p:cNvPr id="39" name="Shape 37"/>
          <p:cNvSpPr/>
          <p:nvPr/>
        </p:nvSpPr>
        <p:spPr>
          <a:xfrm>
            <a:off x="502920" y="5623560"/>
            <a:ext cx="11185855" cy="566928"/>
          </a:xfrm>
          <a:prstGeom prst="roundRect">
            <a:avLst>
              <a:gd name="adj" fmla="val 11290"/>
            </a:avLst>
          </a:prstGeom>
          <a:solidFill>
            <a:srgbClr val="FBF3E4"/>
          </a:solidFill>
          <a:ln w="12700">
            <a:solidFill>
              <a:srgbClr val="C77D14"/>
            </a:solidFill>
            <a:prstDash val="solid"/>
          </a:ln>
        </p:spPr>
      </p:sp>
      <p:sp>
        <p:nvSpPr>
          <p:cNvPr id="40" name="Text 38"/>
          <p:cNvSpPr/>
          <p:nvPr/>
        </p:nvSpPr>
        <p:spPr>
          <a:xfrm>
            <a:off x="704088" y="5623560"/>
            <a:ext cx="10783519" cy="566928"/>
          </a:xfrm>
          <a:prstGeom prst="rect">
            <a:avLst/>
          </a:prstGeom>
          <a:noFill/>
          <a:ln/>
        </p:spPr>
        <p:txBody>
          <a:bodyPr wrap="square" lIns="0" tIns="0" rIns="0" bIns="0" rtlCol="0" anchor="ctr"/>
          <a:lstStyle/>
          <a:p>
            <a:pPr indent="0" marL="0">
              <a:buNone/>
            </a:pPr>
            <a:r>
              <a:rPr lang="en-US" sz="1150" dirty="0">
                <a:solidFill>
                  <a:srgbClr val="6B4A12"/>
                </a:solidFill>
                <a:latin typeface="Calibri" pitchFamily="34" charset="0"/>
                <a:ea typeface="Calibri" pitchFamily="34" charset="-122"/>
                <a:cs typeface="Calibri" pitchFamily="34" charset="-120"/>
              </a:rPr>
              <a:t>Computational prediction narrows the experimental search space. It does not replace experimental validation — the bottom of the funnel stays in the lab.</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LITERATURE REVIEW · PRIMARY SOURCE</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Evolution of DTI / DTA Research</a:t>
            </a:r>
            <a:endParaRPr lang="en-US" sz="3000" dirty="0"/>
          </a:p>
        </p:txBody>
      </p:sp>
      <p:sp>
        <p:nvSpPr>
          <p:cNvPr id="4" name="Shape 2"/>
          <p:cNvSpPr/>
          <p:nvPr/>
        </p:nvSpPr>
        <p:spPr>
          <a:xfrm>
            <a:off x="502920" y="1298448"/>
            <a:ext cx="2606040" cy="1371600"/>
          </a:xfrm>
          <a:prstGeom prst="roundRect">
            <a:avLst>
              <a:gd name="adj" fmla="val 4667"/>
            </a:avLst>
          </a:prstGeom>
          <a:solidFill>
            <a:srgbClr val="FFFFFF"/>
          </a:solidFill>
          <a:ln w="9525">
            <a:solidFill>
              <a:srgbClr val="E6ECF3"/>
            </a:solidFill>
            <a:prstDash val="solid"/>
          </a:ln>
        </p:spPr>
      </p:sp>
      <p:sp>
        <p:nvSpPr>
          <p:cNvPr id="5" name="Shape 3"/>
          <p:cNvSpPr/>
          <p:nvPr/>
        </p:nvSpPr>
        <p:spPr>
          <a:xfrm>
            <a:off x="502920" y="1298448"/>
            <a:ext cx="2606040" cy="1371600"/>
          </a:xfrm>
          <a:prstGeom prst="roundRect">
            <a:avLst>
              <a:gd name="adj" fmla="val 4667"/>
            </a:avLst>
          </a:prstGeom>
          <a:solidFill>
            <a:srgbClr val="FFFFFF"/>
          </a:solidFill>
          <a:ln w="13970">
            <a:solidFill>
              <a:srgbClr val="2B3A55"/>
            </a:solidFill>
            <a:prstDash val="solid"/>
          </a:ln>
        </p:spPr>
      </p:sp>
      <p:sp>
        <p:nvSpPr>
          <p:cNvPr id="6" name="Shape 4"/>
          <p:cNvSpPr/>
          <p:nvPr/>
        </p:nvSpPr>
        <p:spPr>
          <a:xfrm>
            <a:off x="630936" y="1426464"/>
            <a:ext cx="329184" cy="329184"/>
          </a:xfrm>
          <a:prstGeom prst="ellipse">
            <a:avLst/>
          </a:prstGeom>
          <a:solidFill>
            <a:srgbClr val="2B3A55"/>
          </a:solidFill>
          <a:ln w="12700">
            <a:solidFill>
              <a:srgbClr val="2B3A55"/>
            </a:solidFill>
            <a:prstDash val="solid"/>
          </a:ln>
        </p:spPr>
      </p:sp>
      <p:sp>
        <p:nvSpPr>
          <p:cNvPr id="7" name="Text 5"/>
          <p:cNvSpPr/>
          <p:nvPr/>
        </p:nvSpPr>
        <p:spPr>
          <a:xfrm>
            <a:off x="630936" y="142646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1033272" y="1426464"/>
            <a:ext cx="1947672" cy="42062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Similarity / feature-driven</a:t>
            </a:r>
            <a:endParaRPr lang="en-US" sz="1100" dirty="0"/>
          </a:p>
        </p:txBody>
      </p:sp>
      <p:sp>
        <p:nvSpPr>
          <p:cNvPr id="9" name="Text 7"/>
          <p:cNvSpPr/>
          <p:nvPr/>
        </p:nvSpPr>
        <p:spPr>
          <a:xfrm>
            <a:off x="630936" y="1901952"/>
            <a:ext cx="2350008" cy="676656"/>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Hand-built drug and target descriptors; similarity kernels drive prediction.</a:t>
            </a:r>
            <a:endParaRPr lang="en-US" sz="850" dirty="0"/>
          </a:p>
        </p:txBody>
      </p:sp>
      <p:sp>
        <p:nvSpPr>
          <p:cNvPr id="10" name="Shape 8"/>
          <p:cNvSpPr/>
          <p:nvPr/>
        </p:nvSpPr>
        <p:spPr>
          <a:xfrm>
            <a:off x="3145536" y="1984248"/>
            <a:ext cx="192024" cy="0"/>
          </a:xfrm>
          <a:prstGeom prst="line">
            <a:avLst/>
          </a:prstGeom>
          <a:noFill/>
          <a:ln w="19050">
            <a:solidFill>
              <a:srgbClr val="62708A"/>
            </a:solidFill>
            <a:prstDash val="solid"/>
            <a:tailEnd type="triangle"/>
          </a:ln>
        </p:spPr>
      </p:sp>
      <p:sp>
        <p:nvSpPr>
          <p:cNvPr id="11" name="Shape 9"/>
          <p:cNvSpPr/>
          <p:nvPr/>
        </p:nvSpPr>
        <p:spPr>
          <a:xfrm>
            <a:off x="3374136" y="1298448"/>
            <a:ext cx="2606040" cy="1371600"/>
          </a:xfrm>
          <a:prstGeom prst="roundRect">
            <a:avLst>
              <a:gd name="adj" fmla="val 4667"/>
            </a:avLst>
          </a:prstGeom>
          <a:solidFill>
            <a:srgbClr val="FFFFFF"/>
          </a:solidFill>
          <a:ln w="9525">
            <a:solidFill>
              <a:srgbClr val="E6ECF3"/>
            </a:solidFill>
            <a:prstDash val="solid"/>
          </a:ln>
        </p:spPr>
      </p:sp>
      <p:sp>
        <p:nvSpPr>
          <p:cNvPr id="12" name="Shape 10"/>
          <p:cNvSpPr/>
          <p:nvPr/>
        </p:nvSpPr>
        <p:spPr>
          <a:xfrm>
            <a:off x="3374136" y="1298448"/>
            <a:ext cx="2606040" cy="1371600"/>
          </a:xfrm>
          <a:prstGeom prst="roundRect">
            <a:avLst>
              <a:gd name="adj" fmla="val 4667"/>
            </a:avLst>
          </a:prstGeom>
          <a:solidFill>
            <a:srgbClr val="FFFFFF"/>
          </a:solidFill>
          <a:ln w="13970">
            <a:solidFill>
              <a:srgbClr val="2B3A55"/>
            </a:solidFill>
            <a:prstDash val="solid"/>
          </a:ln>
        </p:spPr>
      </p:sp>
      <p:sp>
        <p:nvSpPr>
          <p:cNvPr id="13" name="Shape 11"/>
          <p:cNvSpPr/>
          <p:nvPr/>
        </p:nvSpPr>
        <p:spPr>
          <a:xfrm>
            <a:off x="3502152" y="1426464"/>
            <a:ext cx="329184" cy="329184"/>
          </a:xfrm>
          <a:prstGeom prst="ellipse">
            <a:avLst/>
          </a:prstGeom>
          <a:solidFill>
            <a:srgbClr val="2B3A55"/>
          </a:solidFill>
          <a:ln w="12700">
            <a:solidFill>
              <a:srgbClr val="2B3A55"/>
            </a:solidFill>
            <a:prstDash val="solid"/>
          </a:ln>
        </p:spPr>
      </p:sp>
      <p:sp>
        <p:nvSpPr>
          <p:cNvPr id="14" name="Text 12"/>
          <p:cNvSpPr/>
          <p:nvPr/>
        </p:nvSpPr>
        <p:spPr>
          <a:xfrm>
            <a:off x="3502152" y="142646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3904488" y="1426464"/>
            <a:ext cx="1947672" cy="42062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Matrix decomposition</a:t>
            </a:r>
            <a:endParaRPr lang="en-US" sz="1100" dirty="0"/>
          </a:p>
        </p:txBody>
      </p:sp>
      <p:sp>
        <p:nvSpPr>
          <p:cNvPr id="16" name="Text 14"/>
          <p:cNvSpPr/>
          <p:nvPr/>
        </p:nvSpPr>
        <p:spPr>
          <a:xfrm>
            <a:off x="3502152" y="1901952"/>
            <a:ext cx="2350008" cy="676656"/>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Interaction matrix factorised into latent drug and target factors.</a:t>
            </a:r>
            <a:endParaRPr lang="en-US" sz="850" dirty="0"/>
          </a:p>
        </p:txBody>
      </p:sp>
      <p:sp>
        <p:nvSpPr>
          <p:cNvPr id="17" name="Shape 15"/>
          <p:cNvSpPr/>
          <p:nvPr/>
        </p:nvSpPr>
        <p:spPr>
          <a:xfrm>
            <a:off x="6016752" y="1984248"/>
            <a:ext cx="192024" cy="0"/>
          </a:xfrm>
          <a:prstGeom prst="line">
            <a:avLst/>
          </a:prstGeom>
          <a:noFill/>
          <a:ln w="19050">
            <a:solidFill>
              <a:srgbClr val="62708A"/>
            </a:solidFill>
            <a:prstDash val="solid"/>
            <a:tailEnd type="triangle"/>
          </a:ln>
        </p:spPr>
      </p:sp>
      <p:sp>
        <p:nvSpPr>
          <p:cNvPr id="18" name="Shape 16"/>
          <p:cNvSpPr/>
          <p:nvPr/>
        </p:nvSpPr>
        <p:spPr>
          <a:xfrm>
            <a:off x="6245352" y="1298448"/>
            <a:ext cx="2606040" cy="1371600"/>
          </a:xfrm>
          <a:prstGeom prst="roundRect">
            <a:avLst>
              <a:gd name="adj" fmla="val 4667"/>
            </a:avLst>
          </a:prstGeom>
          <a:solidFill>
            <a:srgbClr val="FFFFFF"/>
          </a:solidFill>
          <a:ln w="9525">
            <a:solidFill>
              <a:srgbClr val="E6ECF3"/>
            </a:solidFill>
            <a:prstDash val="solid"/>
          </a:ln>
        </p:spPr>
      </p:sp>
      <p:sp>
        <p:nvSpPr>
          <p:cNvPr id="19" name="Shape 17"/>
          <p:cNvSpPr/>
          <p:nvPr/>
        </p:nvSpPr>
        <p:spPr>
          <a:xfrm>
            <a:off x="6245352" y="1298448"/>
            <a:ext cx="2606040" cy="1371600"/>
          </a:xfrm>
          <a:prstGeom prst="roundRect">
            <a:avLst>
              <a:gd name="adj" fmla="val 4667"/>
            </a:avLst>
          </a:prstGeom>
          <a:solidFill>
            <a:srgbClr val="FFFFFF"/>
          </a:solidFill>
          <a:ln w="13970">
            <a:solidFill>
              <a:srgbClr val="2B3A55"/>
            </a:solidFill>
            <a:prstDash val="solid"/>
          </a:ln>
        </p:spPr>
      </p:sp>
      <p:sp>
        <p:nvSpPr>
          <p:cNvPr id="20" name="Shape 18"/>
          <p:cNvSpPr/>
          <p:nvPr/>
        </p:nvSpPr>
        <p:spPr>
          <a:xfrm>
            <a:off x="6373368" y="1426464"/>
            <a:ext cx="329184" cy="329184"/>
          </a:xfrm>
          <a:prstGeom prst="ellipse">
            <a:avLst/>
          </a:prstGeom>
          <a:solidFill>
            <a:srgbClr val="2B3A55"/>
          </a:solidFill>
          <a:ln w="12700">
            <a:solidFill>
              <a:srgbClr val="2B3A55"/>
            </a:solidFill>
            <a:prstDash val="solid"/>
          </a:ln>
        </p:spPr>
      </p:sp>
      <p:sp>
        <p:nvSpPr>
          <p:cNvPr id="21" name="Text 19"/>
          <p:cNvSpPr/>
          <p:nvPr/>
        </p:nvSpPr>
        <p:spPr>
          <a:xfrm>
            <a:off x="6373368" y="142646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6775704" y="1426464"/>
            <a:ext cx="1947672" cy="42062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Network-based</a:t>
            </a:r>
            <a:endParaRPr lang="en-US" sz="1100" dirty="0"/>
          </a:p>
        </p:txBody>
      </p:sp>
      <p:sp>
        <p:nvSpPr>
          <p:cNvPr id="23" name="Text 21"/>
          <p:cNvSpPr/>
          <p:nvPr/>
        </p:nvSpPr>
        <p:spPr>
          <a:xfrm>
            <a:off x="6373368" y="1901952"/>
            <a:ext cx="2350008" cy="676656"/>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Drugs and targets as nodes; prediction becomes link inference on a heterogeneous graph.</a:t>
            </a:r>
            <a:endParaRPr lang="en-US" sz="850" dirty="0"/>
          </a:p>
        </p:txBody>
      </p:sp>
      <p:sp>
        <p:nvSpPr>
          <p:cNvPr id="24" name="Shape 22"/>
          <p:cNvSpPr/>
          <p:nvPr/>
        </p:nvSpPr>
        <p:spPr>
          <a:xfrm>
            <a:off x="8887968" y="1984248"/>
            <a:ext cx="192024" cy="0"/>
          </a:xfrm>
          <a:prstGeom prst="line">
            <a:avLst/>
          </a:prstGeom>
          <a:noFill/>
          <a:ln w="19050">
            <a:solidFill>
              <a:srgbClr val="62708A"/>
            </a:solidFill>
            <a:prstDash val="solid"/>
            <a:tailEnd type="triangle"/>
          </a:ln>
        </p:spPr>
      </p:sp>
      <p:sp>
        <p:nvSpPr>
          <p:cNvPr id="25" name="Shape 23"/>
          <p:cNvSpPr/>
          <p:nvPr/>
        </p:nvSpPr>
        <p:spPr>
          <a:xfrm>
            <a:off x="9116568" y="1298448"/>
            <a:ext cx="2606040" cy="1371600"/>
          </a:xfrm>
          <a:prstGeom prst="roundRect">
            <a:avLst>
              <a:gd name="adj" fmla="val 4667"/>
            </a:avLst>
          </a:prstGeom>
          <a:solidFill>
            <a:srgbClr val="FFFFFF"/>
          </a:solidFill>
          <a:ln w="9525">
            <a:solidFill>
              <a:srgbClr val="E6ECF3"/>
            </a:solidFill>
            <a:prstDash val="solid"/>
          </a:ln>
        </p:spPr>
      </p:sp>
      <p:sp>
        <p:nvSpPr>
          <p:cNvPr id="26" name="Shape 24"/>
          <p:cNvSpPr/>
          <p:nvPr/>
        </p:nvSpPr>
        <p:spPr>
          <a:xfrm>
            <a:off x="9116568" y="1298448"/>
            <a:ext cx="2606040" cy="1371600"/>
          </a:xfrm>
          <a:prstGeom prst="roundRect">
            <a:avLst>
              <a:gd name="adj" fmla="val 4667"/>
            </a:avLst>
          </a:prstGeom>
          <a:solidFill>
            <a:srgbClr val="FFFFFF"/>
          </a:solidFill>
          <a:ln w="13970">
            <a:solidFill>
              <a:srgbClr val="0E7C86"/>
            </a:solidFill>
            <a:prstDash val="solid"/>
          </a:ln>
        </p:spPr>
      </p:sp>
      <p:sp>
        <p:nvSpPr>
          <p:cNvPr id="27" name="Shape 25"/>
          <p:cNvSpPr/>
          <p:nvPr/>
        </p:nvSpPr>
        <p:spPr>
          <a:xfrm>
            <a:off x="9244584" y="1426464"/>
            <a:ext cx="329184" cy="329184"/>
          </a:xfrm>
          <a:prstGeom prst="ellipse">
            <a:avLst/>
          </a:prstGeom>
          <a:solidFill>
            <a:srgbClr val="0E7C86"/>
          </a:solidFill>
          <a:ln w="12700">
            <a:solidFill>
              <a:srgbClr val="0E7C86"/>
            </a:solidFill>
            <a:prstDash val="solid"/>
          </a:ln>
        </p:spPr>
      </p:sp>
      <p:sp>
        <p:nvSpPr>
          <p:cNvPr id="28" name="Text 26"/>
          <p:cNvSpPr/>
          <p:nvPr/>
        </p:nvSpPr>
        <p:spPr>
          <a:xfrm>
            <a:off x="9244584" y="142646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7"/>
          <p:cNvSpPr/>
          <p:nvPr/>
        </p:nvSpPr>
        <p:spPr>
          <a:xfrm>
            <a:off x="9646920" y="1426464"/>
            <a:ext cx="1947672" cy="42062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Sequence-based modelling</a:t>
            </a:r>
            <a:endParaRPr lang="en-US" sz="1100" dirty="0"/>
          </a:p>
        </p:txBody>
      </p:sp>
      <p:sp>
        <p:nvSpPr>
          <p:cNvPr id="30" name="Text 28"/>
          <p:cNvSpPr/>
          <p:nvPr/>
        </p:nvSpPr>
        <p:spPr>
          <a:xfrm>
            <a:off x="9244584" y="1901952"/>
            <a:ext cx="2350008" cy="676656"/>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SMILES and amino-acid sequences used directly, no hand-crafted features.</a:t>
            </a:r>
            <a:endParaRPr lang="en-US" sz="850" dirty="0"/>
          </a:p>
        </p:txBody>
      </p:sp>
      <p:sp>
        <p:nvSpPr>
          <p:cNvPr id="31" name="Shape 29"/>
          <p:cNvSpPr/>
          <p:nvPr/>
        </p:nvSpPr>
        <p:spPr>
          <a:xfrm>
            <a:off x="502920" y="3236976"/>
            <a:ext cx="2606040" cy="1371600"/>
          </a:xfrm>
          <a:prstGeom prst="roundRect">
            <a:avLst>
              <a:gd name="adj" fmla="val 4667"/>
            </a:avLst>
          </a:prstGeom>
          <a:solidFill>
            <a:srgbClr val="FFFFFF"/>
          </a:solidFill>
          <a:ln w="9525">
            <a:solidFill>
              <a:srgbClr val="E6ECF3"/>
            </a:solidFill>
            <a:prstDash val="solid"/>
          </a:ln>
        </p:spPr>
      </p:sp>
      <p:sp>
        <p:nvSpPr>
          <p:cNvPr id="32" name="Shape 30"/>
          <p:cNvSpPr/>
          <p:nvPr/>
        </p:nvSpPr>
        <p:spPr>
          <a:xfrm>
            <a:off x="502920" y="3236976"/>
            <a:ext cx="2606040" cy="1371600"/>
          </a:xfrm>
          <a:prstGeom prst="roundRect">
            <a:avLst>
              <a:gd name="adj" fmla="val 4667"/>
            </a:avLst>
          </a:prstGeom>
          <a:solidFill>
            <a:srgbClr val="FFFFFF"/>
          </a:solidFill>
          <a:ln w="13970">
            <a:solidFill>
              <a:srgbClr val="0E7C86"/>
            </a:solidFill>
            <a:prstDash val="solid"/>
          </a:ln>
        </p:spPr>
      </p:sp>
      <p:sp>
        <p:nvSpPr>
          <p:cNvPr id="33" name="Shape 31"/>
          <p:cNvSpPr/>
          <p:nvPr/>
        </p:nvSpPr>
        <p:spPr>
          <a:xfrm>
            <a:off x="630936" y="3364992"/>
            <a:ext cx="329184" cy="329184"/>
          </a:xfrm>
          <a:prstGeom prst="ellipse">
            <a:avLst/>
          </a:prstGeom>
          <a:solidFill>
            <a:srgbClr val="0E7C86"/>
          </a:solidFill>
          <a:ln w="12700">
            <a:solidFill>
              <a:srgbClr val="0E7C86"/>
            </a:solidFill>
            <a:prstDash val="solid"/>
          </a:ln>
        </p:spPr>
      </p:sp>
      <p:sp>
        <p:nvSpPr>
          <p:cNvPr id="34" name="Text 32"/>
          <p:cNvSpPr/>
          <p:nvPr/>
        </p:nvSpPr>
        <p:spPr>
          <a:xfrm>
            <a:off x="630936" y="33649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1033272" y="3364992"/>
            <a:ext cx="1947672" cy="42062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Structure-based modelling</a:t>
            </a:r>
            <a:endParaRPr lang="en-US" sz="1100" dirty="0"/>
          </a:p>
        </p:txBody>
      </p:sp>
      <p:sp>
        <p:nvSpPr>
          <p:cNvPr id="36" name="Text 34"/>
          <p:cNvSpPr/>
          <p:nvPr/>
        </p:nvSpPr>
        <p:spPr>
          <a:xfrm>
            <a:off x="630936" y="3840480"/>
            <a:ext cx="2350008" cy="676656"/>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3D structural and binding-pocket information incorporated where available.</a:t>
            </a:r>
            <a:endParaRPr lang="en-US" sz="850" dirty="0"/>
          </a:p>
        </p:txBody>
      </p:sp>
      <p:sp>
        <p:nvSpPr>
          <p:cNvPr id="37" name="Shape 35"/>
          <p:cNvSpPr/>
          <p:nvPr/>
        </p:nvSpPr>
        <p:spPr>
          <a:xfrm>
            <a:off x="3145536" y="3922776"/>
            <a:ext cx="192024" cy="0"/>
          </a:xfrm>
          <a:prstGeom prst="line">
            <a:avLst/>
          </a:prstGeom>
          <a:noFill/>
          <a:ln w="19050">
            <a:solidFill>
              <a:srgbClr val="62708A"/>
            </a:solidFill>
            <a:prstDash val="solid"/>
            <a:tailEnd type="triangle"/>
          </a:ln>
        </p:spPr>
      </p:sp>
      <p:sp>
        <p:nvSpPr>
          <p:cNvPr id="38" name="Shape 36"/>
          <p:cNvSpPr/>
          <p:nvPr/>
        </p:nvSpPr>
        <p:spPr>
          <a:xfrm>
            <a:off x="3374136" y="3236976"/>
            <a:ext cx="2606040" cy="1371600"/>
          </a:xfrm>
          <a:prstGeom prst="roundRect">
            <a:avLst>
              <a:gd name="adj" fmla="val 4667"/>
            </a:avLst>
          </a:prstGeom>
          <a:solidFill>
            <a:srgbClr val="FFFFFF"/>
          </a:solidFill>
          <a:ln w="9525">
            <a:solidFill>
              <a:srgbClr val="E6ECF3"/>
            </a:solidFill>
            <a:prstDash val="solid"/>
          </a:ln>
        </p:spPr>
      </p:sp>
      <p:sp>
        <p:nvSpPr>
          <p:cNvPr id="39" name="Shape 37"/>
          <p:cNvSpPr/>
          <p:nvPr/>
        </p:nvSpPr>
        <p:spPr>
          <a:xfrm>
            <a:off x="3374136" y="3236976"/>
            <a:ext cx="2606040" cy="1371600"/>
          </a:xfrm>
          <a:prstGeom prst="roundRect">
            <a:avLst>
              <a:gd name="adj" fmla="val 4667"/>
            </a:avLst>
          </a:prstGeom>
          <a:solidFill>
            <a:srgbClr val="FFFFFF"/>
          </a:solidFill>
          <a:ln w="13970">
            <a:solidFill>
              <a:srgbClr val="0E7C86"/>
            </a:solidFill>
            <a:prstDash val="solid"/>
          </a:ln>
        </p:spPr>
      </p:sp>
      <p:sp>
        <p:nvSpPr>
          <p:cNvPr id="40" name="Shape 38"/>
          <p:cNvSpPr/>
          <p:nvPr/>
        </p:nvSpPr>
        <p:spPr>
          <a:xfrm>
            <a:off x="3502152" y="3364992"/>
            <a:ext cx="329184" cy="329184"/>
          </a:xfrm>
          <a:prstGeom prst="ellipse">
            <a:avLst/>
          </a:prstGeom>
          <a:solidFill>
            <a:srgbClr val="0E7C86"/>
          </a:solidFill>
          <a:ln w="12700">
            <a:solidFill>
              <a:srgbClr val="0E7C86"/>
            </a:solidFill>
            <a:prstDash val="solid"/>
          </a:ln>
        </p:spPr>
      </p:sp>
      <p:sp>
        <p:nvSpPr>
          <p:cNvPr id="41" name="Text 39"/>
          <p:cNvSpPr/>
          <p:nvPr/>
        </p:nvSpPr>
        <p:spPr>
          <a:xfrm>
            <a:off x="3502152" y="33649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2" name="Text 40"/>
          <p:cNvSpPr/>
          <p:nvPr/>
        </p:nvSpPr>
        <p:spPr>
          <a:xfrm>
            <a:off x="3904488" y="3364992"/>
            <a:ext cx="1947672" cy="42062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Deep learning</a:t>
            </a:r>
            <a:endParaRPr lang="en-US" sz="1100" dirty="0"/>
          </a:p>
        </p:txBody>
      </p:sp>
      <p:sp>
        <p:nvSpPr>
          <p:cNvPr id="43" name="Text 41"/>
          <p:cNvSpPr/>
          <p:nvPr/>
        </p:nvSpPr>
        <p:spPr>
          <a:xfrm>
            <a:off x="3502152" y="3840480"/>
            <a:ext cx="2350008" cy="676656"/>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Representations learned end-to-end; CNN and RNN encoders over raw sequences.</a:t>
            </a:r>
            <a:endParaRPr lang="en-US" sz="850" dirty="0"/>
          </a:p>
        </p:txBody>
      </p:sp>
      <p:sp>
        <p:nvSpPr>
          <p:cNvPr id="44" name="Shape 42"/>
          <p:cNvSpPr/>
          <p:nvPr/>
        </p:nvSpPr>
        <p:spPr>
          <a:xfrm>
            <a:off x="6016752" y="3922776"/>
            <a:ext cx="192024" cy="0"/>
          </a:xfrm>
          <a:prstGeom prst="line">
            <a:avLst/>
          </a:prstGeom>
          <a:noFill/>
          <a:ln w="19050">
            <a:solidFill>
              <a:srgbClr val="62708A"/>
            </a:solidFill>
            <a:prstDash val="solid"/>
            <a:tailEnd type="triangle"/>
          </a:ln>
        </p:spPr>
      </p:sp>
      <p:sp>
        <p:nvSpPr>
          <p:cNvPr id="45" name="Shape 43"/>
          <p:cNvSpPr/>
          <p:nvPr/>
        </p:nvSpPr>
        <p:spPr>
          <a:xfrm>
            <a:off x="6245352" y="3236976"/>
            <a:ext cx="2606040" cy="1371600"/>
          </a:xfrm>
          <a:prstGeom prst="roundRect">
            <a:avLst>
              <a:gd name="adj" fmla="val 4667"/>
            </a:avLst>
          </a:prstGeom>
          <a:solidFill>
            <a:srgbClr val="FFFFFF"/>
          </a:solidFill>
          <a:ln w="9525">
            <a:solidFill>
              <a:srgbClr val="E6ECF3"/>
            </a:solidFill>
            <a:prstDash val="solid"/>
          </a:ln>
        </p:spPr>
      </p:sp>
      <p:sp>
        <p:nvSpPr>
          <p:cNvPr id="46" name="Shape 44"/>
          <p:cNvSpPr/>
          <p:nvPr/>
        </p:nvSpPr>
        <p:spPr>
          <a:xfrm>
            <a:off x="6245352" y="3236976"/>
            <a:ext cx="2606040" cy="1371600"/>
          </a:xfrm>
          <a:prstGeom prst="roundRect">
            <a:avLst>
              <a:gd name="adj" fmla="val 4667"/>
            </a:avLst>
          </a:prstGeom>
          <a:solidFill>
            <a:srgbClr val="FFFFFF"/>
          </a:solidFill>
          <a:ln w="13970">
            <a:solidFill>
              <a:srgbClr val="6C4AB6"/>
            </a:solidFill>
            <a:prstDash val="solid"/>
          </a:ln>
        </p:spPr>
      </p:sp>
      <p:sp>
        <p:nvSpPr>
          <p:cNvPr id="47" name="Shape 45"/>
          <p:cNvSpPr/>
          <p:nvPr/>
        </p:nvSpPr>
        <p:spPr>
          <a:xfrm>
            <a:off x="6373368" y="3364992"/>
            <a:ext cx="329184" cy="329184"/>
          </a:xfrm>
          <a:prstGeom prst="ellipse">
            <a:avLst/>
          </a:prstGeom>
          <a:solidFill>
            <a:srgbClr val="6C4AB6"/>
          </a:solidFill>
          <a:ln w="12700">
            <a:solidFill>
              <a:srgbClr val="6C4AB6"/>
            </a:solidFill>
            <a:prstDash val="solid"/>
          </a:ln>
        </p:spPr>
      </p:sp>
      <p:sp>
        <p:nvSpPr>
          <p:cNvPr id="48" name="Text 46"/>
          <p:cNvSpPr/>
          <p:nvPr/>
        </p:nvSpPr>
        <p:spPr>
          <a:xfrm>
            <a:off x="6373368" y="33649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9" name="Text 47"/>
          <p:cNvSpPr/>
          <p:nvPr/>
        </p:nvSpPr>
        <p:spPr>
          <a:xfrm>
            <a:off x="6775704" y="3364992"/>
            <a:ext cx="1947672" cy="42062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Graph / attention / multimodal</a:t>
            </a:r>
            <a:endParaRPr lang="en-US" sz="1100" dirty="0"/>
          </a:p>
        </p:txBody>
      </p:sp>
      <p:sp>
        <p:nvSpPr>
          <p:cNvPr id="50" name="Text 48"/>
          <p:cNvSpPr/>
          <p:nvPr/>
        </p:nvSpPr>
        <p:spPr>
          <a:xfrm>
            <a:off x="6373368" y="3840480"/>
            <a:ext cx="2350008" cy="676656"/>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Molecular graphs, attention over sequence, and fusion of several modalities.</a:t>
            </a:r>
            <a:endParaRPr lang="en-US" sz="850" dirty="0"/>
          </a:p>
        </p:txBody>
      </p:sp>
      <p:sp>
        <p:nvSpPr>
          <p:cNvPr id="51" name="Shape 49"/>
          <p:cNvSpPr/>
          <p:nvPr/>
        </p:nvSpPr>
        <p:spPr>
          <a:xfrm>
            <a:off x="8887968" y="3922776"/>
            <a:ext cx="192024" cy="0"/>
          </a:xfrm>
          <a:prstGeom prst="line">
            <a:avLst/>
          </a:prstGeom>
          <a:noFill/>
          <a:ln w="19050">
            <a:solidFill>
              <a:srgbClr val="62708A"/>
            </a:solidFill>
            <a:prstDash val="solid"/>
            <a:tailEnd type="triangle"/>
          </a:ln>
        </p:spPr>
      </p:sp>
      <p:sp>
        <p:nvSpPr>
          <p:cNvPr id="52" name="Shape 50"/>
          <p:cNvSpPr/>
          <p:nvPr/>
        </p:nvSpPr>
        <p:spPr>
          <a:xfrm>
            <a:off x="9116568" y="3236976"/>
            <a:ext cx="2606040" cy="1371600"/>
          </a:xfrm>
          <a:prstGeom prst="roundRect">
            <a:avLst>
              <a:gd name="adj" fmla="val 4667"/>
            </a:avLst>
          </a:prstGeom>
          <a:solidFill>
            <a:srgbClr val="FFFFFF"/>
          </a:solidFill>
          <a:ln w="9525">
            <a:solidFill>
              <a:srgbClr val="E6ECF3"/>
            </a:solidFill>
            <a:prstDash val="solid"/>
          </a:ln>
        </p:spPr>
      </p:sp>
      <p:sp>
        <p:nvSpPr>
          <p:cNvPr id="53" name="Shape 51"/>
          <p:cNvSpPr/>
          <p:nvPr/>
        </p:nvSpPr>
        <p:spPr>
          <a:xfrm>
            <a:off x="9116568" y="3236976"/>
            <a:ext cx="2606040" cy="1371600"/>
          </a:xfrm>
          <a:prstGeom prst="roundRect">
            <a:avLst>
              <a:gd name="adj" fmla="val 4667"/>
            </a:avLst>
          </a:prstGeom>
          <a:solidFill>
            <a:srgbClr val="FFFFFF"/>
          </a:solidFill>
          <a:ln w="13970">
            <a:solidFill>
              <a:srgbClr val="6C4AB6"/>
            </a:solidFill>
            <a:prstDash val="solid"/>
          </a:ln>
        </p:spPr>
      </p:sp>
      <p:sp>
        <p:nvSpPr>
          <p:cNvPr id="54" name="Shape 52"/>
          <p:cNvSpPr/>
          <p:nvPr/>
        </p:nvSpPr>
        <p:spPr>
          <a:xfrm>
            <a:off x="9244584" y="3364992"/>
            <a:ext cx="329184" cy="329184"/>
          </a:xfrm>
          <a:prstGeom prst="ellipse">
            <a:avLst/>
          </a:prstGeom>
          <a:solidFill>
            <a:srgbClr val="6C4AB6"/>
          </a:solidFill>
          <a:ln w="12700">
            <a:solidFill>
              <a:srgbClr val="6C4AB6"/>
            </a:solidFill>
            <a:prstDash val="solid"/>
          </a:ln>
        </p:spPr>
      </p:sp>
      <p:sp>
        <p:nvSpPr>
          <p:cNvPr id="55" name="Text 53"/>
          <p:cNvSpPr/>
          <p:nvPr/>
        </p:nvSpPr>
        <p:spPr>
          <a:xfrm>
            <a:off x="9244584" y="336499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6" name="Text 54"/>
          <p:cNvSpPr/>
          <p:nvPr/>
        </p:nvSpPr>
        <p:spPr>
          <a:xfrm>
            <a:off x="9646920" y="3364992"/>
            <a:ext cx="1947672" cy="42062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Large pretrained models</a:t>
            </a:r>
            <a:endParaRPr lang="en-US" sz="1100" dirty="0"/>
          </a:p>
        </p:txBody>
      </p:sp>
      <p:sp>
        <p:nvSpPr>
          <p:cNvPr id="57" name="Text 55"/>
          <p:cNvSpPr/>
          <p:nvPr/>
        </p:nvSpPr>
        <p:spPr>
          <a:xfrm>
            <a:off x="9244584" y="3840480"/>
            <a:ext cx="2350008" cy="676656"/>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Self-supervised pretraining on large unlabelled chemical and protein corpora.</a:t>
            </a:r>
            <a:endParaRPr lang="en-US" sz="850" dirty="0"/>
          </a:p>
        </p:txBody>
      </p:sp>
      <p:sp>
        <p:nvSpPr>
          <p:cNvPr id="58" name="Shape 56"/>
          <p:cNvSpPr/>
          <p:nvPr/>
        </p:nvSpPr>
        <p:spPr>
          <a:xfrm>
            <a:off x="10419588" y="2670048"/>
            <a:ext cx="0" cy="283464"/>
          </a:xfrm>
          <a:prstGeom prst="line">
            <a:avLst/>
          </a:prstGeom>
          <a:noFill/>
          <a:ln w="19050">
            <a:solidFill>
              <a:srgbClr val="62708A"/>
            </a:solidFill>
            <a:prstDash val="solid"/>
          </a:ln>
        </p:spPr>
      </p:sp>
      <p:sp>
        <p:nvSpPr>
          <p:cNvPr id="59" name="Shape 57"/>
          <p:cNvSpPr/>
          <p:nvPr/>
        </p:nvSpPr>
        <p:spPr>
          <a:xfrm>
            <a:off x="1805940" y="2953512"/>
            <a:ext cx="8613648" cy="0"/>
          </a:xfrm>
          <a:prstGeom prst="line">
            <a:avLst/>
          </a:prstGeom>
          <a:noFill/>
          <a:ln w="19050">
            <a:solidFill>
              <a:srgbClr val="62708A"/>
            </a:solidFill>
            <a:prstDash val="solid"/>
          </a:ln>
        </p:spPr>
      </p:sp>
      <p:sp>
        <p:nvSpPr>
          <p:cNvPr id="60" name="Shape 58"/>
          <p:cNvSpPr/>
          <p:nvPr/>
        </p:nvSpPr>
        <p:spPr>
          <a:xfrm>
            <a:off x="1805940" y="2953512"/>
            <a:ext cx="0" cy="283464"/>
          </a:xfrm>
          <a:prstGeom prst="line">
            <a:avLst/>
          </a:prstGeom>
          <a:noFill/>
          <a:ln w="19050">
            <a:solidFill>
              <a:srgbClr val="62708A"/>
            </a:solidFill>
            <a:prstDash val="solid"/>
            <a:tailEnd type="triangle"/>
          </a:ln>
        </p:spPr>
      </p:sp>
      <p:sp>
        <p:nvSpPr>
          <p:cNvPr id="61" name="Shape 59"/>
          <p:cNvSpPr/>
          <p:nvPr/>
        </p:nvSpPr>
        <p:spPr>
          <a:xfrm>
            <a:off x="502920" y="4956048"/>
            <a:ext cx="11185855" cy="713232"/>
          </a:xfrm>
          <a:prstGeom prst="roundRect">
            <a:avLst>
              <a:gd name="adj" fmla="val 8974"/>
            </a:avLst>
          </a:prstGeom>
          <a:solidFill>
            <a:srgbClr val="F1F4F8"/>
          </a:solidFill>
          <a:ln w="9525">
            <a:solidFill>
              <a:srgbClr val="E6ECF3"/>
            </a:solidFill>
            <a:prstDash val="solid"/>
          </a:ln>
        </p:spPr>
      </p:sp>
      <p:sp>
        <p:nvSpPr>
          <p:cNvPr id="62" name="Text 60"/>
          <p:cNvSpPr/>
          <p:nvPr/>
        </p:nvSpPr>
        <p:spPr>
          <a:xfrm>
            <a:off x="704088" y="4956048"/>
            <a:ext cx="10783519" cy="713232"/>
          </a:xfrm>
          <a:prstGeom prst="rect">
            <a:avLst/>
          </a:prstGeom>
          <a:noFill/>
          <a:ln/>
        </p:spPr>
        <p:txBody>
          <a:bodyPr wrap="square" lIns="0" tIns="0" rIns="0" bIns="0" rtlCol="0" anchor="ctr"/>
          <a:lstStyle/>
          <a:p>
            <a:pPr indent="0" marL="0">
              <a:buNone/>
            </a:pPr>
            <a:r>
              <a:rPr lang="en-US" sz="1150" dirty="0">
                <a:solidFill>
                  <a:srgbClr val="2B3A55"/>
                </a:solidFill>
                <a:latin typeface="Calibri" pitchFamily="34" charset="0"/>
                <a:ea typeface="Calibri" pitchFamily="34" charset="-122"/>
                <a:cs typeface="Calibri" pitchFamily="34" charset="-120"/>
              </a:rPr>
              <a:t>Across the same period the task itself shifts:  </a:t>
            </a:r>
            <a:pPr indent="0" marL="0">
              <a:buNone/>
            </a:pPr>
            <a:r>
              <a:rPr lang="en-US" sz="1150" b="1" dirty="0">
                <a:solidFill>
                  <a:srgbClr val="0E7C86"/>
                </a:solidFill>
                <a:latin typeface="Calibri" pitchFamily="34" charset="0"/>
                <a:ea typeface="Calibri" pitchFamily="34" charset="-122"/>
                <a:cs typeface="Calibri" pitchFamily="34" charset="-120"/>
              </a:rPr>
              <a:t>DTI (binary interaction)</a:t>
            </a:r>
            <a:pPr indent="0" marL="0">
              <a:buNone/>
            </a:pPr>
            <a:r>
              <a:rPr lang="en-US" sz="1150" dirty="0">
                <a:solidFill>
                  <a:srgbClr val="62708A"/>
                </a:solidFill>
                <a:latin typeface="Calibri" pitchFamily="34" charset="0"/>
                <a:ea typeface="Calibri" pitchFamily="34" charset="-122"/>
                <a:cs typeface="Calibri" pitchFamily="34" charset="-120"/>
              </a:rPr>
              <a:t>  →  </a:t>
            </a:r>
            <a:pPr indent="0" marL="0">
              <a:buNone/>
            </a:pPr>
            <a:r>
              <a:rPr lang="en-US" sz="1150" b="1" dirty="0">
                <a:solidFill>
                  <a:srgbClr val="6C4AB6"/>
                </a:solidFill>
                <a:latin typeface="Calibri" pitchFamily="34" charset="0"/>
                <a:ea typeface="Calibri" pitchFamily="34" charset="-122"/>
                <a:cs typeface="Calibri" pitchFamily="34" charset="-120"/>
              </a:rPr>
              <a:t>DTA (continuous affinity)</a:t>
            </a:r>
            <a:pPr indent="0" marL="0">
              <a:buNone/>
            </a:pPr>
            <a:r>
              <a:rPr lang="en-US" sz="1150" dirty="0">
                <a:solidFill>
                  <a:srgbClr val="2B3A55"/>
                </a:solidFill>
                <a:latin typeface="Calibri" pitchFamily="34" charset="0"/>
                <a:ea typeface="Calibri" pitchFamily="34" charset="-122"/>
                <a:cs typeface="Calibri" pitchFamily="34" charset="-120"/>
              </a:rPr>
              <a:t>  — richer supervision, and no need to invent negative pairs.</a:t>
            </a:r>
            <a:endParaRPr lang="en-US" sz="1150" dirty="0"/>
          </a:p>
        </p:txBody>
      </p:sp>
      <p:sp>
        <p:nvSpPr>
          <p:cNvPr id="63" name="Text 61"/>
          <p:cNvSpPr/>
          <p:nvPr/>
        </p:nvSpPr>
        <p:spPr>
          <a:xfrm>
            <a:off x="502920" y="6373368"/>
            <a:ext cx="11185855" cy="310896"/>
          </a:xfrm>
          <a:prstGeom prst="rect">
            <a:avLst/>
          </a:prstGeom>
          <a:noFill/>
          <a:ln/>
        </p:spPr>
        <p:txBody>
          <a:bodyPr wrap="square" lIns="0" tIns="0" rIns="0" bIns="0" rtlCol="0" anchor="t"/>
          <a:lstStyle/>
          <a:p>
            <a:pPr indent="0" marL="0">
              <a:buNone/>
            </a:pPr>
            <a:r>
              <a:rPr lang="en-US" sz="850" i="1" dirty="0">
                <a:solidFill>
                  <a:srgbClr val="62708A"/>
                </a:solidFill>
                <a:latin typeface="Calibri" pitchFamily="34" charset="0"/>
                <a:ea typeface="Calibri" pitchFamily="34" charset="-122"/>
                <a:cs typeface="Calibri" pitchFamily="34" charset="-120"/>
              </a:rPr>
              <a:t>Conceptual structure adapted from Wang Y., Lv J., Xia Y., Xu J., Meng Y., Cui F., Wei L., Zou Q., Zhang Z., “A unified survey on drug–target interaction and binding affinity prediction: Models, representations, and challenges,” Biotechnology Advances, 2026 (PMID 41690335). Diagram redrawn — original figure not reproduced.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LITERATURE REVIEW</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How Drug and Target Representation Evolved</a:t>
            </a:r>
            <a:endParaRPr lang="en-US" sz="3000" dirty="0"/>
          </a:p>
        </p:txBody>
      </p:sp>
      <p:sp>
        <p:nvSpPr>
          <p:cNvPr id="4" name="Text 2"/>
          <p:cNvSpPr/>
          <p:nvPr/>
        </p:nvSpPr>
        <p:spPr>
          <a:xfrm>
            <a:off x="502920" y="1170432"/>
            <a:ext cx="11185855" cy="274320"/>
          </a:xfrm>
          <a:prstGeom prst="rect">
            <a:avLst/>
          </a:prstGeom>
          <a:noFill/>
          <a:ln/>
        </p:spPr>
        <p:txBody>
          <a:bodyPr wrap="square" lIns="0" tIns="0" rIns="0" bIns="0" rtlCol="0" anchor="ctr"/>
          <a:lstStyle/>
          <a:p>
            <a:pPr indent="0" marL="0">
              <a:buNone/>
            </a:pPr>
            <a:r>
              <a:rPr lang="en-US" sz="1150" dirty="0">
                <a:solidFill>
                  <a:srgbClr val="2B3A55"/>
                </a:solidFill>
                <a:latin typeface="Calibri" pitchFamily="34" charset="0"/>
                <a:ea typeface="Calibri" pitchFamily="34" charset="-122"/>
                <a:cs typeface="Calibri" pitchFamily="34" charset="-120"/>
              </a:rPr>
              <a:t>Model progress and representation progress are the same story — each new model family exists because a new representation became learnable.</a:t>
            </a:r>
            <a:endParaRPr lang="en-US" sz="1150" dirty="0"/>
          </a:p>
        </p:txBody>
      </p:sp>
      <p:sp>
        <p:nvSpPr>
          <p:cNvPr id="5" name="Shape 3"/>
          <p:cNvSpPr/>
          <p:nvPr/>
        </p:nvSpPr>
        <p:spPr>
          <a:xfrm>
            <a:off x="502920" y="1572768"/>
            <a:ext cx="1170432" cy="1298448"/>
          </a:xfrm>
          <a:prstGeom prst="roundRect">
            <a:avLst>
              <a:gd name="adj" fmla="val 4688"/>
            </a:avLst>
          </a:prstGeom>
          <a:solidFill>
            <a:srgbClr val="0E7C86"/>
          </a:solidFill>
          <a:ln w="12700">
            <a:solidFill>
              <a:srgbClr val="0E7C86"/>
            </a:solidFill>
            <a:prstDash val="solid"/>
          </a:ln>
        </p:spPr>
      </p:sp>
      <p:sp>
        <p:nvSpPr>
          <p:cNvPr id="6" name="Text 4"/>
          <p:cNvSpPr/>
          <p:nvPr/>
        </p:nvSpPr>
        <p:spPr>
          <a:xfrm>
            <a:off x="502920" y="1572768"/>
            <a:ext cx="1170432" cy="1298448"/>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DRUG</a:t>
            </a:r>
            <a:endParaRPr lang="en-US" sz="1250" dirty="0"/>
          </a:p>
        </p:txBody>
      </p:sp>
      <p:sp>
        <p:nvSpPr>
          <p:cNvPr id="7" name="Shape 5"/>
          <p:cNvSpPr/>
          <p:nvPr/>
        </p:nvSpPr>
        <p:spPr>
          <a:xfrm>
            <a:off x="2057400" y="1572768"/>
            <a:ext cx="3063240" cy="1298448"/>
          </a:xfrm>
          <a:prstGeom prst="roundRect">
            <a:avLst>
              <a:gd name="adj" fmla="val 4930"/>
            </a:avLst>
          </a:prstGeom>
          <a:solidFill>
            <a:srgbClr val="F1F4F8"/>
          </a:solidFill>
          <a:ln w="9525">
            <a:solidFill>
              <a:srgbClr val="E6ECF3"/>
            </a:solidFill>
            <a:prstDash val="solid"/>
          </a:ln>
        </p:spPr>
      </p:sp>
      <p:sp>
        <p:nvSpPr>
          <p:cNvPr id="8" name="Text 6"/>
          <p:cNvSpPr/>
          <p:nvPr/>
        </p:nvSpPr>
        <p:spPr>
          <a:xfrm>
            <a:off x="2203704" y="1572768"/>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SMILES strings, fingerprints,</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molecular descriptors</a:t>
            </a:r>
            <a:endParaRPr lang="en-US" sz="1000" dirty="0"/>
          </a:p>
        </p:txBody>
      </p:sp>
      <p:sp>
        <p:nvSpPr>
          <p:cNvPr id="9" name="Shape 7"/>
          <p:cNvSpPr/>
          <p:nvPr/>
        </p:nvSpPr>
        <p:spPr>
          <a:xfrm>
            <a:off x="5166360" y="2221992"/>
            <a:ext cx="292608" cy="0"/>
          </a:xfrm>
          <a:prstGeom prst="line">
            <a:avLst/>
          </a:prstGeom>
          <a:noFill/>
          <a:ln w="19050">
            <a:solidFill>
              <a:srgbClr val="0E7C86"/>
            </a:solidFill>
            <a:prstDash val="solid"/>
            <a:tailEnd type="triangle"/>
          </a:ln>
        </p:spPr>
      </p:sp>
      <p:sp>
        <p:nvSpPr>
          <p:cNvPr id="10" name="Shape 8"/>
          <p:cNvSpPr/>
          <p:nvPr/>
        </p:nvSpPr>
        <p:spPr>
          <a:xfrm>
            <a:off x="5504688" y="1572768"/>
            <a:ext cx="3063240" cy="1298448"/>
          </a:xfrm>
          <a:prstGeom prst="roundRect">
            <a:avLst>
              <a:gd name="adj" fmla="val 4930"/>
            </a:avLst>
          </a:prstGeom>
          <a:solidFill>
            <a:srgbClr val="F1F4F8"/>
          </a:solidFill>
          <a:ln w="9525">
            <a:solidFill>
              <a:srgbClr val="E6ECF3"/>
            </a:solidFill>
            <a:prstDash val="solid"/>
          </a:ln>
        </p:spPr>
      </p:sp>
      <p:sp>
        <p:nvSpPr>
          <p:cNvPr id="11" name="Text 9"/>
          <p:cNvSpPr/>
          <p:nvPr/>
        </p:nvSpPr>
        <p:spPr>
          <a:xfrm>
            <a:off x="5650992" y="1572768"/>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Molecular graphs</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(atoms as nodes, bonds as edges)</a:t>
            </a:r>
            <a:endParaRPr lang="en-US" sz="1000" dirty="0"/>
          </a:p>
        </p:txBody>
      </p:sp>
      <p:sp>
        <p:nvSpPr>
          <p:cNvPr id="12" name="Shape 10"/>
          <p:cNvSpPr/>
          <p:nvPr/>
        </p:nvSpPr>
        <p:spPr>
          <a:xfrm>
            <a:off x="8613648" y="2221992"/>
            <a:ext cx="292608" cy="0"/>
          </a:xfrm>
          <a:prstGeom prst="line">
            <a:avLst/>
          </a:prstGeom>
          <a:noFill/>
          <a:ln w="19050">
            <a:solidFill>
              <a:srgbClr val="0E7C86"/>
            </a:solidFill>
            <a:prstDash val="solid"/>
            <a:tailEnd type="triangle"/>
          </a:ln>
        </p:spPr>
      </p:sp>
      <p:sp>
        <p:nvSpPr>
          <p:cNvPr id="13" name="Shape 11"/>
          <p:cNvSpPr/>
          <p:nvPr/>
        </p:nvSpPr>
        <p:spPr>
          <a:xfrm>
            <a:off x="8951976" y="1572768"/>
            <a:ext cx="3063240" cy="1298448"/>
          </a:xfrm>
          <a:prstGeom prst="roundRect">
            <a:avLst>
              <a:gd name="adj" fmla="val 4930"/>
            </a:avLst>
          </a:prstGeom>
          <a:solidFill>
            <a:srgbClr val="F1F4F8"/>
          </a:solidFill>
          <a:ln w="9525">
            <a:solidFill>
              <a:srgbClr val="E6ECF3"/>
            </a:solidFill>
            <a:prstDash val="solid"/>
          </a:ln>
        </p:spPr>
      </p:sp>
      <p:sp>
        <p:nvSpPr>
          <p:cNvPr id="14" name="Text 12"/>
          <p:cNvSpPr/>
          <p:nvPr/>
        </p:nvSpPr>
        <p:spPr>
          <a:xfrm>
            <a:off x="9098280" y="1572768"/>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Learned molecular</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representations</a:t>
            </a:r>
            <a:endParaRPr lang="en-US" sz="1000" dirty="0"/>
          </a:p>
        </p:txBody>
      </p:sp>
      <p:sp>
        <p:nvSpPr>
          <p:cNvPr id="15" name="Shape 13"/>
          <p:cNvSpPr/>
          <p:nvPr/>
        </p:nvSpPr>
        <p:spPr>
          <a:xfrm>
            <a:off x="502920" y="3054096"/>
            <a:ext cx="1170432" cy="1298448"/>
          </a:xfrm>
          <a:prstGeom prst="roundRect">
            <a:avLst>
              <a:gd name="adj" fmla="val 4688"/>
            </a:avLst>
          </a:prstGeom>
          <a:solidFill>
            <a:srgbClr val="6C4AB6"/>
          </a:solidFill>
          <a:ln w="12700">
            <a:solidFill>
              <a:srgbClr val="6C4AB6"/>
            </a:solidFill>
            <a:prstDash val="solid"/>
          </a:ln>
        </p:spPr>
      </p:sp>
      <p:sp>
        <p:nvSpPr>
          <p:cNvPr id="16" name="Text 14"/>
          <p:cNvSpPr/>
          <p:nvPr/>
        </p:nvSpPr>
        <p:spPr>
          <a:xfrm>
            <a:off x="502920" y="3054096"/>
            <a:ext cx="1170432" cy="1298448"/>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TARGET</a:t>
            </a:r>
            <a:endParaRPr lang="en-US" sz="1250" dirty="0"/>
          </a:p>
        </p:txBody>
      </p:sp>
      <p:sp>
        <p:nvSpPr>
          <p:cNvPr id="17" name="Shape 15"/>
          <p:cNvSpPr/>
          <p:nvPr/>
        </p:nvSpPr>
        <p:spPr>
          <a:xfrm>
            <a:off x="2057400" y="3054096"/>
            <a:ext cx="3063240" cy="1298448"/>
          </a:xfrm>
          <a:prstGeom prst="roundRect">
            <a:avLst>
              <a:gd name="adj" fmla="val 4930"/>
            </a:avLst>
          </a:prstGeom>
          <a:solidFill>
            <a:srgbClr val="F1F4F8"/>
          </a:solidFill>
          <a:ln w="9525">
            <a:solidFill>
              <a:srgbClr val="E6ECF3"/>
            </a:solidFill>
            <a:prstDash val="solid"/>
          </a:ln>
        </p:spPr>
      </p:sp>
      <p:sp>
        <p:nvSpPr>
          <p:cNvPr id="18" name="Text 16"/>
          <p:cNvSpPr/>
          <p:nvPr/>
        </p:nvSpPr>
        <p:spPr>
          <a:xfrm>
            <a:off x="2203704" y="3054096"/>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Protein descriptors and</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raw amino-acid sequence</a:t>
            </a:r>
            <a:endParaRPr lang="en-US" sz="1000" dirty="0"/>
          </a:p>
        </p:txBody>
      </p:sp>
      <p:sp>
        <p:nvSpPr>
          <p:cNvPr id="19" name="Shape 17"/>
          <p:cNvSpPr/>
          <p:nvPr/>
        </p:nvSpPr>
        <p:spPr>
          <a:xfrm>
            <a:off x="5166360" y="3703320"/>
            <a:ext cx="292608" cy="0"/>
          </a:xfrm>
          <a:prstGeom prst="line">
            <a:avLst/>
          </a:prstGeom>
          <a:noFill/>
          <a:ln w="19050">
            <a:solidFill>
              <a:srgbClr val="6C4AB6"/>
            </a:solidFill>
            <a:prstDash val="solid"/>
            <a:tailEnd type="triangle"/>
          </a:ln>
        </p:spPr>
      </p:sp>
      <p:sp>
        <p:nvSpPr>
          <p:cNvPr id="20" name="Shape 18"/>
          <p:cNvSpPr/>
          <p:nvPr/>
        </p:nvSpPr>
        <p:spPr>
          <a:xfrm>
            <a:off x="5504688" y="3054096"/>
            <a:ext cx="3063240" cy="1298448"/>
          </a:xfrm>
          <a:prstGeom prst="roundRect">
            <a:avLst>
              <a:gd name="adj" fmla="val 4930"/>
            </a:avLst>
          </a:prstGeom>
          <a:solidFill>
            <a:srgbClr val="F1F4F8"/>
          </a:solidFill>
          <a:ln w="9525">
            <a:solidFill>
              <a:srgbClr val="E6ECF3"/>
            </a:solidFill>
            <a:prstDash val="solid"/>
          </a:ln>
        </p:spPr>
      </p:sp>
      <p:sp>
        <p:nvSpPr>
          <p:cNvPr id="21" name="Text 19"/>
          <p:cNvSpPr/>
          <p:nvPr/>
        </p:nvSpPr>
        <p:spPr>
          <a:xfrm>
            <a:off x="5650992" y="3054096"/>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Learned sequence</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representations</a:t>
            </a:r>
            <a:endParaRPr lang="en-US" sz="1000" dirty="0"/>
          </a:p>
        </p:txBody>
      </p:sp>
      <p:sp>
        <p:nvSpPr>
          <p:cNvPr id="22" name="Shape 20"/>
          <p:cNvSpPr/>
          <p:nvPr/>
        </p:nvSpPr>
        <p:spPr>
          <a:xfrm>
            <a:off x="8613648" y="3703320"/>
            <a:ext cx="292608" cy="0"/>
          </a:xfrm>
          <a:prstGeom prst="line">
            <a:avLst/>
          </a:prstGeom>
          <a:noFill/>
          <a:ln w="19050">
            <a:solidFill>
              <a:srgbClr val="6C4AB6"/>
            </a:solidFill>
            <a:prstDash val="solid"/>
            <a:tailEnd type="triangle"/>
          </a:ln>
        </p:spPr>
      </p:sp>
      <p:sp>
        <p:nvSpPr>
          <p:cNvPr id="23" name="Shape 21"/>
          <p:cNvSpPr/>
          <p:nvPr/>
        </p:nvSpPr>
        <p:spPr>
          <a:xfrm>
            <a:off x="8951976" y="3054096"/>
            <a:ext cx="3063240" cy="1298448"/>
          </a:xfrm>
          <a:prstGeom prst="roundRect">
            <a:avLst>
              <a:gd name="adj" fmla="val 4930"/>
            </a:avLst>
          </a:prstGeom>
          <a:solidFill>
            <a:srgbClr val="F1F4F8"/>
          </a:solidFill>
          <a:ln w="9525">
            <a:solidFill>
              <a:srgbClr val="E6ECF3"/>
            </a:solidFill>
            <a:prstDash val="solid"/>
          </a:ln>
        </p:spPr>
      </p:sp>
      <p:sp>
        <p:nvSpPr>
          <p:cNvPr id="24" name="Text 22"/>
          <p:cNvSpPr/>
          <p:nvPr/>
        </p:nvSpPr>
        <p:spPr>
          <a:xfrm>
            <a:off x="9098280" y="3054096"/>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Structural / binding-pocket</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representations</a:t>
            </a:r>
            <a:endParaRPr lang="en-US" sz="1000" dirty="0"/>
          </a:p>
        </p:txBody>
      </p:sp>
      <p:sp>
        <p:nvSpPr>
          <p:cNvPr id="25" name="Shape 23"/>
          <p:cNvSpPr/>
          <p:nvPr/>
        </p:nvSpPr>
        <p:spPr>
          <a:xfrm>
            <a:off x="502920" y="4535424"/>
            <a:ext cx="1170432" cy="1298448"/>
          </a:xfrm>
          <a:prstGeom prst="roundRect">
            <a:avLst>
              <a:gd name="adj" fmla="val 4688"/>
            </a:avLst>
          </a:prstGeom>
          <a:solidFill>
            <a:srgbClr val="2B3A55"/>
          </a:solidFill>
          <a:ln w="12700">
            <a:solidFill>
              <a:srgbClr val="2B3A55"/>
            </a:solidFill>
            <a:prstDash val="solid"/>
          </a:ln>
        </p:spPr>
      </p:sp>
      <p:sp>
        <p:nvSpPr>
          <p:cNvPr id="26" name="Text 24"/>
          <p:cNvSpPr/>
          <p:nvPr/>
        </p:nvSpPr>
        <p:spPr>
          <a:xfrm>
            <a:off x="502920" y="4535424"/>
            <a:ext cx="1170432" cy="1298448"/>
          </a:xfrm>
          <a:prstGeom prst="rect">
            <a:avLst/>
          </a:prstGeom>
          <a:noFill/>
          <a:ln/>
        </p:spPr>
        <p:txBody>
          <a:bodyPr wrap="square" lIns="0" tIns="0" rIns="0" bIns="0" rtlCol="0" anchor="ctr"/>
          <a:lstStyle/>
          <a:p>
            <a:pPr algn="ctr" indent="0" marL="0">
              <a:buNone/>
            </a:pPr>
            <a:r>
              <a:rPr lang="en-US" sz="1250" b="1" spc="100" kern="0" dirty="0">
                <a:solidFill>
                  <a:srgbClr val="FFFFFF"/>
                </a:solidFill>
                <a:latin typeface="Calibri" pitchFamily="34" charset="0"/>
                <a:ea typeface="Calibri" pitchFamily="34" charset="-122"/>
                <a:cs typeface="Calibri" pitchFamily="34" charset="-120"/>
              </a:rPr>
              <a:t>JOINT</a:t>
            </a:r>
            <a:endParaRPr lang="en-US" sz="1250" dirty="0"/>
          </a:p>
        </p:txBody>
      </p:sp>
      <p:sp>
        <p:nvSpPr>
          <p:cNvPr id="27" name="Shape 25"/>
          <p:cNvSpPr/>
          <p:nvPr/>
        </p:nvSpPr>
        <p:spPr>
          <a:xfrm>
            <a:off x="2057400" y="4535424"/>
            <a:ext cx="3063240" cy="1298448"/>
          </a:xfrm>
          <a:prstGeom prst="roundRect">
            <a:avLst>
              <a:gd name="adj" fmla="val 4930"/>
            </a:avLst>
          </a:prstGeom>
          <a:solidFill>
            <a:srgbClr val="F1F4F8"/>
          </a:solidFill>
          <a:ln w="9525">
            <a:solidFill>
              <a:srgbClr val="E6ECF3"/>
            </a:solidFill>
            <a:prstDash val="solid"/>
          </a:ln>
        </p:spPr>
      </p:sp>
      <p:sp>
        <p:nvSpPr>
          <p:cNvPr id="28" name="Text 26"/>
          <p:cNvSpPr/>
          <p:nvPr/>
        </p:nvSpPr>
        <p:spPr>
          <a:xfrm>
            <a:off x="2203704" y="4535424"/>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Feature fusion</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(concatenate, add, Kronecker)</a:t>
            </a:r>
            <a:endParaRPr lang="en-US" sz="1000" dirty="0"/>
          </a:p>
        </p:txBody>
      </p:sp>
      <p:sp>
        <p:nvSpPr>
          <p:cNvPr id="29" name="Shape 27"/>
          <p:cNvSpPr/>
          <p:nvPr/>
        </p:nvSpPr>
        <p:spPr>
          <a:xfrm>
            <a:off x="5166360" y="5184648"/>
            <a:ext cx="292608" cy="0"/>
          </a:xfrm>
          <a:prstGeom prst="line">
            <a:avLst/>
          </a:prstGeom>
          <a:noFill/>
          <a:ln w="19050">
            <a:solidFill>
              <a:srgbClr val="2B3A55"/>
            </a:solidFill>
            <a:prstDash val="solid"/>
            <a:tailEnd type="triangle"/>
          </a:ln>
        </p:spPr>
      </p:sp>
      <p:sp>
        <p:nvSpPr>
          <p:cNvPr id="30" name="Shape 28"/>
          <p:cNvSpPr/>
          <p:nvPr/>
        </p:nvSpPr>
        <p:spPr>
          <a:xfrm>
            <a:off x="5504688" y="4535424"/>
            <a:ext cx="3063240" cy="1298448"/>
          </a:xfrm>
          <a:prstGeom prst="roundRect">
            <a:avLst>
              <a:gd name="adj" fmla="val 4930"/>
            </a:avLst>
          </a:prstGeom>
          <a:solidFill>
            <a:srgbClr val="F1F4F8"/>
          </a:solidFill>
          <a:ln w="9525">
            <a:solidFill>
              <a:srgbClr val="E6ECF3"/>
            </a:solidFill>
            <a:prstDash val="solid"/>
          </a:ln>
        </p:spPr>
      </p:sp>
      <p:sp>
        <p:nvSpPr>
          <p:cNvPr id="31" name="Text 29"/>
          <p:cNvSpPr/>
          <p:nvPr/>
        </p:nvSpPr>
        <p:spPr>
          <a:xfrm>
            <a:off x="5650992" y="4535424"/>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Explicit interaction</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modelling / attention</a:t>
            </a:r>
            <a:endParaRPr lang="en-US" sz="1000" dirty="0"/>
          </a:p>
        </p:txBody>
      </p:sp>
      <p:sp>
        <p:nvSpPr>
          <p:cNvPr id="32" name="Shape 30"/>
          <p:cNvSpPr/>
          <p:nvPr/>
        </p:nvSpPr>
        <p:spPr>
          <a:xfrm>
            <a:off x="8613648" y="5184648"/>
            <a:ext cx="292608" cy="0"/>
          </a:xfrm>
          <a:prstGeom prst="line">
            <a:avLst/>
          </a:prstGeom>
          <a:noFill/>
          <a:ln w="19050">
            <a:solidFill>
              <a:srgbClr val="2B3A55"/>
            </a:solidFill>
            <a:prstDash val="solid"/>
            <a:tailEnd type="triangle"/>
          </a:ln>
        </p:spPr>
      </p:sp>
      <p:sp>
        <p:nvSpPr>
          <p:cNvPr id="33" name="Shape 31"/>
          <p:cNvSpPr/>
          <p:nvPr/>
        </p:nvSpPr>
        <p:spPr>
          <a:xfrm>
            <a:off x="8951976" y="4535424"/>
            <a:ext cx="3063240" cy="1298448"/>
          </a:xfrm>
          <a:prstGeom prst="roundRect">
            <a:avLst>
              <a:gd name="adj" fmla="val 4930"/>
            </a:avLst>
          </a:prstGeom>
          <a:solidFill>
            <a:srgbClr val="F1F4F8"/>
          </a:solidFill>
          <a:ln w="9525">
            <a:solidFill>
              <a:srgbClr val="E6ECF3"/>
            </a:solidFill>
            <a:prstDash val="solid"/>
          </a:ln>
        </p:spPr>
      </p:sp>
      <p:sp>
        <p:nvSpPr>
          <p:cNvPr id="34" name="Text 32"/>
          <p:cNvSpPr/>
          <p:nvPr/>
        </p:nvSpPr>
        <p:spPr>
          <a:xfrm>
            <a:off x="9098280" y="4535424"/>
            <a:ext cx="2770632" cy="1298448"/>
          </a:xfrm>
          <a:prstGeom prst="rect">
            <a:avLst/>
          </a:prstGeom>
          <a:noFill/>
          <a:ln/>
        </p:spPr>
        <p:txBody>
          <a:bodyPr wrap="square" lIns="0" tIns="0" rIns="0" bIns="0" rtlCol="0" anchor="ctr"/>
          <a:lstStyle/>
          <a:p>
            <a:pPr indent="0" marL="0">
              <a:buNone/>
            </a:pPr>
            <a:r>
              <a:rPr lang="en-US" sz="1000" dirty="0">
                <a:solidFill>
                  <a:srgbClr val="14213D"/>
                </a:solidFill>
                <a:latin typeface="Calibri" pitchFamily="34" charset="0"/>
                <a:ea typeface="Calibri" pitchFamily="34" charset="-122"/>
                <a:cs typeface="Calibri" pitchFamily="34" charset="-120"/>
              </a:rPr>
              <a:t>Affinity prediction head</a:t>
            </a:r>
            <a:endParaRPr lang="en-US" sz="1000" dirty="0"/>
          </a:p>
          <a:p>
            <a:pPr indent="0" marL="0">
              <a:buNone/>
            </a:pPr>
            <a:r>
              <a:rPr lang="en-US" sz="1000" dirty="0">
                <a:solidFill>
                  <a:srgbClr val="14213D"/>
                </a:solidFill>
                <a:latin typeface="Calibri" pitchFamily="34" charset="0"/>
                <a:ea typeface="Calibri" pitchFamily="34" charset="-122"/>
                <a:cs typeface="Calibri" pitchFamily="34" charset="-120"/>
              </a:rPr>
              <a:t>→ continuous value</a:t>
            </a:r>
            <a:endParaRPr lang="en-US" sz="1000" dirty="0"/>
          </a:p>
        </p:txBody>
      </p:sp>
      <p:sp>
        <p:nvSpPr>
          <p:cNvPr id="35" name="Shape 33"/>
          <p:cNvSpPr/>
          <p:nvPr/>
        </p:nvSpPr>
        <p:spPr>
          <a:xfrm>
            <a:off x="502920" y="5852160"/>
            <a:ext cx="11185855" cy="457200"/>
          </a:xfrm>
          <a:prstGeom prst="roundRect">
            <a:avLst>
              <a:gd name="adj" fmla="val 14000"/>
            </a:avLst>
          </a:prstGeom>
          <a:solidFill>
            <a:srgbClr val="F1F4F8"/>
          </a:solidFill>
          <a:ln w="9525">
            <a:solidFill>
              <a:srgbClr val="E6ECF3"/>
            </a:solidFill>
            <a:prstDash val="solid"/>
          </a:ln>
        </p:spPr>
      </p:sp>
      <p:sp>
        <p:nvSpPr>
          <p:cNvPr id="36" name="Text 34"/>
          <p:cNvSpPr/>
          <p:nvPr/>
        </p:nvSpPr>
        <p:spPr>
          <a:xfrm>
            <a:off x="704088" y="5852160"/>
            <a:ext cx="10783519" cy="45720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Where my two papers sit:  </a:t>
            </a:r>
            <a:pPr indent="0" marL="0">
              <a:buNone/>
            </a:pPr>
            <a:r>
              <a:rPr lang="en-US" sz="1100" dirty="0">
                <a:solidFill>
                  <a:srgbClr val="2B3A55"/>
                </a:solidFill>
                <a:latin typeface="Calibri" pitchFamily="34" charset="0"/>
                <a:ea typeface="Calibri" pitchFamily="34" charset="-122"/>
                <a:cs typeface="Calibri" pitchFamily="34" charset="-120"/>
              </a:rPr>
              <a:t>both stay in the left-hand column — sequence-level input (SMILES + amino-acid string), no molecular graph, no 3D structure.</a:t>
            </a:r>
            <a:endParaRPr lang="en-US" sz="1100" dirty="0"/>
          </a:p>
        </p:txBody>
      </p:sp>
      <p:sp>
        <p:nvSpPr>
          <p:cNvPr id="37" name="Text 35"/>
          <p:cNvSpPr/>
          <p:nvPr/>
        </p:nvSpPr>
        <p:spPr>
          <a:xfrm>
            <a:off x="502920" y="6373368"/>
            <a:ext cx="11185855" cy="310896"/>
          </a:xfrm>
          <a:prstGeom prst="rect">
            <a:avLst/>
          </a:prstGeom>
          <a:noFill/>
          <a:ln/>
        </p:spPr>
        <p:txBody>
          <a:bodyPr wrap="square" lIns="0" tIns="0" rIns="0" bIns="0" rtlCol="0" anchor="t"/>
          <a:lstStyle/>
          <a:p>
            <a:pPr indent="0" marL="0">
              <a:buNone/>
            </a:pPr>
            <a:r>
              <a:rPr lang="en-US" sz="850" i="1" dirty="0">
                <a:solidFill>
                  <a:srgbClr val="62708A"/>
                </a:solidFill>
                <a:latin typeface="Calibri" pitchFamily="34" charset="0"/>
                <a:ea typeface="Calibri" pitchFamily="34" charset="-122"/>
                <a:cs typeface="Calibri" pitchFamily="34" charset="-120"/>
              </a:rPr>
              <a:t>Conceptual structure adapted from Wang Y., Lv J., Xia Y., Xu J., Meng Y., Cui F., Wei L., Zou Q., Zhang Z., “A unified survey on drug–target interaction and binding affinity prediction: Models, representations, and challenges,” Biotechnology Advances, 2026 (PMID 41690335). Diagram redrawn — original figure not reproduced.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LITERATURE REVIEW</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The Modern DTA Modelling Landscape</a:t>
            </a:r>
            <a:endParaRPr lang="en-US" sz="3000" dirty="0"/>
          </a:p>
        </p:txBody>
      </p:sp>
      <p:sp>
        <p:nvSpPr>
          <p:cNvPr id="4" name="Shape 2"/>
          <p:cNvSpPr/>
          <p:nvPr/>
        </p:nvSpPr>
        <p:spPr>
          <a:xfrm>
            <a:off x="502920" y="1243584"/>
            <a:ext cx="2624328" cy="932688"/>
          </a:xfrm>
          <a:prstGeom prst="roundRect">
            <a:avLst>
              <a:gd name="adj" fmla="val 6863"/>
            </a:avLst>
          </a:prstGeom>
          <a:solidFill>
            <a:srgbClr val="F1F4F8"/>
          </a:solidFill>
          <a:ln w="9525">
            <a:solidFill>
              <a:srgbClr val="E6ECF3"/>
            </a:solidFill>
            <a:prstDash val="solid"/>
          </a:ln>
        </p:spPr>
      </p:sp>
      <p:sp>
        <p:nvSpPr>
          <p:cNvPr id="5" name="Text 3"/>
          <p:cNvSpPr/>
          <p:nvPr/>
        </p:nvSpPr>
        <p:spPr>
          <a:xfrm>
            <a:off x="649224" y="1353312"/>
            <a:ext cx="233172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CNN</a:t>
            </a:r>
            <a:endParaRPr lang="en-US" sz="1200" dirty="0"/>
          </a:p>
        </p:txBody>
      </p:sp>
      <p:sp>
        <p:nvSpPr>
          <p:cNvPr id="6" name="Text 4"/>
          <p:cNvSpPr/>
          <p:nvPr/>
        </p:nvSpPr>
        <p:spPr>
          <a:xfrm>
            <a:off x="649224" y="1627632"/>
            <a:ext cx="2331720" cy="457200"/>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Convolutional encoders over SMILES and sequence</a:t>
            </a:r>
            <a:endParaRPr lang="en-US" sz="850" dirty="0"/>
          </a:p>
        </p:txBody>
      </p:sp>
      <p:sp>
        <p:nvSpPr>
          <p:cNvPr id="7" name="Shape 5"/>
          <p:cNvSpPr/>
          <p:nvPr/>
        </p:nvSpPr>
        <p:spPr>
          <a:xfrm>
            <a:off x="3346704" y="1243584"/>
            <a:ext cx="2624328" cy="932688"/>
          </a:xfrm>
          <a:prstGeom prst="roundRect">
            <a:avLst>
              <a:gd name="adj" fmla="val 6863"/>
            </a:avLst>
          </a:prstGeom>
          <a:solidFill>
            <a:srgbClr val="F1F4F8"/>
          </a:solidFill>
          <a:ln w="9525">
            <a:solidFill>
              <a:srgbClr val="E6ECF3"/>
            </a:solidFill>
            <a:prstDash val="solid"/>
          </a:ln>
        </p:spPr>
      </p:sp>
      <p:sp>
        <p:nvSpPr>
          <p:cNvPr id="8" name="Text 6"/>
          <p:cNvSpPr/>
          <p:nvPr/>
        </p:nvSpPr>
        <p:spPr>
          <a:xfrm>
            <a:off x="3493008" y="1353312"/>
            <a:ext cx="233172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RNN / LSTM</a:t>
            </a:r>
            <a:endParaRPr lang="en-US" sz="1200" dirty="0"/>
          </a:p>
        </p:txBody>
      </p:sp>
      <p:sp>
        <p:nvSpPr>
          <p:cNvPr id="9" name="Text 7"/>
          <p:cNvSpPr/>
          <p:nvPr/>
        </p:nvSpPr>
        <p:spPr>
          <a:xfrm>
            <a:off x="3493008" y="1627632"/>
            <a:ext cx="2331720" cy="457200"/>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Sequential encoders capturing long-range order</a:t>
            </a:r>
            <a:endParaRPr lang="en-US" sz="850" dirty="0"/>
          </a:p>
        </p:txBody>
      </p:sp>
      <p:sp>
        <p:nvSpPr>
          <p:cNvPr id="10" name="Shape 8"/>
          <p:cNvSpPr/>
          <p:nvPr/>
        </p:nvSpPr>
        <p:spPr>
          <a:xfrm>
            <a:off x="6190488" y="1243584"/>
            <a:ext cx="2624328" cy="932688"/>
          </a:xfrm>
          <a:prstGeom prst="roundRect">
            <a:avLst>
              <a:gd name="adj" fmla="val 6863"/>
            </a:avLst>
          </a:prstGeom>
          <a:solidFill>
            <a:srgbClr val="F1F4F8"/>
          </a:solidFill>
          <a:ln w="9525">
            <a:solidFill>
              <a:srgbClr val="E6ECF3"/>
            </a:solidFill>
            <a:prstDash val="solid"/>
          </a:ln>
        </p:spPr>
      </p:sp>
      <p:sp>
        <p:nvSpPr>
          <p:cNvPr id="11" name="Text 9"/>
          <p:cNvSpPr/>
          <p:nvPr/>
        </p:nvSpPr>
        <p:spPr>
          <a:xfrm>
            <a:off x="6336792" y="1353312"/>
            <a:ext cx="233172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GNN</a:t>
            </a:r>
            <a:endParaRPr lang="en-US" sz="1200" dirty="0"/>
          </a:p>
        </p:txBody>
      </p:sp>
      <p:sp>
        <p:nvSpPr>
          <p:cNvPr id="12" name="Text 10"/>
          <p:cNvSpPr/>
          <p:nvPr/>
        </p:nvSpPr>
        <p:spPr>
          <a:xfrm>
            <a:off x="6336792" y="1627632"/>
            <a:ext cx="2331720" cy="457200"/>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Message passing over molecular graphs</a:t>
            </a:r>
            <a:endParaRPr lang="en-US" sz="850" dirty="0"/>
          </a:p>
        </p:txBody>
      </p:sp>
      <p:sp>
        <p:nvSpPr>
          <p:cNvPr id="13" name="Shape 11"/>
          <p:cNvSpPr/>
          <p:nvPr/>
        </p:nvSpPr>
        <p:spPr>
          <a:xfrm>
            <a:off x="9034272" y="1243584"/>
            <a:ext cx="2624328" cy="932688"/>
          </a:xfrm>
          <a:prstGeom prst="roundRect">
            <a:avLst>
              <a:gd name="adj" fmla="val 6863"/>
            </a:avLst>
          </a:prstGeom>
          <a:solidFill>
            <a:srgbClr val="F1F4F8"/>
          </a:solidFill>
          <a:ln w="9525">
            <a:solidFill>
              <a:srgbClr val="E6ECF3"/>
            </a:solidFill>
            <a:prstDash val="solid"/>
          </a:ln>
        </p:spPr>
      </p:sp>
      <p:sp>
        <p:nvSpPr>
          <p:cNvPr id="14" name="Text 12"/>
          <p:cNvSpPr/>
          <p:nvPr/>
        </p:nvSpPr>
        <p:spPr>
          <a:xfrm>
            <a:off x="9180576" y="1353312"/>
            <a:ext cx="233172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Transformer / Attention</a:t>
            </a:r>
            <a:endParaRPr lang="en-US" sz="1200" dirty="0"/>
          </a:p>
        </p:txBody>
      </p:sp>
      <p:sp>
        <p:nvSpPr>
          <p:cNvPr id="15" name="Text 13"/>
          <p:cNvSpPr/>
          <p:nvPr/>
        </p:nvSpPr>
        <p:spPr>
          <a:xfrm>
            <a:off x="9180576" y="1627632"/>
            <a:ext cx="2331720" cy="457200"/>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Self-attention over tokens; interaction attention</a:t>
            </a:r>
            <a:endParaRPr lang="en-US" sz="850" dirty="0"/>
          </a:p>
        </p:txBody>
      </p:sp>
      <p:sp>
        <p:nvSpPr>
          <p:cNvPr id="16" name="Shape 14"/>
          <p:cNvSpPr/>
          <p:nvPr/>
        </p:nvSpPr>
        <p:spPr>
          <a:xfrm>
            <a:off x="502920" y="2377440"/>
            <a:ext cx="2624328" cy="932688"/>
          </a:xfrm>
          <a:prstGeom prst="roundRect">
            <a:avLst>
              <a:gd name="adj" fmla="val 6863"/>
            </a:avLst>
          </a:prstGeom>
          <a:solidFill>
            <a:srgbClr val="F1F4F8"/>
          </a:solidFill>
          <a:ln w="9525">
            <a:solidFill>
              <a:srgbClr val="E6ECF3"/>
            </a:solidFill>
            <a:prstDash val="solid"/>
          </a:ln>
        </p:spPr>
      </p:sp>
      <p:sp>
        <p:nvSpPr>
          <p:cNvPr id="17" name="Text 15"/>
          <p:cNvSpPr/>
          <p:nvPr/>
        </p:nvSpPr>
        <p:spPr>
          <a:xfrm>
            <a:off x="649224" y="2487168"/>
            <a:ext cx="233172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Hybrid</a:t>
            </a:r>
            <a:endParaRPr lang="en-US" sz="1200" dirty="0"/>
          </a:p>
        </p:txBody>
      </p:sp>
      <p:sp>
        <p:nvSpPr>
          <p:cNvPr id="18" name="Text 16"/>
          <p:cNvSpPr/>
          <p:nvPr/>
        </p:nvSpPr>
        <p:spPr>
          <a:xfrm>
            <a:off x="649224" y="2761488"/>
            <a:ext cx="2331720" cy="457200"/>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Combinations, e.g. CNN encoder + attention fusion</a:t>
            </a:r>
            <a:endParaRPr lang="en-US" sz="850" dirty="0"/>
          </a:p>
        </p:txBody>
      </p:sp>
      <p:sp>
        <p:nvSpPr>
          <p:cNvPr id="19" name="Shape 17"/>
          <p:cNvSpPr/>
          <p:nvPr/>
        </p:nvSpPr>
        <p:spPr>
          <a:xfrm>
            <a:off x="3346704" y="2377440"/>
            <a:ext cx="2624328" cy="932688"/>
          </a:xfrm>
          <a:prstGeom prst="roundRect">
            <a:avLst>
              <a:gd name="adj" fmla="val 6863"/>
            </a:avLst>
          </a:prstGeom>
          <a:solidFill>
            <a:srgbClr val="F1F4F8"/>
          </a:solidFill>
          <a:ln w="9525">
            <a:solidFill>
              <a:srgbClr val="E6ECF3"/>
            </a:solidFill>
            <a:prstDash val="solid"/>
          </a:ln>
        </p:spPr>
      </p:sp>
      <p:sp>
        <p:nvSpPr>
          <p:cNvPr id="20" name="Text 18"/>
          <p:cNvSpPr/>
          <p:nvPr/>
        </p:nvSpPr>
        <p:spPr>
          <a:xfrm>
            <a:off x="3493008" y="2487168"/>
            <a:ext cx="233172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Structure-based</a:t>
            </a:r>
            <a:endParaRPr lang="en-US" sz="1200" dirty="0"/>
          </a:p>
        </p:txBody>
      </p:sp>
      <p:sp>
        <p:nvSpPr>
          <p:cNvPr id="21" name="Text 19"/>
          <p:cNvSpPr/>
          <p:nvPr/>
        </p:nvSpPr>
        <p:spPr>
          <a:xfrm>
            <a:off x="3493008" y="2761488"/>
            <a:ext cx="2331720" cy="457200"/>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3D structure, docking poses, binding pockets</a:t>
            </a:r>
            <a:endParaRPr lang="en-US" sz="850" dirty="0"/>
          </a:p>
        </p:txBody>
      </p:sp>
      <p:sp>
        <p:nvSpPr>
          <p:cNvPr id="22" name="Shape 20"/>
          <p:cNvSpPr/>
          <p:nvPr/>
        </p:nvSpPr>
        <p:spPr>
          <a:xfrm>
            <a:off x="6190488" y="2377440"/>
            <a:ext cx="2624328" cy="932688"/>
          </a:xfrm>
          <a:prstGeom prst="roundRect">
            <a:avLst>
              <a:gd name="adj" fmla="val 6863"/>
            </a:avLst>
          </a:prstGeom>
          <a:solidFill>
            <a:srgbClr val="F1F4F8"/>
          </a:solidFill>
          <a:ln w="9525">
            <a:solidFill>
              <a:srgbClr val="E6ECF3"/>
            </a:solidFill>
            <a:prstDash val="solid"/>
          </a:ln>
        </p:spPr>
      </p:sp>
      <p:sp>
        <p:nvSpPr>
          <p:cNvPr id="23" name="Text 21"/>
          <p:cNvSpPr/>
          <p:nvPr/>
        </p:nvSpPr>
        <p:spPr>
          <a:xfrm>
            <a:off x="6336792" y="2487168"/>
            <a:ext cx="233172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Multimodal</a:t>
            </a:r>
            <a:endParaRPr lang="en-US" sz="1200" dirty="0"/>
          </a:p>
        </p:txBody>
      </p:sp>
      <p:sp>
        <p:nvSpPr>
          <p:cNvPr id="24" name="Text 22"/>
          <p:cNvSpPr/>
          <p:nvPr/>
        </p:nvSpPr>
        <p:spPr>
          <a:xfrm>
            <a:off x="6336792" y="2761488"/>
            <a:ext cx="2331720" cy="457200"/>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Sequence + graph + structure + knowledge combined</a:t>
            </a:r>
            <a:endParaRPr lang="en-US" sz="850" dirty="0"/>
          </a:p>
        </p:txBody>
      </p:sp>
      <p:sp>
        <p:nvSpPr>
          <p:cNvPr id="25" name="Shape 23"/>
          <p:cNvSpPr/>
          <p:nvPr/>
        </p:nvSpPr>
        <p:spPr>
          <a:xfrm>
            <a:off x="9034272" y="2377440"/>
            <a:ext cx="2624328" cy="932688"/>
          </a:xfrm>
          <a:prstGeom prst="roundRect">
            <a:avLst>
              <a:gd name="adj" fmla="val 6863"/>
            </a:avLst>
          </a:prstGeom>
          <a:solidFill>
            <a:srgbClr val="F1F4F8"/>
          </a:solidFill>
          <a:ln w="9525">
            <a:solidFill>
              <a:srgbClr val="E6ECF3"/>
            </a:solidFill>
            <a:prstDash val="solid"/>
          </a:ln>
        </p:spPr>
      </p:sp>
      <p:sp>
        <p:nvSpPr>
          <p:cNvPr id="26" name="Text 24"/>
          <p:cNvSpPr/>
          <p:nvPr/>
        </p:nvSpPr>
        <p:spPr>
          <a:xfrm>
            <a:off x="9180576" y="2487168"/>
            <a:ext cx="2331720" cy="256032"/>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Pretrained</a:t>
            </a:r>
            <a:endParaRPr lang="en-US" sz="1200" dirty="0"/>
          </a:p>
        </p:txBody>
      </p:sp>
      <p:sp>
        <p:nvSpPr>
          <p:cNvPr id="27" name="Text 25"/>
          <p:cNvSpPr/>
          <p:nvPr/>
        </p:nvSpPr>
        <p:spPr>
          <a:xfrm>
            <a:off x="9180576" y="2761488"/>
            <a:ext cx="2331720" cy="457200"/>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Self-supervised chemical / protein language models</a:t>
            </a:r>
            <a:endParaRPr lang="en-US" sz="850" dirty="0"/>
          </a:p>
        </p:txBody>
      </p:sp>
      <p:sp>
        <p:nvSpPr>
          <p:cNvPr id="28" name="Shape 26"/>
          <p:cNvSpPr/>
          <p:nvPr/>
        </p:nvSpPr>
        <p:spPr>
          <a:xfrm>
            <a:off x="502920" y="3767328"/>
            <a:ext cx="11185855" cy="1417320"/>
          </a:xfrm>
          <a:prstGeom prst="roundRect">
            <a:avLst>
              <a:gd name="adj" fmla="val 5161"/>
            </a:avLst>
          </a:prstGeom>
          <a:solidFill>
            <a:srgbClr val="F6F2FB"/>
          </a:solidFill>
          <a:ln w="15875">
            <a:solidFill>
              <a:srgbClr val="6C4AB6"/>
            </a:solidFill>
            <a:prstDash val="solid"/>
          </a:ln>
        </p:spPr>
      </p:sp>
      <p:sp>
        <p:nvSpPr>
          <p:cNvPr id="29" name="Shape 27"/>
          <p:cNvSpPr/>
          <p:nvPr/>
        </p:nvSpPr>
        <p:spPr>
          <a:xfrm>
            <a:off x="722376" y="3950208"/>
            <a:ext cx="3429000" cy="237744"/>
          </a:xfrm>
          <a:prstGeom prst="roundRect">
            <a:avLst>
              <a:gd name="adj" fmla="val 50000"/>
            </a:avLst>
          </a:prstGeom>
          <a:solidFill>
            <a:srgbClr val="6C4AB6"/>
          </a:solidFill>
          <a:ln w="6350">
            <a:solidFill>
              <a:srgbClr val="6C4AB6"/>
            </a:solidFill>
            <a:prstDash val="solid"/>
          </a:ln>
        </p:spPr>
      </p:sp>
      <p:sp>
        <p:nvSpPr>
          <p:cNvPr id="30" name="Text 28"/>
          <p:cNvSpPr/>
          <p:nvPr/>
        </p:nvSpPr>
        <p:spPr>
          <a:xfrm>
            <a:off x="722376" y="3950208"/>
            <a:ext cx="34290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GENERATIVE / REPRESENTATION LEARNING</a:t>
            </a:r>
            <a:endParaRPr lang="en-US" sz="900" dirty="0"/>
          </a:p>
        </p:txBody>
      </p:sp>
      <p:sp>
        <p:nvSpPr>
          <p:cNvPr id="31" name="Text 29"/>
          <p:cNvSpPr/>
          <p:nvPr/>
        </p:nvSpPr>
        <p:spPr>
          <a:xfrm>
            <a:off x="722376" y="4279392"/>
            <a:ext cx="10728655" cy="384048"/>
          </a:xfrm>
          <a:prstGeom prst="rect">
            <a:avLst/>
          </a:prstGeom>
          <a:noFill/>
          <a:ln/>
        </p:spPr>
        <p:txBody>
          <a:bodyPr wrap="square" lIns="0" tIns="0" rIns="0" bIns="0" rtlCol="0" anchor="ctr"/>
          <a:lstStyle/>
          <a:p>
            <a:pPr indent="0" marL="0">
              <a:buNone/>
            </a:pPr>
            <a:r>
              <a:rPr lang="en-US" sz="1050" dirty="0">
                <a:solidFill>
                  <a:srgbClr val="2B3A55"/>
                </a:solidFill>
                <a:latin typeface="Calibri" pitchFamily="34" charset="0"/>
                <a:ea typeface="Calibri" pitchFamily="34" charset="-122"/>
                <a:cs typeface="Calibri" pitchFamily="34" charset="-120"/>
              </a:rPr>
              <a:t>A cross-cutting branch rather than a separate architecture family. These models learn a representation (or a data distribution) as well as — or before — predicting affinity.</a:t>
            </a:r>
            <a:endParaRPr lang="en-US" sz="1050" dirty="0"/>
          </a:p>
        </p:txBody>
      </p:sp>
      <p:sp>
        <p:nvSpPr>
          <p:cNvPr id="32" name="Shape 30"/>
          <p:cNvSpPr/>
          <p:nvPr/>
        </p:nvSpPr>
        <p:spPr>
          <a:xfrm>
            <a:off x="722376" y="4681728"/>
            <a:ext cx="2743200" cy="384048"/>
          </a:xfrm>
          <a:prstGeom prst="roundRect">
            <a:avLst>
              <a:gd name="adj" fmla="val 16667"/>
            </a:avLst>
          </a:prstGeom>
          <a:solidFill>
            <a:srgbClr val="0E7C86"/>
          </a:solidFill>
          <a:ln w="12700">
            <a:solidFill>
              <a:srgbClr val="0E7C86"/>
            </a:solidFill>
            <a:prstDash val="solid"/>
          </a:ln>
        </p:spPr>
      </p:sp>
      <p:sp>
        <p:nvSpPr>
          <p:cNvPr id="33" name="Text 31"/>
          <p:cNvSpPr/>
          <p:nvPr/>
        </p:nvSpPr>
        <p:spPr>
          <a:xfrm>
            <a:off x="722376" y="4681728"/>
            <a:ext cx="2743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GAN — adversarial</a:t>
            </a:r>
            <a:endParaRPr lang="en-US" sz="1100" dirty="0"/>
          </a:p>
        </p:txBody>
      </p:sp>
      <p:sp>
        <p:nvSpPr>
          <p:cNvPr id="34" name="Shape 32"/>
          <p:cNvSpPr/>
          <p:nvPr/>
        </p:nvSpPr>
        <p:spPr>
          <a:xfrm>
            <a:off x="3648456" y="4681728"/>
            <a:ext cx="2743200" cy="384048"/>
          </a:xfrm>
          <a:prstGeom prst="roundRect">
            <a:avLst>
              <a:gd name="adj" fmla="val 16667"/>
            </a:avLst>
          </a:prstGeom>
          <a:solidFill>
            <a:srgbClr val="6C4AB6"/>
          </a:solidFill>
          <a:ln w="12700">
            <a:solidFill>
              <a:srgbClr val="6C4AB6"/>
            </a:solidFill>
            <a:prstDash val="solid"/>
          </a:ln>
        </p:spPr>
      </p:sp>
      <p:sp>
        <p:nvSpPr>
          <p:cNvPr id="35" name="Text 33"/>
          <p:cNvSpPr/>
          <p:nvPr/>
        </p:nvSpPr>
        <p:spPr>
          <a:xfrm>
            <a:off x="3648456" y="4681728"/>
            <a:ext cx="27432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VAE — latent-variable</a:t>
            </a:r>
            <a:endParaRPr lang="en-US" sz="1100" dirty="0"/>
          </a:p>
        </p:txBody>
      </p:sp>
      <p:sp>
        <p:nvSpPr>
          <p:cNvPr id="36" name="Text 34"/>
          <p:cNvSpPr/>
          <p:nvPr/>
        </p:nvSpPr>
        <p:spPr>
          <a:xfrm>
            <a:off x="6629400" y="4681728"/>
            <a:ext cx="4572000" cy="384048"/>
          </a:xfrm>
          <a:prstGeom prst="rect">
            <a:avLst/>
          </a:prstGeom>
          <a:noFill/>
          <a:ln/>
        </p:spPr>
        <p:txBody>
          <a:bodyPr wrap="square" lIns="0" tIns="0" rIns="0" bIns="0" rtlCol="0" anchor="ctr"/>
          <a:lstStyle/>
          <a:p>
            <a:pPr indent="0" marL="0">
              <a:buNone/>
            </a:pPr>
            <a:r>
              <a:rPr lang="en-US" sz="1050" i="1" dirty="0">
                <a:solidFill>
                  <a:srgbClr val="6C4AB6"/>
                </a:solidFill>
                <a:latin typeface="Calibri" pitchFamily="34" charset="0"/>
                <a:ea typeface="Calibri" pitchFamily="34" charset="-122"/>
                <a:cs typeface="Calibri" pitchFamily="34" charset="-120"/>
              </a:rPr>
              <a:t>←  the branch this thesis examines</a:t>
            </a:r>
            <a:endParaRPr lang="en-US" sz="1050" dirty="0"/>
          </a:p>
        </p:txBody>
      </p:sp>
      <p:sp>
        <p:nvSpPr>
          <p:cNvPr id="37" name="Shape 35"/>
          <p:cNvSpPr/>
          <p:nvPr/>
        </p:nvSpPr>
        <p:spPr>
          <a:xfrm>
            <a:off x="502920" y="5413248"/>
            <a:ext cx="11185855" cy="566928"/>
          </a:xfrm>
          <a:prstGeom prst="roundRect">
            <a:avLst>
              <a:gd name="adj" fmla="val 11290"/>
            </a:avLst>
          </a:prstGeom>
          <a:solidFill>
            <a:srgbClr val="FBF3E4"/>
          </a:solidFill>
          <a:ln w="12700">
            <a:solidFill>
              <a:srgbClr val="C77D14"/>
            </a:solidFill>
            <a:prstDash val="solid"/>
          </a:ln>
        </p:spPr>
      </p:sp>
      <p:sp>
        <p:nvSpPr>
          <p:cNvPr id="38" name="Text 36"/>
          <p:cNvSpPr/>
          <p:nvPr/>
        </p:nvSpPr>
        <p:spPr>
          <a:xfrm>
            <a:off x="704088" y="5413248"/>
            <a:ext cx="10783519" cy="566928"/>
          </a:xfrm>
          <a:prstGeom prst="rect">
            <a:avLst/>
          </a:prstGeom>
          <a:noFill/>
          <a:ln/>
        </p:spPr>
        <p:txBody>
          <a:bodyPr wrap="square" lIns="0" tIns="0" rIns="0" bIns="0" rtlCol="0" anchor="ctr"/>
          <a:lstStyle/>
          <a:p>
            <a:pPr indent="0" marL="0">
              <a:buNone/>
            </a:pPr>
            <a:r>
              <a:rPr lang="en-US" sz="1100" dirty="0">
                <a:solidFill>
                  <a:srgbClr val="6B4A12"/>
                </a:solidFill>
                <a:latin typeface="Calibri" pitchFamily="34" charset="0"/>
                <a:ea typeface="Calibri" pitchFamily="34" charset="-122"/>
                <a:cs typeface="Calibri" pitchFamily="34" charset="-120"/>
              </a:rPr>
              <a:t>Important caveat: GAN- and VAE-based methods are a minority branch of DTA research, not the dominant one. Current state-of-the-art results are mostly reported by graph, attention and pretrained models.</a:t>
            </a:r>
            <a:endParaRPr lang="en-US" sz="1100" dirty="0"/>
          </a:p>
        </p:txBody>
      </p:sp>
      <p:sp>
        <p:nvSpPr>
          <p:cNvPr id="39" name="Text 37"/>
          <p:cNvSpPr/>
          <p:nvPr/>
        </p:nvSpPr>
        <p:spPr>
          <a:xfrm>
            <a:off x="502920" y="6373368"/>
            <a:ext cx="11185855" cy="310896"/>
          </a:xfrm>
          <a:prstGeom prst="rect">
            <a:avLst/>
          </a:prstGeom>
          <a:noFill/>
          <a:ln/>
        </p:spPr>
        <p:txBody>
          <a:bodyPr wrap="square" lIns="0" tIns="0" rIns="0" bIns="0" rtlCol="0" anchor="t"/>
          <a:lstStyle/>
          <a:p>
            <a:pPr indent="0" marL="0">
              <a:buNone/>
            </a:pPr>
            <a:r>
              <a:rPr lang="en-US" sz="850" i="1" dirty="0">
                <a:solidFill>
                  <a:srgbClr val="62708A"/>
                </a:solidFill>
                <a:latin typeface="Calibri" pitchFamily="34" charset="0"/>
                <a:ea typeface="Calibri" pitchFamily="34" charset="-122"/>
                <a:cs typeface="Calibri" pitchFamily="34" charset="-120"/>
              </a:rPr>
              <a:t>Conceptual structure adapted from Wang Y., Lv J., Xia Y., Xu J., Meng Y., Cui F., Wei L., Zou Q., Zhang Z., “A unified survey on drug–target interaction and binding affinity prediction: Models, representations, and challenges,” Biotechnology Advances, 2026 (PMID 41690335). Diagram redrawn — original figure not reproduced.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CONCEPTUAL BRIDGE</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Why GAN and VAE?</a:t>
            </a:r>
            <a:endParaRPr lang="en-US" sz="3000" dirty="0"/>
          </a:p>
        </p:txBody>
      </p:sp>
      <p:sp>
        <p:nvSpPr>
          <p:cNvPr id="4" name="Shape 2"/>
          <p:cNvSpPr/>
          <p:nvPr/>
        </p:nvSpPr>
        <p:spPr>
          <a:xfrm>
            <a:off x="502920" y="1225296"/>
            <a:ext cx="5532120" cy="2212848"/>
          </a:xfrm>
          <a:prstGeom prst="roundRect">
            <a:avLst>
              <a:gd name="adj" fmla="val 3306"/>
            </a:avLst>
          </a:prstGeom>
          <a:solidFill>
            <a:srgbClr val="FFFFFF"/>
          </a:solidFill>
          <a:ln w="17780">
            <a:solidFill>
              <a:srgbClr val="0E7C86"/>
            </a:solidFill>
            <a:prstDash val="solid"/>
          </a:ln>
        </p:spPr>
      </p:sp>
      <p:sp>
        <p:nvSpPr>
          <p:cNvPr id="5" name="Text 3"/>
          <p:cNvSpPr/>
          <p:nvPr/>
        </p:nvSpPr>
        <p:spPr>
          <a:xfrm>
            <a:off x="740664" y="1371600"/>
            <a:ext cx="5029200" cy="27432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GAN — adversarial learning</a:t>
            </a:r>
            <a:endParaRPr lang="en-US" sz="1400" dirty="0"/>
          </a:p>
        </p:txBody>
      </p:sp>
      <p:sp>
        <p:nvSpPr>
          <p:cNvPr id="6" name="Shape 4"/>
          <p:cNvSpPr/>
          <p:nvPr/>
        </p:nvSpPr>
        <p:spPr>
          <a:xfrm>
            <a:off x="777240" y="1828800"/>
            <a:ext cx="1600200" cy="566928"/>
          </a:xfrm>
          <a:prstGeom prst="roundRect">
            <a:avLst>
              <a:gd name="adj" fmla="val 9677"/>
            </a:avLst>
          </a:prstGeom>
          <a:solidFill>
            <a:srgbClr val="F1F4F8"/>
          </a:solidFill>
          <a:ln w="11430">
            <a:solidFill>
              <a:srgbClr val="0E7C86"/>
            </a:solidFill>
            <a:prstDash val="solid"/>
          </a:ln>
        </p:spPr>
      </p:sp>
      <p:sp>
        <p:nvSpPr>
          <p:cNvPr id="7" name="Text 5"/>
          <p:cNvSpPr/>
          <p:nvPr/>
        </p:nvSpPr>
        <p:spPr>
          <a:xfrm>
            <a:off x="777240" y="1828800"/>
            <a:ext cx="1600200" cy="566928"/>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Generator</a:t>
            </a:r>
            <a:endParaRPr lang="en-US" sz="1100" dirty="0"/>
          </a:p>
        </p:txBody>
      </p:sp>
      <p:sp>
        <p:nvSpPr>
          <p:cNvPr id="8" name="Shape 6"/>
          <p:cNvSpPr/>
          <p:nvPr/>
        </p:nvSpPr>
        <p:spPr>
          <a:xfrm>
            <a:off x="2441448" y="2112264"/>
            <a:ext cx="566928" cy="0"/>
          </a:xfrm>
          <a:prstGeom prst="line">
            <a:avLst/>
          </a:prstGeom>
          <a:noFill/>
          <a:ln w="19050">
            <a:solidFill>
              <a:srgbClr val="0E7C86"/>
            </a:solidFill>
            <a:prstDash val="solid"/>
            <a:tailEnd type="triangle"/>
          </a:ln>
        </p:spPr>
      </p:sp>
      <p:sp>
        <p:nvSpPr>
          <p:cNvPr id="9" name="Shape 7"/>
          <p:cNvSpPr/>
          <p:nvPr/>
        </p:nvSpPr>
        <p:spPr>
          <a:xfrm>
            <a:off x="3081528" y="1828800"/>
            <a:ext cx="1737360" cy="566928"/>
          </a:xfrm>
          <a:prstGeom prst="roundRect">
            <a:avLst>
              <a:gd name="adj" fmla="val 9677"/>
            </a:avLst>
          </a:prstGeom>
          <a:solidFill>
            <a:srgbClr val="F1F4F8"/>
          </a:solidFill>
          <a:ln w="11430">
            <a:solidFill>
              <a:srgbClr val="0E7C86"/>
            </a:solidFill>
            <a:prstDash val="solid"/>
          </a:ln>
        </p:spPr>
      </p:sp>
      <p:sp>
        <p:nvSpPr>
          <p:cNvPr id="10" name="Text 8"/>
          <p:cNvSpPr/>
          <p:nvPr/>
        </p:nvSpPr>
        <p:spPr>
          <a:xfrm>
            <a:off x="3081528" y="1828800"/>
            <a:ext cx="1737360" cy="566928"/>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Discriminator</a:t>
            </a:r>
            <a:endParaRPr lang="en-US" sz="1100" dirty="0"/>
          </a:p>
        </p:txBody>
      </p:sp>
      <p:sp>
        <p:nvSpPr>
          <p:cNvPr id="11" name="Text 9"/>
          <p:cNvSpPr/>
          <p:nvPr/>
        </p:nvSpPr>
        <p:spPr>
          <a:xfrm>
            <a:off x="4892040" y="1828800"/>
            <a:ext cx="1005840" cy="566928"/>
          </a:xfrm>
          <a:prstGeom prst="rect">
            <a:avLst/>
          </a:prstGeom>
          <a:noFill/>
          <a:ln/>
        </p:spPr>
        <p:txBody>
          <a:bodyPr wrap="square" lIns="0" tIns="0" rIns="0" bIns="0" rtlCol="0" anchor="ctr"/>
          <a:lstStyle/>
          <a:p>
            <a:pPr indent="0" marL="0">
              <a:buNone/>
            </a:pPr>
            <a:r>
              <a:rPr lang="en-US" sz="950" dirty="0">
                <a:solidFill>
                  <a:srgbClr val="62708A"/>
                </a:solidFill>
                <a:latin typeface="Calibri" pitchFamily="34" charset="0"/>
                <a:ea typeface="Calibri" pitchFamily="34" charset="-122"/>
                <a:cs typeface="Calibri" pitchFamily="34" charset="-120"/>
              </a:rPr>
              <a:t>real / fake</a:t>
            </a:r>
            <a:endParaRPr lang="en-US" sz="950" dirty="0"/>
          </a:p>
        </p:txBody>
      </p:sp>
      <p:sp>
        <p:nvSpPr>
          <p:cNvPr id="12" name="Text 10"/>
          <p:cNvSpPr/>
          <p:nvPr/>
        </p:nvSpPr>
        <p:spPr>
          <a:xfrm>
            <a:off x="777240" y="2523744"/>
            <a:ext cx="5029200" cy="786384"/>
          </a:xfrm>
          <a:prstGeom prst="rect">
            <a:avLst/>
          </a:prstGeom>
          <a:noFill/>
          <a:ln/>
        </p:spPr>
        <p:txBody>
          <a:bodyPr wrap="square" lIns="0" tIns="0" rIns="0" bIns="0" rtlCol="0" anchor="ctr"/>
          <a:lstStyle/>
          <a:p>
            <a:pPr indent="0" marL="0">
              <a:buNone/>
            </a:pPr>
            <a:r>
              <a:rPr lang="en-US" sz="1000" dirty="0">
                <a:solidFill>
                  <a:srgbClr val="2B3A55"/>
                </a:solidFill>
                <a:latin typeface="Calibri" pitchFamily="34" charset="0"/>
                <a:ea typeface="Calibri" pitchFamily="34" charset="-122"/>
                <a:cs typeface="Calibri" pitchFamily="34" charset="-120"/>
              </a:rPr>
              <a:t>Two networks trained against each other. The discriminator learns features that separate real sequences from generated ones — and those features can then be reused for prediction.</a:t>
            </a:r>
            <a:endParaRPr lang="en-US" sz="1000" dirty="0"/>
          </a:p>
        </p:txBody>
      </p:sp>
      <p:sp>
        <p:nvSpPr>
          <p:cNvPr id="13" name="Shape 11"/>
          <p:cNvSpPr/>
          <p:nvPr/>
        </p:nvSpPr>
        <p:spPr>
          <a:xfrm>
            <a:off x="6355080" y="1225296"/>
            <a:ext cx="5349240" cy="2212848"/>
          </a:xfrm>
          <a:prstGeom prst="roundRect">
            <a:avLst>
              <a:gd name="adj" fmla="val 3306"/>
            </a:avLst>
          </a:prstGeom>
          <a:solidFill>
            <a:srgbClr val="FFFFFF"/>
          </a:solidFill>
          <a:ln w="17780">
            <a:solidFill>
              <a:srgbClr val="6C4AB6"/>
            </a:solidFill>
            <a:prstDash val="solid"/>
          </a:ln>
        </p:spPr>
      </p:sp>
      <p:sp>
        <p:nvSpPr>
          <p:cNvPr id="14" name="Text 12"/>
          <p:cNvSpPr/>
          <p:nvPr/>
        </p:nvSpPr>
        <p:spPr>
          <a:xfrm>
            <a:off x="6592824" y="1371600"/>
            <a:ext cx="4846320" cy="274320"/>
          </a:xfrm>
          <a:prstGeom prst="rect">
            <a:avLst/>
          </a:prstGeom>
          <a:noFill/>
          <a:ln/>
        </p:spPr>
        <p:txBody>
          <a:bodyPr wrap="square" lIns="0" tIns="0" rIns="0" bIns="0" rtlCol="0" anchor="ctr"/>
          <a:lstStyle/>
          <a:p>
            <a:pPr indent="0" marL="0">
              <a:buNone/>
            </a:pPr>
            <a:r>
              <a:rPr lang="en-US" sz="1400" b="1" dirty="0">
                <a:solidFill>
                  <a:srgbClr val="6C4AB6"/>
                </a:solidFill>
                <a:latin typeface="Calibri" pitchFamily="34" charset="0"/>
                <a:ea typeface="Calibri" pitchFamily="34" charset="-122"/>
                <a:cs typeface="Calibri" pitchFamily="34" charset="-120"/>
              </a:rPr>
              <a:t>VAE — probabilistic latent variables</a:t>
            </a:r>
            <a:endParaRPr lang="en-US" sz="1400" dirty="0"/>
          </a:p>
        </p:txBody>
      </p:sp>
      <p:sp>
        <p:nvSpPr>
          <p:cNvPr id="15" name="Shape 13"/>
          <p:cNvSpPr/>
          <p:nvPr/>
        </p:nvSpPr>
        <p:spPr>
          <a:xfrm>
            <a:off x="6629400" y="1828800"/>
            <a:ext cx="1417320" cy="566928"/>
          </a:xfrm>
          <a:prstGeom prst="roundRect">
            <a:avLst>
              <a:gd name="adj" fmla="val 9677"/>
            </a:avLst>
          </a:prstGeom>
          <a:solidFill>
            <a:srgbClr val="F1F4F8"/>
          </a:solidFill>
          <a:ln w="11430">
            <a:solidFill>
              <a:srgbClr val="6C4AB6"/>
            </a:solidFill>
            <a:prstDash val="solid"/>
          </a:ln>
        </p:spPr>
      </p:sp>
      <p:sp>
        <p:nvSpPr>
          <p:cNvPr id="16" name="Text 14"/>
          <p:cNvSpPr/>
          <p:nvPr/>
        </p:nvSpPr>
        <p:spPr>
          <a:xfrm>
            <a:off x="6629400" y="1828800"/>
            <a:ext cx="1417320" cy="566928"/>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Encoder</a:t>
            </a:r>
            <a:endParaRPr lang="en-US" sz="1100" dirty="0"/>
          </a:p>
        </p:txBody>
      </p:sp>
      <p:sp>
        <p:nvSpPr>
          <p:cNvPr id="17" name="Shape 15"/>
          <p:cNvSpPr/>
          <p:nvPr/>
        </p:nvSpPr>
        <p:spPr>
          <a:xfrm>
            <a:off x="8275320" y="1828800"/>
            <a:ext cx="566928" cy="566928"/>
          </a:xfrm>
          <a:prstGeom prst="roundRect">
            <a:avLst>
              <a:gd name="adj" fmla="val 9677"/>
            </a:avLst>
          </a:prstGeom>
          <a:solidFill>
            <a:srgbClr val="F1F4F8"/>
          </a:solidFill>
          <a:ln w="11430">
            <a:solidFill>
              <a:srgbClr val="6C4AB6"/>
            </a:solidFill>
            <a:prstDash val="solid"/>
          </a:ln>
        </p:spPr>
      </p:sp>
      <p:sp>
        <p:nvSpPr>
          <p:cNvPr id="18" name="Text 16"/>
          <p:cNvSpPr/>
          <p:nvPr/>
        </p:nvSpPr>
        <p:spPr>
          <a:xfrm>
            <a:off x="8275320" y="1828800"/>
            <a:ext cx="566928" cy="566928"/>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z</a:t>
            </a:r>
            <a:endParaRPr lang="en-US" sz="1100" dirty="0"/>
          </a:p>
        </p:txBody>
      </p:sp>
      <p:sp>
        <p:nvSpPr>
          <p:cNvPr id="19" name="Shape 17"/>
          <p:cNvSpPr/>
          <p:nvPr/>
        </p:nvSpPr>
        <p:spPr>
          <a:xfrm>
            <a:off x="9098280" y="1828800"/>
            <a:ext cx="1417320" cy="566928"/>
          </a:xfrm>
          <a:prstGeom prst="roundRect">
            <a:avLst>
              <a:gd name="adj" fmla="val 9677"/>
            </a:avLst>
          </a:prstGeom>
          <a:solidFill>
            <a:srgbClr val="F1F4F8"/>
          </a:solidFill>
          <a:ln w="11430">
            <a:solidFill>
              <a:srgbClr val="6C4AB6"/>
            </a:solidFill>
            <a:prstDash val="solid"/>
          </a:ln>
        </p:spPr>
      </p:sp>
      <p:sp>
        <p:nvSpPr>
          <p:cNvPr id="20" name="Text 18"/>
          <p:cNvSpPr/>
          <p:nvPr/>
        </p:nvSpPr>
        <p:spPr>
          <a:xfrm>
            <a:off x="9098280" y="1828800"/>
            <a:ext cx="1417320" cy="566928"/>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Decoder</a:t>
            </a:r>
            <a:endParaRPr lang="en-US" sz="1100" dirty="0"/>
          </a:p>
        </p:txBody>
      </p:sp>
      <p:sp>
        <p:nvSpPr>
          <p:cNvPr id="21" name="Shape 19"/>
          <p:cNvSpPr/>
          <p:nvPr/>
        </p:nvSpPr>
        <p:spPr>
          <a:xfrm>
            <a:off x="8092440" y="2112264"/>
            <a:ext cx="146304" cy="0"/>
          </a:xfrm>
          <a:prstGeom prst="line">
            <a:avLst/>
          </a:prstGeom>
          <a:noFill/>
          <a:ln w="19050">
            <a:solidFill>
              <a:srgbClr val="6C4AB6"/>
            </a:solidFill>
            <a:prstDash val="solid"/>
            <a:tailEnd type="triangle"/>
          </a:ln>
        </p:spPr>
      </p:sp>
      <p:sp>
        <p:nvSpPr>
          <p:cNvPr id="22" name="Shape 20"/>
          <p:cNvSpPr/>
          <p:nvPr/>
        </p:nvSpPr>
        <p:spPr>
          <a:xfrm>
            <a:off x="8897112" y="2112264"/>
            <a:ext cx="164592" cy="0"/>
          </a:xfrm>
          <a:prstGeom prst="line">
            <a:avLst/>
          </a:prstGeom>
          <a:noFill/>
          <a:ln w="19050">
            <a:solidFill>
              <a:srgbClr val="6C4AB6"/>
            </a:solidFill>
            <a:prstDash val="solid"/>
            <a:tailEnd type="triangle"/>
          </a:ln>
        </p:spPr>
      </p:sp>
      <p:sp>
        <p:nvSpPr>
          <p:cNvPr id="23" name="Text 21"/>
          <p:cNvSpPr/>
          <p:nvPr/>
        </p:nvSpPr>
        <p:spPr>
          <a:xfrm>
            <a:off x="10579608" y="1828800"/>
            <a:ext cx="1051560" cy="566928"/>
          </a:xfrm>
          <a:prstGeom prst="rect">
            <a:avLst/>
          </a:prstGeom>
          <a:noFill/>
          <a:ln/>
        </p:spPr>
        <p:txBody>
          <a:bodyPr wrap="square" lIns="0" tIns="0" rIns="0" bIns="0" rtlCol="0" anchor="ctr"/>
          <a:lstStyle/>
          <a:p>
            <a:pPr indent="0" marL="0">
              <a:buNone/>
            </a:pPr>
            <a:r>
              <a:rPr lang="en-US" sz="950" dirty="0">
                <a:solidFill>
                  <a:srgbClr val="62708A"/>
                </a:solidFill>
                <a:latin typeface="Calibri" pitchFamily="34" charset="0"/>
                <a:ea typeface="Calibri" pitchFamily="34" charset="-122"/>
                <a:cs typeface="Calibri" pitchFamily="34" charset="-120"/>
              </a:rPr>
              <a:t>reconstruction</a:t>
            </a:r>
            <a:endParaRPr lang="en-US" sz="950" dirty="0"/>
          </a:p>
        </p:txBody>
      </p:sp>
      <p:sp>
        <p:nvSpPr>
          <p:cNvPr id="24" name="Text 22"/>
          <p:cNvSpPr/>
          <p:nvPr/>
        </p:nvSpPr>
        <p:spPr>
          <a:xfrm>
            <a:off x="6629400" y="2523744"/>
            <a:ext cx="4846320" cy="786384"/>
          </a:xfrm>
          <a:prstGeom prst="rect">
            <a:avLst/>
          </a:prstGeom>
          <a:noFill/>
          <a:ln/>
        </p:spPr>
        <p:txBody>
          <a:bodyPr wrap="square" lIns="0" tIns="0" rIns="0" bIns="0" rtlCol="0" anchor="ctr"/>
          <a:lstStyle/>
          <a:p>
            <a:pPr indent="0" marL="0">
              <a:buNone/>
            </a:pPr>
            <a:r>
              <a:rPr lang="en-US" sz="1000" dirty="0">
                <a:solidFill>
                  <a:srgbClr val="2B3A55"/>
                </a:solidFill>
                <a:latin typeface="Calibri" pitchFamily="34" charset="0"/>
                <a:ea typeface="Calibri" pitchFamily="34" charset="-122"/>
                <a:cs typeface="Calibri" pitchFamily="34" charset="-120"/>
              </a:rPr>
              <a:t>An encoder maps the input to a distribution over a latent code; a decoder reconstructs from a sample. The latent code is a compressed, probabilistic representation usable for prediction.</a:t>
            </a:r>
            <a:endParaRPr lang="en-US" sz="1000" dirty="0"/>
          </a:p>
        </p:txBody>
      </p:sp>
      <p:sp>
        <p:nvSpPr>
          <p:cNvPr id="25" name="Shape 23"/>
          <p:cNvSpPr/>
          <p:nvPr/>
        </p:nvSpPr>
        <p:spPr>
          <a:xfrm>
            <a:off x="502920" y="3913632"/>
            <a:ext cx="1234440" cy="621792"/>
          </a:xfrm>
          <a:prstGeom prst="roundRect">
            <a:avLst>
              <a:gd name="adj" fmla="val 10294"/>
            </a:avLst>
          </a:prstGeom>
          <a:solidFill>
            <a:srgbClr val="14213D"/>
          </a:solidFill>
          <a:ln w="12700">
            <a:solidFill>
              <a:srgbClr val="14213D"/>
            </a:solidFill>
            <a:prstDash val="solid"/>
          </a:ln>
        </p:spPr>
      </p:sp>
      <p:sp>
        <p:nvSpPr>
          <p:cNvPr id="26" name="Text 24"/>
          <p:cNvSpPr/>
          <p:nvPr/>
        </p:nvSpPr>
        <p:spPr>
          <a:xfrm>
            <a:off x="502920" y="3913632"/>
            <a:ext cx="123444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DTA</a:t>
            </a:r>
            <a:endParaRPr lang="en-US" sz="1100" dirty="0"/>
          </a:p>
        </p:txBody>
      </p:sp>
      <p:sp>
        <p:nvSpPr>
          <p:cNvPr id="27" name="Shape 25"/>
          <p:cNvSpPr/>
          <p:nvPr/>
        </p:nvSpPr>
        <p:spPr>
          <a:xfrm>
            <a:off x="1755648" y="4224528"/>
            <a:ext cx="146304" cy="0"/>
          </a:xfrm>
          <a:prstGeom prst="line">
            <a:avLst/>
          </a:prstGeom>
          <a:noFill/>
          <a:ln w="19050">
            <a:solidFill>
              <a:srgbClr val="62708A"/>
            </a:solidFill>
            <a:prstDash val="solid"/>
            <a:tailEnd type="triangle"/>
          </a:ln>
        </p:spPr>
      </p:sp>
      <p:sp>
        <p:nvSpPr>
          <p:cNvPr id="28" name="Shape 26"/>
          <p:cNvSpPr/>
          <p:nvPr/>
        </p:nvSpPr>
        <p:spPr>
          <a:xfrm>
            <a:off x="1920240" y="3913632"/>
            <a:ext cx="1874520" cy="621792"/>
          </a:xfrm>
          <a:prstGeom prst="roundRect">
            <a:avLst>
              <a:gd name="adj" fmla="val 10294"/>
            </a:avLst>
          </a:prstGeom>
          <a:solidFill>
            <a:srgbClr val="2B3A55"/>
          </a:solidFill>
          <a:ln w="12700">
            <a:solidFill>
              <a:srgbClr val="2B3A55"/>
            </a:solidFill>
            <a:prstDash val="solid"/>
          </a:ln>
        </p:spPr>
      </p:sp>
      <p:sp>
        <p:nvSpPr>
          <p:cNvPr id="29" name="Text 27"/>
          <p:cNvSpPr/>
          <p:nvPr/>
        </p:nvSpPr>
        <p:spPr>
          <a:xfrm>
            <a:off x="1920240" y="3913632"/>
            <a:ext cx="187452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Deep learning</a:t>
            </a:r>
            <a:endParaRPr lang="en-US" sz="1100" dirty="0"/>
          </a:p>
        </p:txBody>
      </p:sp>
      <p:sp>
        <p:nvSpPr>
          <p:cNvPr id="30" name="Shape 28"/>
          <p:cNvSpPr/>
          <p:nvPr/>
        </p:nvSpPr>
        <p:spPr>
          <a:xfrm>
            <a:off x="3813048" y="4224528"/>
            <a:ext cx="146304" cy="0"/>
          </a:xfrm>
          <a:prstGeom prst="line">
            <a:avLst/>
          </a:prstGeom>
          <a:noFill/>
          <a:ln w="19050">
            <a:solidFill>
              <a:srgbClr val="62708A"/>
            </a:solidFill>
            <a:prstDash val="solid"/>
            <a:tailEnd type="triangle"/>
          </a:ln>
        </p:spPr>
      </p:sp>
      <p:sp>
        <p:nvSpPr>
          <p:cNvPr id="31" name="Shape 29"/>
          <p:cNvSpPr/>
          <p:nvPr/>
        </p:nvSpPr>
        <p:spPr>
          <a:xfrm>
            <a:off x="3977640" y="3913632"/>
            <a:ext cx="3246120" cy="621792"/>
          </a:xfrm>
          <a:prstGeom prst="roundRect">
            <a:avLst>
              <a:gd name="adj" fmla="val 10294"/>
            </a:avLst>
          </a:prstGeom>
          <a:solidFill>
            <a:srgbClr val="62708A"/>
          </a:solidFill>
          <a:ln w="12700">
            <a:solidFill>
              <a:srgbClr val="62708A"/>
            </a:solidFill>
            <a:prstDash val="solid"/>
          </a:ln>
        </p:spPr>
      </p:sp>
      <p:sp>
        <p:nvSpPr>
          <p:cNvPr id="32" name="Text 30"/>
          <p:cNvSpPr/>
          <p:nvPr/>
        </p:nvSpPr>
        <p:spPr>
          <a:xfrm>
            <a:off x="3977640" y="3913632"/>
            <a:ext cx="324612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Generative / representation learning</a:t>
            </a:r>
            <a:endParaRPr lang="en-US" sz="1100" dirty="0"/>
          </a:p>
        </p:txBody>
      </p:sp>
      <p:sp>
        <p:nvSpPr>
          <p:cNvPr id="33" name="Shape 31"/>
          <p:cNvSpPr/>
          <p:nvPr/>
        </p:nvSpPr>
        <p:spPr>
          <a:xfrm>
            <a:off x="7242048" y="4224528"/>
            <a:ext cx="146304" cy="0"/>
          </a:xfrm>
          <a:prstGeom prst="line">
            <a:avLst/>
          </a:prstGeom>
          <a:noFill/>
          <a:ln w="19050">
            <a:solidFill>
              <a:srgbClr val="62708A"/>
            </a:solidFill>
            <a:prstDash val="solid"/>
            <a:tailEnd type="triangle"/>
          </a:ln>
        </p:spPr>
      </p:sp>
      <p:sp>
        <p:nvSpPr>
          <p:cNvPr id="34" name="Shape 32"/>
          <p:cNvSpPr/>
          <p:nvPr/>
        </p:nvSpPr>
        <p:spPr>
          <a:xfrm>
            <a:off x="7406640" y="3913632"/>
            <a:ext cx="1600200" cy="621792"/>
          </a:xfrm>
          <a:prstGeom prst="roundRect">
            <a:avLst>
              <a:gd name="adj" fmla="val 10294"/>
            </a:avLst>
          </a:prstGeom>
          <a:solidFill>
            <a:srgbClr val="6C4AB6"/>
          </a:solidFill>
          <a:ln w="12700">
            <a:solidFill>
              <a:srgbClr val="6C4AB6"/>
            </a:solidFill>
            <a:prstDash val="solid"/>
          </a:ln>
        </p:spPr>
      </p:sp>
      <p:sp>
        <p:nvSpPr>
          <p:cNvPr id="35" name="Text 33"/>
          <p:cNvSpPr/>
          <p:nvPr/>
        </p:nvSpPr>
        <p:spPr>
          <a:xfrm>
            <a:off x="7406640" y="3913632"/>
            <a:ext cx="160020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GAN  ·  VAE</a:t>
            </a:r>
            <a:endParaRPr lang="en-US" sz="1100" dirty="0"/>
          </a:p>
        </p:txBody>
      </p:sp>
      <p:sp>
        <p:nvSpPr>
          <p:cNvPr id="36" name="Shape 34"/>
          <p:cNvSpPr/>
          <p:nvPr/>
        </p:nvSpPr>
        <p:spPr>
          <a:xfrm>
            <a:off x="9025128" y="4224528"/>
            <a:ext cx="146304" cy="0"/>
          </a:xfrm>
          <a:prstGeom prst="line">
            <a:avLst/>
          </a:prstGeom>
          <a:noFill/>
          <a:ln w="19050">
            <a:solidFill>
              <a:srgbClr val="62708A"/>
            </a:solidFill>
            <a:prstDash val="solid"/>
            <a:tailEnd type="triangle"/>
          </a:ln>
        </p:spPr>
      </p:sp>
      <p:sp>
        <p:nvSpPr>
          <p:cNvPr id="37" name="Shape 35"/>
          <p:cNvSpPr/>
          <p:nvPr/>
        </p:nvSpPr>
        <p:spPr>
          <a:xfrm>
            <a:off x="9189720" y="3913632"/>
            <a:ext cx="2423160" cy="621792"/>
          </a:xfrm>
          <a:prstGeom prst="roundRect">
            <a:avLst>
              <a:gd name="adj" fmla="val 10294"/>
            </a:avLst>
          </a:prstGeom>
          <a:solidFill>
            <a:srgbClr val="0E7C86"/>
          </a:solidFill>
          <a:ln w="12700">
            <a:solidFill>
              <a:srgbClr val="0E7C86"/>
            </a:solidFill>
            <a:prstDash val="solid"/>
          </a:ln>
        </p:spPr>
      </p:sp>
      <p:sp>
        <p:nvSpPr>
          <p:cNvPr id="38" name="Text 36"/>
          <p:cNvSpPr/>
          <p:nvPr/>
        </p:nvSpPr>
        <p:spPr>
          <a:xfrm>
            <a:off x="9189720" y="3913632"/>
            <a:ext cx="2423160" cy="62179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DCGAN-DTA  ·  Co-VAE</a:t>
            </a:r>
            <a:endParaRPr lang="en-US" sz="1100" dirty="0"/>
          </a:p>
        </p:txBody>
      </p:sp>
      <p:sp>
        <p:nvSpPr>
          <p:cNvPr id="39" name="Shape 37"/>
          <p:cNvSpPr/>
          <p:nvPr/>
        </p:nvSpPr>
        <p:spPr>
          <a:xfrm>
            <a:off x="502920" y="4892040"/>
            <a:ext cx="11185855" cy="1024128"/>
          </a:xfrm>
          <a:prstGeom prst="roundRect">
            <a:avLst>
              <a:gd name="adj" fmla="val 6250"/>
            </a:avLst>
          </a:prstGeom>
          <a:solidFill>
            <a:srgbClr val="F1F4F8"/>
          </a:solidFill>
          <a:ln w="9525">
            <a:solidFill>
              <a:srgbClr val="E6ECF3"/>
            </a:solidFill>
            <a:prstDash val="solid"/>
          </a:ln>
        </p:spPr>
      </p:sp>
      <p:sp>
        <p:nvSpPr>
          <p:cNvPr id="40" name="Text 38"/>
          <p:cNvSpPr/>
          <p:nvPr/>
        </p:nvSpPr>
        <p:spPr>
          <a:xfrm>
            <a:off x="722376" y="4892040"/>
            <a:ext cx="10746943" cy="1024128"/>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The shared idea.  </a:t>
            </a:r>
            <a:pPr indent="0" marL="0">
              <a:buNone/>
            </a:pPr>
            <a:r>
              <a:rPr lang="en-US" sz="1150" dirty="0">
                <a:solidFill>
                  <a:srgbClr val="2B3A55"/>
                </a:solidFill>
                <a:latin typeface="Calibri" pitchFamily="34" charset="0"/>
                <a:ea typeface="Calibri" pitchFamily="34" charset="-122"/>
                <a:cs typeface="Calibri" pitchFamily="34" charset="-120"/>
              </a:rPr>
              <a:t>Both families learn a representation from data that is not labelled with affinity — the GAN from an adversarial game, the VAE from reconstruction — and then use that representation for the affinity regression. </a:t>
            </a:r>
            <a:pPr indent="0" marL="0">
              <a:buNone/>
            </a:pPr>
            <a:r>
              <a:rPr lang="en-US" sz="1150" b="1" dirty="0">
                <a:solidFill>
                  <a:srgbClr val="9E2A2B"/>
                </a:solidFill>
                <a:latin typeface="Calibri" pitchFamily="34" charset="0"/>
                <a:ea typeface="Calibri" pitchFamily="34" charset="-122"/>
                <a:cs typeface="Calibri" pitchFamily="34" charset="-120"/>
              </a:rPr>
              <a:t>Whether that transferred representation actually helps is precisely what the audits put in question.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SELECTION RATIONALE</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Why These Two Papers?</a:t>
            </a:r>
            <a:endParaRPr lang="en-US" sz="3000" dirty="0"/>
          </a:p>
        </p:txBody>
      </p:sp>
      <p:sp>
        <p:nvSpPr>
          <p:cNvPr id="4" name="Shape 2"/>
          <p:cNvSpPr/>
          <p:nvPr/>
        </p:nvSpPr>
        <p:spPr>
          <a:xfrm>
            <a:off x="502920" y="1225296"/>
            <a:ext cx="5669280" cy="1133856"/>
          </a:xfrm>
          <a:prstGeom prst="roundRect">
            <a:avLst>
              <a:gd name="adj" fmla="val 5645"/>
            </a:avLst>
          </a:prstGeom>
          <a:solidFill>
            <a:srgbClr val="F1F4F8"/>
          </a:solidFill>
          <a:ln w="9525">
            <a:solidFill>
              <a:srgbClr val="E6ECF3"/>
            </a:solidFill>
            <a:prstDash val="solid"/>
          </a:ln>
        </p:spPr>
      </p:sp>
      <p:sp>
        <p:nvSpPr>
          <p:cNvPr id="5" name="Shape 3"/>
          <p:cNvSpPr/>
          <p:nvPr/>
        </p:nvSpPr>
        <p:spPr>
          <a:xfrm>
            <a:off x="685800" y="1408176"/>
            <a:ext cx="420624" cy="420624"/>
          </a:xfrm>
          <a:prstGeom prst="ellipse">
            <a:avLst/>
          </a:prstGeom>
          <a:solidFill>
            <a:srgbClr val="0E7C86"/>
          </a:solidFill>
          <a:ln w="12700">
            <a:solidFill>
              <a:srgbClr val="0E7C86"/>
            </a:solidFill>
            <a:prstDash val="solid"/>
          </a:ln>
        </p:spPr>
      </p:sp>
      <p:sp>
        <p:nvSpPr>
          <p:cNvPr id="6" name="Text 4"/>
          <p:cNvSpPr/>
          <p:nvPr/>
        </p:nvSpPr>
        <p:spPr>
          <a:xfrm>
            <a:off x="685800" y="140817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52728" y="1353312"/>
            <a:ext cx="47091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Same task, same input level</a:t>
            </a:r>
            <a:endParaRPr lang="en-US" sz="1200" dirty="0"/>
          </a:p>
        </p:txBody>
      </p:sp>
      <p:sp>
        <p:nvSpPr>
          <p:cNvPr id="8" name="Text 6"/>
          <p:cNvSpPr/>
          <p:nvPr/>
        </p:nvSpPr>
        <p:spPr>
          <a:xfrm>
            <a:off x="1252728" y="1627632"/>
            <a:ext cx="4709160" cy="621792"/>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Both formulate DTA as regression on continuous affinity, from sequence-level input only — SMILES plus amino-acid string.</a:t>
            </a:r>
            <a:endParaRPr lang="en-US" sz="950" dirty="0"/>
          </a:p>
        </p:txBody>
      </p:sp>
      <p:sp>
        <p:nvSpPr>
          <p:cNvPr id="9" name="Shape 7"/>
          <p:cNvSpPr/>
          <p:nvPr/>
        </p:nvSpPr>
        <p:spPr>
          <a:xfrm>
            <a:off x="6492240" y="1225296"/>
            <a:ext cx="5669280" cy="1133856"/>
          </a:xfrm>
          <a:prstGeom prst="roundRect">
            <a:avLst>
              <a:gd name="adj" fmla="val 5645"/>
            </a:avLst>
          </a:prstGeom>
          <a:solidFill>
            <a:srgbClr val="F1F4F8"/>
          </a:solidFill>
          <a:ln w="9525">
            <a:solidFill>
              <a:srgbClr val="E6ECF3"/>
            </a:solidFill>
            <a:prstDash val="solid"/>
          </a:ln>
        </p:spPr>
      </p:sp>
      <p:sp>
        <p:nvSpPr>
          <p:cNvPr id="10" name="Shape 8"/>
          <p:cNvSpPr/>
          <p:nvPr/>
        </p:nvSpPr>
        <p:spPr>
          <a:xfrm>
            <a:off x="6675120" y="1408176"/>
            <a:ext cx="420624" cy="420624"/>
          </a:xfrm>
          <a:prstGeom prst="ellipse">
            <a:avLst/>
          </a:prstGeom>
          <a:solidFill>
            <a:srgbClr val="6C4AB6"/>
          </a:solidFill>
          <a:ln w="12700">
            <a:solidFill>
              <a:srgbClr val="6C4AB6"/>
            </a:solidFill>
            <a:prstDash val="solid"/>
          </a:ln>
        </p:spPr>
      </p:sp>
      <p:sp>
        <p:nvSpPr>
          <p:cNvPr id="11" name="Text 9"/>
          <p:cNvSpPr/>
          <p:nvPr/>
        </p:nvSpPr>
        <p:spPr>
          <a:xfrm>
            <a:off x="6675120" y="140817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7242048" y="1353312"/>
            <a:ext cx="47091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Different generative families</a:t>
            </a:r>
            <a:endParaRPr lang="en-US" sz="1200" dirty="0"/>
          </a:p>
        </p:txBody>
      </p:sp>
      <p:sp>
        <p:nvSpPr>
          <p:cNvPr id="13" name="Text 11"/>
          <p:cNvSpPr/>
          <p:nvPr/>
        </p:nvSpPr>
        <p:spPr>
          <a:xfrm>
            <a:off x="7242048" y="1627632"/>
            <a:ext cx="4709160" cy="621792"/>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One adversarial (DCGAN), one latent-variable (VAE). That contrast is the variable of interest.</a:t>
            </a:r>
            <a:endParaRPr lang="en-US" sz="950" dirty="0"/>
          </a:p>
        </p:txBody>
      </p:sp>
      <p:sp>
        <p:nvSpPr>
          <p:cNvPr id="14" name="Shape 12"/>
          <p:cNvSpPr/>
          <p:nvPr/>
        </p:nvSpPr>
        <p:spPr>
          <a:xfrm>
            <a:off x="502920" y="2560320"/>
            <a:ext cx="5669280" cy="1133856"/>
          </a:xfrm>
          <a:prstGeom prst="roundRect">
            <a:avLst>
              <a:gd name="adj" fmla="val 5645"/>
            </a:avLst>
          </a:prstGeom>
          <a:solidFill>
            <a:srgbClr val="F1F4F8"/>
          </a:solidFill>
          <a:ln w="9525">
            <a:solidFill>
              <a:srgbClr val="E6ECF3"/>
            </a:solidFill>
            <a:prstDash val="solid"/>
          </a:ln>
        </p:spPr>
      </p:sp>
      <p:sp>
        <p:nvSpPr>
          <p:cNvPr id="15" name="Shape 13"/>
          <p:cNvSpPr/>
          <p:nvPr/>
        </p:nvSpPr>
        <p:spPr>
          <a:xfrm>
            <a:off x="685800" y="2743200"/>
            <a:ext cx="420624" cy="420624"/>
          </a:xfrm>
          <a:prstGeom prst="ellipse">
            <a:avLst/>
          </a:prstGeom>
          <a:solidFill>
            <a:srgbClr val="2B3A55"/>
          </a:solidFill>
          <a:ln w="12700">
            <a:solidFill>
              <a:srgbClr val="2B3A55"/>
            </a:solidFill>
            <a:prstDash val="solid"/>
          </a:ln>
        </p:spPr>
      </p:sp>
      <p:sp>
        <p:nvSpPr>
          <p:cNvPr id="16" name="Text 14"/>
          <p:cNvSpPr/>
          <p:nvPr/>
        </p:nvSpPr>
        <p:spPr>
          <a:xfrm>
            <a:off x="685800" y="27432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252728" y="2688336"/>
            <a:ext cx="47091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Author-released source code</a:t>
            </a:r>
            <a:endParaRPr lang="en-US" sz="1200" dirty="0"/>
          </a:p>
        </p:txBody>
      </p:sp>
      <p:sp>
        <p:nvSpPr>
          <p:cNvPr id="18" name="Text 16"/>
          <p:cNvSpPr/>
          <p:nvPr/>
        </p:nvSpPr>
        <p:spPr>
          <a:xfrm>
            <a:off x="1252728" y="2962656"/>
            <a:ext cx="4709160" cy="621792"/>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Both papers cite a public repository, so the implementation can be inspected rather than guessed at.</a:t>
            </a:r>
            <a:endParaRPr lang="en-US" sz="950" dirty="0"/>
          </a:p>
        </p:txBody>
      </p:sp>
      <p:sp>
        <p:nvSpPr>
          <p:cNvPr id="19" name="Shape 17"/>
          <p:cNvSpPr/>
          <p:nvPr/>
        </p:nvSpPr>
        <p:spPr>
          <a:xfrm>
            <a:off x="6492240" y="2560320"/>
            <a:ext cx="5669280" cy="1133856"/>
          </a:xfrm>
          <a:prstGeom prst="roundRect">
            <a:avLst>
              <a:gd name="adj" fmla="val 5645"/>
            </a:avLst>
          </a:prstGeom>
          <a:solidFill>
            <a:srgbClr val="F1F4F8"/>
          </a:solidFill>
          <a:ln w="9525">
            <a:solidFill>
              <a:srgbClr val="E6ECF3"/>
            </a:solidFill>
            <a:prstDash val="solid"/>
          </a:ln>
        </p:spPr>
      </p:sp>
      <p:sp>
        <p:nvSpPr>
          <p:cNvPr id="20" name="Shape 18"/>
          <p:cNvSpPr/>
          <p:nvPr/>
        </p:nvSpPr>
        <p:spPr>
          <a:xfrm>
            <a:off x="6675120" y="2743200"/>
            <a:ext cx="420624" cy="420624"/>
          </a:xfrm>
          <a:prstGeom prst="ellipse">
            <a:avLst/>
          </a:prstGeom>
          <a:solidFill>
            <a:srgbClr val="2B3A55"/>
          </a:solidFill>
          <a:ln w="12700">
            <a:solidFill>
              <a:srgbClr val="2B3A55"/>
            </a:solidFill>
            <a:prstDash val="solid"/>
          </a:ln>
        </p:spPr>
      </p:sp>
      <p:sp>
        <p:nvSpPr>
          <p:cNvPr id="21" name="Text 19"/>
          <p:cNvSpPr/>
          <p:nvPr/>
        </p:nvSpPr>
        <p:spPr>
          <a:xfrm>
            <a:off x="6675120" y="27432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7242048" y="2688336"/>
            <a:ext cx="47091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Peer-reviewed venues</a:t>
            </a:r>
            <a:endParaRPr lang="en-US" sz="1200" dirty="0"/>
          </a:p>
        </p:txBody>
      </p:sp>
      <p:sp>
        <p:nvSpPr>
          <p:cNvPr id="23" name="Text 21"/>
          <p:cNvSpPr/>
          <p:nvPr/>
        </p:nvSpPr>
        <p:spPr>
          <a:xfrm>
            <a:off x="7242048" y="2962656"/>
            <a:ext cx="4709160" cy="621792"/>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BMC Genomics (2024) and IEEE TPAMI (2022) — the claims are on the record and citable.</a:t>
            </a:r>
            <a:endParaRPr lang="en-US" sz="950" dirty="0"/>
          </a:p>
        </p:txBody>
      </p:sp>
      <p:sp>
        <p:nvSpPr>
          <p:cNvPr id="24" name="Shape 22"/>
          <p:cNvSpPr/>
          <p:nvPr/>
        </p:nvSpPr>
        <p:spPr>
          <a:xfrm>
            <a:off x="502920" y="3895344"/>
            <a:ext cx="5669280" cy="1133856"/>
          </a:xfrm>
          <a:prstGeom prst="roundRect">
            <a:avLst>
              <a:gd name="adj" fmla="val 5645"/>
            </a:avLst>
          </a:prstGeom>
          <a:solidFill>
            <a:srgbClr val="F1F4F8"/>
          </a:solidFill>
          <a:ln w="9525">
            <a:solidFill>
              <a:srgbClr val="E6ECF3"/>
            </a:solidFill>
            <a:prstDash val="solid"/>
          </a:ln>
        </p:spPr>
      </p:sp>
      <p:sp>
        <p:nvSpPr>
          <p:cNvPr id="25" name="Shape 23"/>
          <p:cNvSpPr/>
          <p:nvPr/>
        </p:nvSpPr>
        <p:spPr>
          <a:xfrm>
            <a:off x="685800" y="4078224"/>
            <a:ext cx="420624" cy="420624"/>
          </a:xfrm>
          <a:prstGeom prst="ellipse">
            <a:avLst/>
          </a:prstGeom>
          <a:solidFill>
            <a:srgbClr val="2B3A55"/>
          </a:solidFill>
          <a:ln w="12700">
            <a:solidFill>
              <a:srgbClr val="2B3A55"/>
            </a:solidFill>
            <a:prstDash val="solid"/>
          </a:ln>
        </p:spPr>
      </p:sp>
      <p:sp>
        <p:nvSpPr>
          <p:cNvPr id="26" name="Text 24"/>
          <p:cNvSpPr/>
          <p:nvPr/>
        </p:nvSpPr>
        <p:spPr>
          <a:xfrm>
            <a:off x="685800" y="407822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1252728" y="4023360"/>
            <a:ext cx="47091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Self-contained implementations</a:t>
            </a:r>
            <a:endParaRPr lang="en-US" sz="1200" dirty="0"/>
          </a:p>
        </p:txBody>
      </p:sp>
      <p:sp>
        <p:nvSpPr>
          <p:cNvPr id="28" name="Text 26"/>
          <p:cNvSpPr/>
          <p:nvPr/>
        </p:nvSpPr>
        <p:spPr>
          <a:xfrm>
            <a:off x="1252728" y="4297680"/>
            <a:ext cx="4709160" cy="621792"/>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Single-language codebases with bundled data; no external services, so data-level checks are possible.</a:t>
            </a:r>
            <a:endParaRPr lang="en-US" sz="950" dirty="0"/>
          </a:p>
        </p:txBody>
      </p:sp>
      <p:sp>
        <p:nvSpPr>
          <p:cNvPr id="29" name="Shape 27"/>
          <p:cNvSpPr/>
          <p:nvPr/>
        </p:nvSpPr>
        <p:spPr>
          <a:xfrm>
            <a:off x="6492240" y="3895344"/>
            <a:ext cx="5669280" cy="1133856"/>
          </a:xfrm>
          <a:prstGeom prst="roundRect">
            <a:avLst>
              <a:gd name="adj" fmla="val 5645"/>
            </a:avLst>
          </a:prstGeom>
          <a:solidFill>
            <a:srgbClr val="F1F4F8"/>
          </a:solidFill>
          <a:ln w="9525">
            <a:solidFill>
              <a:srgbClr val="E6ECF3"/>
            </a:solidFill>
            <a:prstDash val="solid"/>
          </a:ln>
        </p:spPr>
      </p:sp>
      <p:sp>
        <p:nvSpPr>
          <p:cNvPr id="30" name="Shape 28"/>
          <p:cNvSpPr/>
          <p:nvPr/>
        </p:nvSpPr>
        <p:spPr>
          <a:xfrm>
            <a:off x="6675120" y="4078224"/>
            <a:ext cx="420624" cy="420624"/>
          </a:xfrm>
          <a:prstGeom prst="ellipse">
            <a:avLst/>
          </a:prstGeom>
          <a:solidFill>
            <a:srgbClr val="62708A"/>
          </a:solidFill>
          <a:ln w="12700">
            <a:solidFill>
              <a:srgbClr val="62708A"/>
            </a:solidFill>
            <a:prstDash val="solid"/>
          </a:ln>
        </p:spPr>
      </p:sp>
      <p:sp>
        <p:nvSpPr>
          <p:cNvPr id="31" name="Text 29"/>
          <p:cNvSpPr/>
          <p:nvPr/>
        </p:nvSpPr>
        <p:spPr>
          <a:xfrm>
            <a:off x="6675120" y="407822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p:nvPr/>
        </p:nvSpPr>
        <p:spPr>
          <a:xfrm>
            <a:off x="7242048" y="4023360"/>
            <a:ext cx="4709160" cy="274320"/>
          </a:xfrm>
          <a:prstGeom prst="rect">
            <a:avLst/>
          </a:prstGeom>
          <a:noFill/>
          <a:ln/>
        </p:spPr>
        <p:txBody>
          <a:bodyPr wrap="square" lIns="0" tIns="0" rIns="0" bIns="0" rtlCol="0" anchor="ctr"/>
          <a:lstStyle/>
          <a:p>
            <a:pPr indent="0" marL="0">
              <a:buNone/>
            </a:pPr>
            <a:r>
              <a:rPr lang="en-US" sz="1200" b="1" dirty="0">
                <a:solidFill>
                  <a:srgbClr val="14213D"/>
                </a:solidFill>
                <a:latin typeface="Calibri" pitchFamily="34" charset="0"/>
                <a:ea typeface="Calibri" pitchFamily="34" charset="-122"/>
                <a:cs typeface="Calibri" pitchFamily="34" charset="-120"/>
              </a:rPr>
              <a:t>Feasible scope for an MSc</a:t>
            </a:r>
            <a:endParaRPr lang="en-US" sz="1200" dirty="0"/>
          </a:p>
        </p:txBody>
      </p:sp>
      <p:sp>
        <p:nvSpPr>
          <p:cNvPr id="33" name="Text 31"/>
          <p:cNvSpPr/>
          <p:nvPr/>
        </p:nvSpPr>
        <p:spPr>
          <a:xfrm>
            <a:off x="7242048" y="4297680"/>
            <a:ext cx="4709160" cy="621792"/>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Two codebases of a few thousand lines each — auditable in depth within the time available.</a:t>
            </a:r>
            <a:endParaRPr lang="en-US" sz="950" dirty="0"/>
          </a:p>
        </p:txBody>
      </p:sp>
      <p:sp>
        <p:nvSpPr>
          <p:cNvPr id="34" name="Shape 32"/>
          <p:cNvSpPr/>
          <p:nvPr/>
        </p:nvSpPr>
        <p:spPr>
          <a:xfrm>
            <a:off x="502920" y="5230368"/>
            <a:ext cx="11185855" cy="914400"/>
          </a:xfrm>
          <a:prstGeom prst="roundRect">
            <a:avLst>
              <a:gd name="adj" fmla="val 7000"/>
            </a:avLst>
          </a:prstGeom>
          <a:solidFill>
            <a:srgbClr val="FBF3E4"/>
          </a:solidFill>
          <a:ln w="13970">
            <a:solidFill>
              <a:srgbClr val="C77D14"/>
            </a:solidFill>
            <a:prstDash val="solid"/>
          </a:ln>
        </p:spPr>
      </p:sp>
      <p:sp>
        <p:nvSpPr>
          <p:cNvPr id="35" name="Shape 33"/>
          <p:cNvSpPr/>
          <p:nvPr/>
        </p:nvSpPr>
        <p:spPr>
          <a:xfrm>
            <a:off x="722376" y="5394960"/>
            <a:ext cx="914400" cy="237744"/>
          </a:xfrm>
          <a:prstGeom prst="roundRect">
            <a:avLst>
              <a:gd name="adj" fmla="val 50000"/>
            </a:avLst>
          </a:prstGeom>
          <a:solidFill>
            <a:srgbClr val="C77D14"/>
          </a:solidFill>
          <a:ln w="6350">
            <a:solidFill>
              <a:srgbClr val="C77D14"/>
            </a:solidFill>
            <a:prstDash val="solid"/>
          </a:ln>
        </p:spPr>
      </p:sp>
      <p:sp>
        <p:nvSpPr>
          <p:cNvPr id="36" name="Text 34"/>
          <p:cNvSpPr/>
          <p:nvPr/>
        </p:nvSpPr>
        <p:spPr>
          <a:xfrm>
            <a:off x="722376" y="5394960"/>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37" name="Text 35"/>
          <p:cNvSpPr/>
          <p:nvPr/>
        </p:nvSpPr>
        <p:spPr>
          <a:xfrm>
            <a:off x="1783080" y="5321808"/>
            <a:ext cx="9631375" cy="731520"/>
          </a:xfrm>
          <a:prstGeom prst="rect">
            <a:avLst/>
          </a:prstGeom>
          <a:noFill/>
          <a:ln/>
        </p:spPr>
        <p:txBody>
          <a:bodyPr wrap="square" lIns="0" tIns="0" rIns="0" bIns="0" rtlCol="0" anchor="ctr"/>
          <a:lstStyle/>
          <a:p>
            <a:pPr indent="0" marL="0">
              <a:buNone/>
            </a:pPr>
            <a:r>
              <a:rPr lang="en-US" sz="1050" dirty="0">
                <a:solidFill>
                  <a:srgbClr val="6B4A12"/>
                </a:solidFill>
                <a:latin typeface="Calibri" pitchFamily="34" charset="0"/>
                <a:ea typeface="Calibri" pitchFamily="34" charset="-122"/>
                <a:cs typeface="Calibri" pitchFamily="34" charset="-120"/>
              </a:rPr>
              <a:t>Found during the audit, not used as a selection criterion: the two papers share no dataset. DCGAN-DTA uses BindingDB and PDBbind; Co-VAE uses Davis and KIBA. Any head-to-head comparison therefore needs a common protocol built deliberately — it cannot be read off the published tables.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PAPER AUDIT · ALL CLAIMS [PAPER]</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DCGAN-DTA — What the Paper Proposes</a:t>
            </a:r>
            <a:endParaRPr lang="en-US" sz="3000" dirty="0"/>
          </a:p>
        </p:txBody>
      </p:sp>
      <p:sp>
        <p:nvSpPr>
          <p:cNvPr id="4" name="Shape 2"/>
          <p:cNvSpPr/>
          <p:nvPr/>
        </p:nvSpPr>
        <p:spPr>
          <a:xfrm>
            <a:off x="502920" y="1188720"/>
            <a:ext cx="6812280" cy="2487168"/>
          </a:xfrm>
          <a:prstGeom prst="roundRect">
            <a:avLst>
              <a:gd name="adj" fmla="val 2941"/>
            </a:avLst>
          </a:prstGeom>
          <a:solidFill>
            <a:srgbClr val="FFFFFF"/>
          </a:solidFill>
          <a:ln w="16510">
            <a:solidFill>
              <a:srgbClr val="0E7C86"/>
            </a:solidFill>
            <a:prstDash val="solid"/>
          </a:ln>
        </p:spPr>
      </p:sp>
      <p:sp>
        <p:nvSpPr>
          <p:cNvPr id="5" name="Text 3"/>
          <p:cNvSpPr/>
          <p:nvPr/>
        </p:nvSpPr>
        <p:spPr>
          <a:xfrm>
            <a:off x="704088" y="1298448"/>
            <a:ext cx="6400800" cy="256032"/>
          </a:xfrm>
          <a:prstGeom prst="rect">
            <a:avLst/>
          </a:prstGeom>
          <a:noFill/>
          <a:ln/>
        </p:spPr>
        <p:txBody>
          <a:bodyPr wrap="square" lIns="0" tIns="0" rIns="0" bIns="0" rtlCol="0" anchor="ctr"/>
          <a:lstStyle/>
          <a:p>
            <a:pPr indent="0" marL="0">
              <a:buNone/>
            </a:pPr>
            <a:r>
              <a:rPr lang="en-US" sz="1100" b="1" dirty="0">
                <a:solidFill>
                  <a:srgbClr val="0E7C86"/>
                </a:solidFill>
                <a:latin typeface="Calibri" pitchFamily="34" charset="0"/>
                <a:ea typeface="Calibri" pitchFamily="34" charset="-122"/>
                <a:cs typeface="Calibri" pitchFamily="34" charset="-120"/>
              </a:rPr>
              <a:t>Architecture (simplified, adapted from Fig. 1, p. 5)</a:t>
            </a:r>
            <a:endParaRPr lang="en-US" sz="1100" dirty="0"/>
          </a:p>
        </p:txBody>
      </p:sp>
      <p:sp>
        <p:nvSpPr>
          <p:cNvPr id="6" name="Shape 4"/>
          <p:cNvSpPr/>
          <p:nvPr/>
        </p:nvSpPr>
        <p:spPr>
          <a:xfrm>
            <a:off x="740664" y="1664208"/>
            <a:ext cx="1024128" cy="822960"/>
          </a:xfrm>
          <a:prstGeom prst="roundRect">
            <a:avLst>
              <a:gd name="adj" fmla="val 6667"/>
            </a:avLst>
          </a:prstGeom>
          <a:solidFill>
            <a:srgbClr val="F1F4F8"/>
          </a:solidFill>
          <a:ln w="11430">
            <a:solidFill>
              <a:srgbClr val="E6ECF3"/>
            </a:solidFill>
            <a:prstDash val="solid"/>
          </a:ln>
        </p:spPr>
      </p:sp>
      <p:sp>
        <p:nvSpPr>
          <p:cNvPr id="7" name="Text 5"/>
          <p:cNvSpPr/>
          <p:nvPr/>
        </p:nvSpPr>
        <p:spPr>
          <a:xfrm>
            <a:off x="740664" y="1664208"/>
            <a:ext cx="1024128" cy="822960"/>
          </a:xfrm>
          <a:prstGeom prst="rect">
            <a:avLst/>
          </a:prstGeom>
          <a:noFill/>
          <a:ln/>
        </p:spPr>
        <p:txBody>
          <a:bodyPr wrap="square" lIns="0" tIns="0" rIns="0" bIns="0" rtlCol="0" anchor="ctr"/>
          <a:lstStyle/>
          <a:p>
            <a:pPr algn="ctr" indent="0" marL="0">
              <a:buNone/>
            </a:pPr>
            <a:r>
              <a:rPr lang="en-US" sz="800" b="1" dirty="0">
                <a:solidFill>
                  <a:srgbClr val="14213D"/>
                </a:solidFill>
                <a:latin typeface="Calibri" pitchFamily="34" charset="0"/>
                <a:ea typeface="Calibri" pitchFamily="34" charset="-122"/>
                <a:cs typeface="Calibri" pitchFamily="34" charset="-120"/>
              </a:rPr>
              <a:t>Label encoding</a:t>
            </a:r>
            <a:endParaRPr lang="en-US" sz="800" dirty="0"/>
          </a:p>
          <a:p>
            <a:pPr algn="ctr" indent="0" marL="0">
              <a:buNone/>
            </a:pPr>
            <a:r>
              <a:rPr lang="en-US" sz="800" b="1" dirty="0">
                <a:solidFill>
                  <a:srgbClr val="14213D"/>
                </a:solidFill>
                <a:latin typeface="Calibri" pitchFamily="34" charset="0"/>
                <a:ea typeface="Calibri" pitchFamily="34" charset="-122"/>
                <a:cs typeface="Calibri" pitchFamily="34" charset="-120"/>
              </a:rPr>
              <a:t>+ embedding</a:t>
            </a:r>
            <a:endParaRPr lang="en-US" sz="800" dirty="0"/>
          </a:p>
        </p:txBody>
      </p:sp>
      <p:sp>
        <p:nvSpPr>
          <p:cNvPr id="8" name="Shape 6"/>
          <p:cNvSpPr/>
          <p:nvPr/>
        </p:nvSpPr>
        <p:spPr>
          <a:xfrm>
            <a:off x="1769364" y="2075688"/>
            <a:ext cx="91440" cy="0"/>
          </a:xfrm>
          <a:prstGeom prst="line">
            <a:avLst/>
          </a:prstGeom>
          <a:noFill/>
          <a:ln w="19050">
            <a:solidFill>
              <a:srgbClr val="62708A"/>
            </a:solidFill>
            <a:prstDash val="solid"/>
            <a:tailEnd type="triangle"/>
          </a:ln>
        </p:spPr>
      </p:sp>
      <p:sp>
        <p:nvSpPr>
          <p:cNvPr id="9" name="Shape 7"/>
          <p:cNvSpPr/>
          <p:nvPr/>
        </p:nvSpPr>
        <p:spPr>
          <a:xfrm>
            <a:off x="1865376" y="1664208"/>
            <a:ext cx="1024128" cy="822960"/>
          </a:xfrm>
          <a:prstGeom prst="roundRect">
            <a:avLst>
              <a:gd name="adj" fmla="val 6667"/>
            </a:avLst>
          </a:prstGeom>
          <a:solidFill>
            <a:srgbClr val="0E7C86"/>
          </a:solidFill>
          <a:ln w="11430">
            <a:solidFill>
              <a:srgbClr val="0E7C86"/>
            </a:solidFill>
            <a:prstDash val="solid"/>
          </a:ln>
        </p:spPr>
      </p:sp>
      <p:sp>
        <p:nvSpPr>
          <p:cNvPr id="10" name="Text 8"/>
          <p:cNvSpPr/>
          <p:nvPr/>
        </p:nvSpPr>
        <p:spPr>
          <a:xfrm>
            <a:off x="1865376" y="1664208"/>
            <a:ext cx="1024128" cy="8229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DCGAN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pretraining</a:t>
            </a:r>
            <a:endParaRPr lang="en-US" sz="800" dirty="0"/>
          </a:p>
        </p:txBody>
      </p:sp>
      <p:sp>
        <p:nvSpPr>
          <p:cNvPr id="11" name="Shape 9"/>
          <p:cNvSpPr/>
          <p:nvPr/>
        </p:nvSpPr>
        <p:spPr>
          <a:xfrm>
            <a:off x="2894076" y="2075688"/>
            <a:ext cx="91440" cy="0"/>
          </a:xfrm>
          <a:prstGeom prst="line">
            <a:avLst/>
          </a:prstGeom>
          <a:noFill/>
          <a:ln w="19050">
            <a:solidFill>
              <a:srgbClr val="62708A"/>
            </a:solidFill>
            <a:prstDash val="solid"/>
            <a:tailEnd type="triangle"/>
          </a:ln>
        </p:spPr>
      </p:sp>
      <p:sp>
        <p:nvSpPr>
          <p:cNvPr id="12" name="Shape 10"/>
          <p:cNvSpPr/>
          <p:nvPr/>
        </p:nvSpPr>
        <p:spPr>
          <a:xfrm>
            <a:off x="2990088" y="1664208"/>
            <a:ext cx="1024128" cy="822960"/>
          </a:xfrm>
          <a:prstGeom prst="roundRect">
            <a:avLst>
              <a:gd name="adj" fmla="val 6667"/>
            </a:avLst>
          </a:prstGeom>
          <a:solidFill>
            <a:srgbClr val="0E7C86"/>
          </a:solidFill>
          <a:ln w="11430">
            <a:solidFill>
              <a:srgbClr val="0E7C86"/>
            </a:solidFill>
            <a:prstDash val="solid"/>
          </a:ln>
        </p:spPr>
      </p:sp>
      <p:sp>
        <p:nvSpPr>
          <p:cNvPr id="13" name="Text 11"/>
          <p:cNvSpPr/>
          <p:nvPr/>
        </p:nvSpPr>
        <p:spPr>
          <a:xfrm>
            <a:off x="2990088" y="1664208"/>
            <a:ext cx="1024128" cy="8229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Discriminator</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feature reuse</a:t>
            </a:r>
            <a:endParaRPr lang="en-US" sz="800" dirty="0"/>
          </a:p>
        </p:txBody>
      </p:sp>
      <p:sp>
        <p:nvSpPr>
          <p:cNvPr id="14" name="Shape 12"/>
          <p:cNvSpPr/>
          <p:nvPr/>
        </p:nvSpPr>
        <p:spPr>
          <a:xfrm>
            <a:off x="4018788" y="2075688"/>
            <a:ext cx="91440" cy="0"/>
          </a:xfrm>
          <a:prstGeom prst="line">
            <a:avLst/>
          </a:prstGeom>
          <a:noFill/>
          <a:ln w="19050">
            <a:solidFill>
              <a:srgbClr val="62708A"/>
            </a:solidFill>
            <a:prstDash val="solid"/>
            <a:tailEnd type="triangle"/>
          </a:ln>
        </p:spPr>
      </p:sp>
      <p:sp>
        <p:nvSpPr>
          <p:cNvPr id="15" name="Shape 13"/>
          <p:cNvSpPr/>
          <p:nvPr/>
        </p:nvSpPr>
        <p:spPr>
          <a:xfrm>
            <a:off x="4114800" y="1664208"/>
            <a:ext cx="1024128" cy="822960"/>
          </a:xfrm>
          <a:prstGeom prst="roundRect">
            <a:avLst>
              <a:gd name="adj" fmla="val 6667"/>
            </a:avLst>
          </a:prstGeom>
          <a:solidFill>
            <a:srgbClr val="F1F4F8"/>
          </a:solidFill>
          <a:ln w="11430">
            <a:solidFill>
              <a:srgbClr val="E6ECF3"/>
            </a:solidFill>
            <a:prstDash val="solid"/>
          </a:ln>
        </p:spPr>
      </p:sp>
      <p:sp>
        <p:nvSpPr>
          <p:cNvPr id="16" name="Text 14"/>
          <p:cNvSpPr/>
          <p:nvPr/>
        </p:nvSpPr>
        <p:spPr>
          <a:xfrm>
            <a:off x="4114800" y="1664208"/>
            <a:ext cx="1024128" cy="822960"/>
          </a:xfrm>
          <a:prstGeom prst="rect">
            <a:avLst/>
          </a:prstGeom>
          <a:noFill/>
          <a:ln/>
        </p:spPr>
        <p:txBody>
          <a:bodyPr wrap="square" lIns="0" tIns="0" rIns="0" bIns="0" rtlCol="0" anchor="ctr"/>
          <a:lstStyle/>
          <a:p>
            <a:pPr algn="ctr" indent="0" marL="0">
              <a:buNone/>
            </a:pPr>
            <a:r>
              <a:rPr lang="en-US" sz="800" b="1" dirty="0">
                <a:solidFill>
                  <a:srgbClr val="14213D"/>
                </a:solidFill>
                <a:latin typeface="Calibri" pitchFamily="34" charset="0"/>
                <a:ea typeface="Calibri" pitchFamily="34" charset="-122"/>
                <a:cs typeface="Calibri" pitchFamily="34" charset="-120"/>
              </a:rPr>
              <a:t>CNN block</a:t>
            </a:r>
            <a:endParaRPr lang="en-US" sz="800" dirty="0"/>
          </a:p>
          <a:p>
            <a:pPr algn="ctr" indent="0" marL="0">
              <a:buNone/>
            </a:pPr>
            <a:r>
              <a:rPr lang="en-US" sz="800" b="1" dirty="0">
                <a:solidFill>
                  <a:srgbClr val="14213D"/>
                </a:solidFill>
                <a:latin typeface="Calibri" pitchFamily="34" charset="0"/>
                <a:ea typeface="Calibri" pitchFamily="34" charset="-122"/>
                <a:cs typeface="Calibri" pitchFamily="34" charset="-120"/>
              </a:rPr>
              <a:t>3 conv + max-pool</a:t>
            </a:r>
            <a:endParaRPr lang="en-US" sz="800" dirty="0"/>
          </a:p>
        </p:txBody>
      </p:sp>
      <p:sp>
        <p:nvSpPr>
          <p:cNvPr id="17" name="Shape 15"/>
          <p:cNvSpPr/>
          <p:nvPr/>
        </p:nvSpPr>
        <p:spPr>
          <a:xfrm>
            <a:off x="5143500" y="2075688"/>
            <a:ext cx="91440" cy="0"/>
          </a:xfrm>
          <a:prstGeom prst="line">
            <a:avLst/>
          </a:prstGeom>
          <a:noFill/>
          <a:ln w="19050">
            <a:solidFill>
              <a:srgbClr val="62708A"/>
            </a:solidFill>
            <a:prstDash val="solid"/>
            <a:tailEnd type="triangle"/>
          </a:ln>
        </p:spPr>
      </p:sp>
      <p:sp>
        <p:nvSpPr>
          <p:cNvPr id="18" name="Shape 16"/>
          <p:cNvSpPr/>
          <p:nvPr/>
        </p:nvSpPr>
        <p:spPr>
          <a:xfrm>
            <a:off x="5239512" y="1664208"/>
            <a:ext cx="1024128" cy="822960"/>
          </a:xfrm>
          <a:prstGeom prst="roundRect">
            <a:avLst>
              <a:gd name="adj" fmla="val 6667"/>
            </a:avLst>
          </a:prstGeom>
          <a:solidFill>
            <a:srgbClr val="F1F4F8"/>
          </a:solidFill>
          <a:ln w="11430">
            <a:solidFill>
              <a:srgbClr val="E6ECF3"/>
            </a:solidFill>
            <a:prstDash val="solid"/>
          </a:ln>
        </p:spPr>
      </p:sp>
      <p:sp>
        <p:nvSpPr>
          <p:cNvPr id="19" name="Text 17"/>
          <p:cNvSpPr/>
          <p:nvPr/>
        </p:nvSpPr>
        <p:spPr>
          <a:xfrm>
            <a:off x="5239512" y="1664208"/>
            <a:ext cx="1024128" cy="822960"/>
          </a:xfrm>
          <a:prstGeom prst="rect">
            <a:avLst/>
          </a:prstGeom>
          <a:noFill/>
          <a:ln/>
        </p:spPr>
        <p:txBody>
          <a:bodyPr wrap="square" lIns="0" tIns="0" rIns="0" bIns="0" rtlCol="0" anchor="ctr"/>
          <a:lstStyle/>
          <a:p>
            <a:pPr algn="ctr" indent="0" marL="0">
              <a:buNone/>
            </a:pPr>
            <a:r>
              <a:rPr lang="en-US" sz="800" b="1" dirty="0">
                <a:solidFill>
                  <a:srgbClr val="14213D"/>
                </a:solidFill>
                <a:latin typeface="Calibri" pitchFamily="34" charset="0"/>
                <a:ea typeface="Calibri" pitchFamily="34" charset="-122"/>
                <a:cs typeface="Calibri" pitchFamily="34" charset="-120"/>
              </a:rPr>
              <a:t>Add</a:t>
            </a:r>
            <a:endParaRPr lang="en-US" sz="800" dirty="0"/>
          </a:p>
          <a:p>
            <a:pPr algn="ctr" indent="0" marL="0">
              <a:buNone/>
            </a:pPr>
            <a:r>
              <a:rPr lang="en-US" sz="800" b="1" dirty="0">
                <a:solidFill>
                  <a:srgbClr val="14213D"/>
                </a:solidFill>
                <a:latin typeface="Calibri" pitchFamily="34" charset="0"/>
                <a:ea typeface="Calibri" pitchFamily="34" charset="-122"/>
                <a:cs typeface="Calibri" pitchFamily="34" charset="-120"/>
              </a:rPr>
              <a:t>merge</a:t>
            </a:r>
            <a:endParaRPr lang="en-US" sz="800" dirty="0"/>
          </a:p>
        </p:txBody>
      </p:sp>
      <p:sp>
        <p:nvSpPr>
          <p:cNvPr id="20" name="Shape 18"/>
          <p:cNvSpPr/>
          <p:nvPr/>
        </p:nvSpPr>
        <p:spPr>
          <a:xfrm>
            <a:off x="6268212" y="2075688"/>
            <a:ext cx="91440" cy="0"/>
          </a:xfrm>
          <a:prstGeom prst="line">
            <a:avLst/>
          </a:prstGeom>
          <a:noFill/>
          <a:ln w="19050">
            <a:solidFill>
              <a:srgbClr val="62708A"/>
            </a:solidFill>
            <a:prstDash val="solid"/>
            <a:tailEnd type="triangle"/>
          </a:ln>
        </p:spPr>
      </p:sp>
      <p:sp>
        <p:nvSpPr>
          <p:cNvPr id="21" name="Shape 19"/>
          <p:cNvSpPr/>
          <p:nvPr/>
        </p:nvSpPr>
        <p:spPr>
          <a:xfrm>
            <a:off x="6364224" y="1664208"/>
            <a:ext cx="1024128" cy="822960"/>
          </a:xfrm>
          <a:prstGeom prst="roundRect">
            <a:avLst>
              <a:gd name="adj" fmla="val 6667"/>
            </a:avLst>
          </a:prstGeom>
          <a:solidFill>
            <a:srgbClr val="2B3A55"/>
          </a:solidFill>
          <a:ln w="11430">
            <a:solidFill>
              <a:srgbClr val="2B3A55"/>
            </a:solidFill>
            <a:prstDash val="solid"/>
          </a:ln>
        </p:spPr>
      </p:sp>
      <p:sp>
        <p:nvSpPr>
          <p:cNvPr id="22" name="Text 20"/>
          <p:cNvSpPr/>
          <p:nvPr/>
        </p:nvSpPr>
        <p:spPr>
          <a:xfrm>
            <a:off x="6364224" y="1664208"/>
            <a:ext cx="1024128" cy="8229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FC block</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 affinity</a:t>
            </a:r>
            <a:endParaRPr lang="en-US" sz="800" dirty="0"/>
          </a:p>
        </p:txBody>
      </p:sp>
      <p:sp>
        <p:nvSpPr>
          <p:cNvPr id="23" name="Text 21"/>
          <p:cNvSpPr/>
          <p:nvPr/>
        </p:nvSpPr>
        <p:spPr>
          <a:xfrm>
            <a:off x="740664" y="2578608"/>
            <a:ext cx="6400800" cy="566928"/>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Two DCGANs (drug + protein) pretrained on unlabelled sequence data; the learned model is reused for feature extraction. Three variants A / B / C differ in protein encoding and whether a protein DCGAN is used.</a:t>
            </a:r>
            <a:endParaRPr lang="en-US" sz="950" dirty="0"/>
          </a:p>
        </p:txBody>
      </p:sp>
      <p:sp>
        <p:nvSpPr>
          <p:cNvPr id="24" name="Text 22"/>
          <p:cNvSpPr/>
          <p:nvPr/>
        </p:nvSpPr>
        <p:spPr>
          <a:xfrm>
            <a:off x="740664" y="3145536"/>
            <a:ext cx="6400800" cy="420624"/>
          </a:xfrm>
          <a:prstGeom prst="rect">
            <a:avLst/>
          </a:prstGeom>
          <a:noFill/>
          <a:ln/>
        </p:spPr>
        <p:txBody>
          <a:bodyPr wrap="square" lIns="0" tIns="0" rIns="0" bIns="0" rtlCol="0" anchor="ctr"/>
          <a:lstStyle/>
          <a:p>
            <a:pPr indent="0" marL="0">
              <a:buNone/>
            </a:pPr>
            <a:r>
              <a:rPr lang="en-US" sz="850" dirty="0">
                <a:solidFill>
                  <a:srgbClr val="62708A"/>
                </a:solidFill>
                <a:latin typeface="Calibri" pitchFamily="34" charset="0"/>
                <a:ea typeface="Calibri" pitchFamily="34" charset="-122"/>
                <a:cs typeface="Calibri" pitchFamily="34" charset="-120"/>
              </a:rPr>
              <a:t>Generator: 3×Conv1DTranspose, filters 128/64/1, kernel 3, ReLU/ReLU/tanh, no BatchNorm.   Discriminator: 5×Conv1D, filters 4/8/16/32/64, kernel 3, ReLU → Flatten → Dense(1), tanh.</a:t>
            </a:r>
            <a:endParaRPr lang="en-US" sz="850" dirty="0"/>
          </a:p>
        </p:txBody>
      </p:sp>
      <p:sp>
        <p:nvSpPr>
          <p:cNvPr id="25" name="Shape 23"/>
          <p:cNvSpPr/>
          <p:nvPr/>
        </p:nvSpPr>
        <p:spPr>
          <a:xfrm>
            <a:off x="7607808" y="1188720"/>
            <a:ext cx="4069080" cy="932688"/>
          </a:xfrm>
          <a:prstGeom prst="roundRect">
            <a:avLst>
              <a:gd name="adj" fmla="val 6863"/>
            </a:avLst>
          </a:prstGeom>
          <a:solidFill>
            <a:srgbClr val="F1F4F8"/>
          </a:solidFill>
          <a:ln w="9525">
            <a:solidFill>
              <a:srgbClr val="E6ECF3"/>
            </a:solidFill>
            <a:prstDash val="solid"/>
          </a:ln>
        </p:spPr>
      </p:sp>
      <p:sp>
        <p:nvSpPr>
          <p:cNvPr id="26" name="Text 24"/>
          <p:cNvSpPr/>
          <p:nvPr/>
        </p:nvSpPr>
        <p:spPr>
          <a:xfrm>
            <a:off x="7772400" y="128016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Datasets</a:t>
            </a:r>
            <a:endParaRPr lang="en-US" sz="1100" dirty="0"/>
          </a:p>
        </p:txBody>
      </p:sp>
      <p:sp>
        <p:nvSpPr>
          <p:cNvPr id="27" name="Text 25"/>
          <p:cNvSpPr/>
          <p:nvPr/>
        </p:nvSpPr>
        <p:spPr>
          <a:xfrm>
            <a:off x="7772400" y="153619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BindingDB 9864×1088, 42,203 pairs</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PDBbind refined v2020 4231×1606, 5,014</a:t>
            </a:r>
            <a:endParaRPr lang="en-US" sz="900" dirty="0"/>
          </a:p>
        </p:txBody>
      </p:sp>
      <p:sp>
        <p:nvSpPr>
          <p:cNvPr id="28" name="Shape 26"/>
          <p:cNvSpPr/>
          <p:nvPr/>
        </p:nvSpPr>
        <p:spPr>
          <a:xfrm>
            <a:off x="7607808" y="2194560"/>
            <a:ext cx="4069080" cy="932688"/>
          </a:xfrm>
          <a:prstGeom prst="roundRect">
            <a:avLst>
              <a:gd name="adj" fmla="val 6863"/>
            </a:avLst>
          </a:prstGeom>
          <a:solidFill>
            <a:srgbClr val="F1F4F8"/>
          </a:solidFill>
          <a:ln w="9525">
            <a:solidFill>
              <a:srgbClr val="E6ECF3"/>
            </a:solidFill>
            <a:prstDash val="solid"/>
          </a:ln>
        </p:spPr>
      </p:sp>
      <p:sp>
        <p:nvSpPr>
          <p:cNvPr id="29" name="Text 27"/>
          <p:cNvSpPr/>
          <p:nvPr/>
        </p:nvSpPr>
        <p:spPr>
          <a:xfrm>
            <a:off x="7772400" y="228600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Representation</a:t>
            </a:r>
            <a:endParaRPr lang="en-US" sz="1100" dirty="0"/>
          </a:p>
        </p:txBody>
      </p:sp>
      <p:sp>
        <p:nvSpPr>
          <p:cNvPr id="30" name="Text 28"/>
          <p:cNvSpPr/>
          <p:nvPr/>
        </p:nvSpPr>
        <p:spPr>
          <a:xfrm>
            <a:off x="7772400" y="254203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Drug: SMILES → label encoding → embedding</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Target: label encoding, or BLOSUM 25-dim</a:t>
            </a:r>
            <a:endParaRPr lang="en-US" sz="900" dirty="0"/>
          </a:p>
        </p:txBody>
      </p:sp>
      <p:sp>
        <p:nvSpPr>
          <p:cNvPr id="31" name="Shape 29"/>
          <p:cNvSpPr/>
          <p:nvPr/>
        </p:nvSpPr>
        <p:spPr>
          <a:xfrm>
            <a:off x="7607808" y="3200400"/>
            <a:ext cx="4069080" cy="932688"/>
          </a:xfrm>
          <a:prstGeom prst="roundRect">
            <a:avLst>
              <a:gd name="adj" fmla="val 6863"/>
            </a:avLst>
          </a:prstGeom>
          <a:solidFill>
            <a:srgbClr val="F1F4F8"/>
          </a:solidFill>
          <a:ln w="9525">
            <a:solidFill>
              <a:srgbClr val="E6ECF3"/>
            </a:solidFill>
            <a:prstDash val="solid"/>
          </a:ln>
        </p:spPr>
      </p:sp>
      <p:sp>
        <p:nvSpPr>
          <p:cNvPr id="32" name="Text 30"/>
          <p:cNvSpPr/>
          <p:nvPr/>
        </p:nvSpPr>
        <p:spPr>
          <a:xfrm>
            <a:off x="7772400" y="329184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Training</a:t>
            </a:r>
            <a:endParaRPr lang="en-US" sz="1100" dirty="0"/>
          </a:p>
        </p:txBody>
      </p:sp>
      <p:sp>
        <p:nvSpPr>
          <p:cNvPr id="33" name="Text 31"/>
          <p:cNvSpPr/>
          <p:nvPr/>
        </p:nvSpPr>
        <p:spPr>
          <a:xfrm>
            <a:off x="7772400" y="354787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300 epochs, batch 256, Adam lr 0.001,</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dropout 0.25, early stopping</a:t>
            </a:r>
            <a:endParaRPr lang="en-US" sz="900" dirty="0"/>
          </a:p>
        </p:txBody>
      </p:sp>
      <p:sp>
        <p:nvSpPr>
          <p:cNvPr id="34" name="Shape 32"/>
          <p:cNvSpPr/>
          <p:nvPr/>
        </p:nvSpPr>
        <p:spPr>
          <a:xfrm>
            <a:off x="7607808" y="4206240"/>
            <a:ext cx="4069080" cy="932688"/>
          </a:xfrm>
          <a:prstGeom prst="roundRect">
            <a:avLst>
              <a:gd name="adj" fmla="val 6863"/>
            </a:avLst>
          </a:prstGeom>
          <a:solidFill>
            <a:srgbClr val="F1F4F8"/>
          </a:solidFill>
          <a:ln w="9525">
            <a:solidFill>
              <a:srgbClr val="E6ECF3"/>
            </a:solidFill>
            <a:prstDash val="solid"/>
          </a:ln>
        </p:spPr>
      </p:sp>
      <p:sp>
        <p:nvSpPr>
          <p:cNvPr id="35" name="Text 33"/>
          <p:cNvSpPr/>
          <p:nvPr/>
        </p:nvSpPr>
        <p:spPr>
          <a:xfrm>
            <a:off x="7772400" y="429768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Evaluation</a:t>
            </a:r>
            <a:endParaRPr lang="en-US" sz="1100" dirty="0"/>
          </a:p>
        </p:txBody>
      </p:sp>
      <p:sp>
        <p:nvSpPr>
          <p:cNvPr id="36" name="Text 34"/>
          <p:cNvSpPr/>
          <p:nvPr/>
        </p:nvSpPr>
        <p:spPr>
          <a:xfrm>
            <a:off x="7772400" y="455371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5-fold CV; CI, MSE, AUPR (threshold 7), r²m</a:t>
            </a:r>
            <a:endParaRPr lang="en-US" sz="900" dirty="0"/>
          </a:p>
        </p:txBody>
      </p:sp>
      <p:sp>
        <p:nvSpPr>
          <p:cNvPr id="37" name="Shape 35"/>
          <p:cNvSpPr/>
          <p:nvPr/>
        </p:nvSpPr>
        <p:spPr>
          <a:xfrm>
            <a:off x="7607808" y="5212080"/>
            <a:ext cx="4069080" cy="932688"/>
          </a:xfrm>
          <a:prstGeom prst="roundRect">
            <a:avLst>
              <a:gd name="adj" fmla="val 6863"/>
            </a:avLst>
          </a:prstGeom>
          <a:solidFill>
            <a:srgbClr val="F1F4F8"/>
          </a:solidFill>
          <a:ln w="9525">
            <a:solidFill>
              <a:srgbClr val="E6ECF3"/>
            </a:solidFill>
            <a:prstDash val="solid"/>
          </a:ln>
        </p:spPr>
      </p:sp>
      <p:sp>
        <p:nvSpPr>
          <p:cNvPr id="38" name="Text 36"/>
          <p:cNvSpPr/>
          <p:nvPr/>
        </p:nvSpPr>
        <p:spPr>
          <a:xfrm>
            <a:off x="7772400" y="530352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Headline result</a:t>
            </a:r>
            <a:endParaRPr lang="en-US" sz="1100" dirty="0"/>
          </a:p>
        </p:txBody>
      </p:sp>
      <p:sp>
        <p:nvSpPr>
          <p:cNvPr id="39" name="Text 37"/>
          <p:cNvSpPr/>
          <p:nvPr/>
        </p:nvSpPr>
        <p:spPr>
          <a:xfrm>
            <a:off x="7772400" y="555955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Best CI on both datasets: 0.866 BindingDB,</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0.774 PDBbind</a:t>
            </a:r>
            <a:endParaRPr lang="en-US" sz="900" dirty="0"/>
          </a:p>
        </p:txBody>
      </p:sp>
      <p:sp>
        <p:nvSpPr>
          <p:cNvPr id="40" name="Shape 38"/>
          <p:cNvSpPr/>
          <p:nvPr/>
        </p:nvSpPr>
        <p:spPr>
          <a:xfrm>
            <a:off x="502920" y="3931920"/>
            <a:ext cx="6812280" cy="1298448"/>
          </a:xfrm>
          <a:prstGeom prst="roundRect">
            <a:avLst>
              <a:gd name="adj" fmla="val 4930"/>
            </a:avLst>
          </a:prstGeom>
          <a:solidFill>
            <a:srgbClr val="F1F4F8"/>
          </a:solidFill>
          <a:ln w="9525">
            <a:solidFill>
              <a:srgbClr val="E6ECF3"/>
            </a:solidFill>
            <a:prstDash val="solid"/>
          </a:ln>
        </p:spPr>
      </p:sp>
      <p:sp>
        <p:nvSpPr>
          <p:cNvPr id="41" name="Text 39"/>
          <p:cNvSpPr/>
          <p:nvPr/>
        </p:nvSpPr>
        <p:spPr>
          <a:xfrm>
            <a:off x="722376" y="3931920"/>
            <a:ext cx="6400800" cy="1298448"/>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What the paper leaves unspecified.  </a:t>
            </a:r>
            <a:pPr indent="0" marL="0">
              <a:buNone/>
            </a:pPr>
            <a:r>
              <a:rPr lang="en-US" sz="1100" dirty="0">
                <a:solidFill>
                  <a:srgbClr val="2B3A55"/>
                </a:solidFill>
                <a:latin typeface="Calibri" pitchFamily="34" charset="0"/>
                <a:ea typeface="Calibri" pitchFamily="34" charset="-122"/>
                <a:cs typeface="Calibri" pitchFamily="34" charset="-120"/>
              </a:rPr>
              <a:t>All four numbered equations are evaluation metrics. There is no training loss, no adversarial objective, and no statement of which discriminator layers transfer or whether they are frozen — the mechanism the method is named for is never written down.</a:t>
            </a:r>
            <a:endParaRPr lang="en-US" sz="1100" dirty="0"/>
          </a:p>
        </p:txBody>
      </p:sp>
      <p:sp>
        <p:nvSpPr>
          <p:cNvPr id="42" name="Text 40"/>
          <p:cNvSpPr/>
          <p:nvPr/>
        </p:nvSpPr>
        <p:spPr>
          <a:xfrm>
            <a:off x="502920" y="5394960"/>
            <a:ext cx="11185855" cy="457200"/>
          </a:xfrm>
          <a:prstGeom prst="rect">
            <a:avLst/>
          </a:prstGeom>
          <a:noFill/>
          <a:ln/>
        </p:spPr>
        <p:txBody>
          <a:bodyPr wrap="square" lIns="0" tIns="0" rIns="0" bIns="0" rtlCol="0" anchor="ctr"/>
          <a:lstStyle/>
          <a:p>
            <a:pPr indent="0" marL="0">
              <a:buNone/>
            </a:pPr>
            <a:r>
              <a:rPr lang="en-US" sz="850" i="1" dirty="0">
                <a:solidFill>
                  <a:srgbClr val="62708A"/>
                </a:solidFill>
                <a:latin typeface="Calibri" pitchFamily="34" charset="0"/>
                <a:ea typeface="Calibri" pitchFamily="34" charset="-122"/>
                <a:cs typeface="Calibri" pitchFamily="34" charset="-120"/>
              </a:rPr>
              <a:t>Kalemati M., Zamani Emani M., Koohi S., “DCGAN-DTA: Predicting drug-target binding affinity with deep convolutional generative adversarial networks,” BMC Genomics 25:411 (2024). DOI 10.1186/s12864-024-10326-x. Architecture diagram redrawn from Fig. 1; original figure not reproduced.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CODE AUDIT · READ-ONLY INSPECTION</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DCGAN-DTA — What the Code Actually Contains</a:t>
            </a:r>
            <a:endParaRPr lang="en-US" sz="3000" dirty="0"/>
          </a:p>
        </p:txBody>
      </p:sp>
      <p:sp>
        <p:nvSpPr>
          <p:cNvPr id="4" name="Shape 2"/>
          <p:cNvSpPr/>
          <p:nvPr/>
        </p:nvSpPr>
        <p:spPr>
          <a:xfrm>
            <a:off x="502920" y="1188720"/>
            <a:ext cx="1810512" cy="786384"/>
          </a:xfrm>
          <a:prstGeom prst="roundRect">
            <a:avLst>
              <a:gd name="adj" fmla="val 8140"/>
            </a:avLst>
          </a:prstGeom>
          <a:solidFill>
            <a:srgbClr val="FFFFFF"/>
          </a:solidFill>
          <a:ln w="9525">
            <a:solidFill>
              <a:srgbClr val="E6ECF3"/>
            </a:solidFill>
            <a:prstDash val="solid"/>
          </a:ln>
        </p:spPr>
      </p:sp>
      <p:sp>
        <p:nvSpPr>
          <p:cNvPr id="5" name="Shape 3"/>
          <p:cNvSpPr/>
          <p:nvPr/>
        </p:nvSpPr>
        <p:spPr>
          <a:xfrm>
            <a:off x="502920" y="1188720"/>
            <a:ext cx="1810512" cy="786384"/>
          </a:xfrm>
          <a:prstGeom prst="roundRect">
            <a:avLst>
              <a:gd name="adj" fmla="val 6977"/>
            </a:avLst>
          </a:prstGeom>
          <a:solidFill>
            <a:srgbClr val="FFFFFF"/>
          </a:solidFill>
          <a:ln w="15240">
            <a:solidFill>
              <a:srgbClr val="2F6F4E"/>
            </a:solidFill>
            <a:prstDash val="solid"/>
          </a:ln>
        </p:spPr>
      </p:sp>
      <p:sp>
        <p:nvSpPr>
          <p:cNvPr id="6" name="Text 4"/>
          <p:cNvSpPr/>
          <p:nvPr/>
        </p:nvSpPr>
        <p:spPr>
          <a:xfrm>
            <a:off x="502920"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Data</a:t>
            </a:r>
            <a:endParaRPr lang="en-US" sz="1100" dirty="0"/>
          </a:p>
        </p:txBody>
      </p:sp>
      <p:sp>
        <p:nvSpPr>
          <p:cNvPr id="7" name="Text 5"/>
          <p:cNvSpPr/>
          <p:nvPr/>
        </p:nvSpPr>
        <p:spPr>
          <a:xfrm>
            <a:off x="502920" y="1554480"/>
            <a:ext cx="1810512" cy="237744"/>
          </a:xfrm>
          <a:prstGeom prst="rect">
            <a:avLst/>
          </a:prstGeom>
          <a:noFill/>
          <a:ln/>
        </p:spPr>
        <p:txBody>
          <a:bodyPr wrap="square" lIns="0" tIns="0" rIns="0" bIns="0" rtlCol="0" anchor="ctr"/>
          <a:lstStyle/>
          <a:p>
            <a:pPr algn="ctr" indent="0" marL="0">
              <a:buNone/>
            </a:pPr>
            <a:r>
              <a:rPr lang="en-US" sz="900" b="1" dirty="0">
                <a:solidFill>
                  <a:srgbClr val="2F6F4E"/>
                </a:solidFill>
                <a:latin typeface="Calibri" pitchFamily="34" charset="0"/>
                <a:ea typeface="Calibri" pitchFamily="34" charset="-122"/>
                <a:cs typeface="Calibri" pitchFamily="34" charset="-120"/>
              </a:rPr>
              <a:t>MATCH</a:t>
            </a:r>
            <a:endParaRPr lang="en-US" sz="900" dirty="0"/>
          </a:p>
        </p:txBody>
      </p:sp>
      <p:sp>
        <p:nvSpPr>
          <p:cNvPr id="8" name="Shape 6"/>
          <p:cNvSpPr/>
          <p:nvPr/>
        </p:nvSpPr>
        <p:spPr>
          <a:xfrm>
            <a:off x="2322576" y="1581912"/>
            <a:ext cx="109728" cy="0"/>
          </a:xfrm>
          <a:prstGeom prst="line">
            <a:avLst/>
          </a:prstGeom>
          <a:noFill/>
          <a:ln w="19050">
            <a:solidFill>
              <a:srgbClr val="62708A"/>
            </a:solidFill>
            <a:prstDash val="solid"/>
            <a:tailEnd type="triangle"/>
          </a:ln>
        </p:spPr>
      </p:sp>
      <p:sp>
        <p:nvSpPr>
          <p:cNvPr id="9" name="Shape 7"/>
          <p:cNvSpPr/>
          <p:nvPr/>
        </p:nvSpPr>
        <p:spPr>
          <a:xfrm>
            <a:off x="2441448" y="1188720"/>
            <a:ext cx="1810512" cy="786384"/>
          </a:xfrm>
          <a:prstGeom prst="roundRect">
            <a:avLst>
              <a:gd name="adj" fmla="val 8140"/>
            </a:avLst>
          </a:prstGeom>
          <a:solidFill>
            <a:srgbClr val="FFFFFF"/>
          </a:solidFill>
          <a:ln w="9525">
            <a:solidFill>
              <a:srgbClr val="E6ECF3"/>
            </a:solidFill>
            <a:prstDash val="solid"/>
          </a:ln>
        </p:spPr>
      </p:sp>
      <p:sp>
        <p:nvSpPr>
          <p:cNvPr id="10" name="Shape 8"/>
          <p:cNvSpPr/>
          <p:nvPr/>
        </p:nvSpPr>
        <p:spPr>
          <a:xfrm>
            <a:off x="2441448" y="1188720"/>
            <a:ext cx="1810512" cy="786384"/>
          </a:xfrm>
          <a:prstGeom prst="roundRect">
            <a:avLst>
              <a:gd name="adj" fmla="val 6977"/>
            </a:avLst>
          </a:prstGeom>
          <a:solidFill>
            <a:srgbClr val="FFFFFF"/>
          </a:solidFill>
          <a:ln w="15240">
            <a:solidFill>
              <a:srgbClr val="2F6F4E"/>
            </a:solidFill>
            <a:prstDash val="solid"/>
          </a:ln>
        </p:spPr>
      </p:sp>
      <p:sp>
        <p:nvSpPr>
          <p:cNvPr id="11" name="Text 9"/>
          <p:cNvSpPr/>
          <p:nvPr/>
        </p:nvSpPr>
        <p:spPr>
          <a:xfrm>
            <a:off x="2441448"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Preprocessing</a:t>
            </a:r>
            <a:endParaRPr lang="en-US" sz="1100" dirty="0"/>
          </a:p>
        </p:txBody>
      </p:sp>
      <p:sp>
        <p:nvSpPr>
          <p:cNvPr id="12" name="Text 10"/>
          <p:cNvSpPr/>
          <p:nvPr/>
        </p:nvSpPr>
        <p:spPr>
          <a:xfrm>
            <a:off x="2441448" y="1554480"/>
            <a:ext cx="1810512" cy="237744"/>
          </a:xfrm>
          <a:prstGeom prst="rect">
            <a:avLst/>
          </a:prstGeom>
          <a:noFill/>
          <a:ln/>
        </p:spPr>
        <p:txBody>
          <a:bodyPr wrap="square" lIns="0" tIns="0" rIns="0" bIns="0" rtlCol="0" anchor="ctr"/>
          <a:lstStyle/>
          <a:p>
            <a:pPr algn="ctr" indent="0" marL="0">
              <a:buNone/>
            </a:pPr>
            <a:r>
              <a:rPr lang="en-US" sz="900" b="1" dirty="0">
                <a:solidFill>
                  <a:srgbClr val="2F6F4E"/>
                </a:solidFill>
                <a:latin typeface="Calibri" pitchFamily="34" charset="0"/>
                <a:ea typeface="Calibri" pitchFamily="34" charset="-122"/>
                <a:cs typeface="Calibri" pitchFamily="34" charset="-120"/>
              </a:rPr>
              <a:t>MATCH</a:t>
            </a:r>
            <a:endParaRPr lang="en-US" sz="900" dirty="0"/>
          </a:p>
        </p:txBody>
      </p:sp>
      <p:sp>
        <p:nvSpPr>
          <p:cNvPr id="13" name="Shape 11"/>
          <p:cNvSpPr/>
          <p:nvPr/>
        </p:nvSpPr>
        <p:spPr>
          <a:xfrm>
            <a:off x="4261104" y="1581912"/>
            <a:ext cx="109728" cy="0"/>
          </a:xfrm>
          <a:prstGeom prst="line">
            <a:avLst/>
          </a:prstGeom>
          <a:noFill/>
          <a:ln w="19050">
            <a:solidFill>
              <a:srgbClr val="62708A"/>
            </a:solidFill>
            <a:prstDash val="solid"/>
            <a:tailEnd type="triangle"/>
          </a:ln>
        </p:spPr>
      </p:sp>
      <p:sp>
        <p:nvSpPr>
          <p:cNvPr id="14" name="Shape 12"/>
          <p:cNvSpPr/>
          <p:nvPr/>
        </p:nvSpPr>
        <p:spPr>
          <a:xfrm>
            <a:off x="4379976" y="1188720"/>
            <a:ext cx="1810512" cy="786384"/>
          </a:xfrm>
          <a:prstGeom prst="roundRect">
            <a:avLst>
              <a:gd name="adj" fmla="val 8140"/>
            </a:avLst>
          </a:prstGeom>
          <a:solidFill>
            <a:srgbClr val="FFFFFF"/>
          </a:solidFill>
          <a:ln w="9525">
            <a:solidFill>
              <a:srgbClr val="E6ECF3"/>
            </a:solidFill>
            <a:prstDash val="solid"/>
          </a:ln>
        </p:spPr>
      </p:sp>
      <p:sp>
        <p:nvSpPr>
          <p:cNvPr id="15" name="Shape 13"/>
          <p:cNvSpPr/>
          <p:nvPr/>
        </p:nvSpPr>
        <p:spPr>
          <a:xfrm>
            <a:off x="4379976" y="1188720"/>
            <a:ext cx="1810512" cy="786384"/>
          </a:xfrm>
          <a:prstGeom prst="roundRect">
            <a:avLst>
              <a:gd name="adj" fmla="val 6977"/>
            </a:avLst>
          </a:prstGeom>
          <a:solidFill>
            <a:srgbClr val="FFFFFF"/>
          </a:solidFill>
          <a:ln w="15240">
            <a:solidFill>
              <a:srgbClr val="C77D14"/>
            </a:solidFill>
            <a:prstDash val="solid"/>
          </a:ln>
        </p:spPr>
      </p:sp>
      <p:sp>
        <p:nvSpPr>
          <p:cNvPr id="16" name="Text 14"/>
          <p:cNvSpPr/>
          <p:nvPr/>
        </p:nvSpPr>
        <p:spPr>
          <a:xfrm>
            <a:off x="4379976"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Representation</a:t>
            </a:r>
            <a:endParaRPr lang="en-US" sz="1100" dirty="0"/>
          </a:p>
        </p:txBody>
      </p:sp>
      <p:sp>
        <p:nvSpPr>
          <p:cNvPr id="17" name="Text 15"/>
          <p:cNvSpPr/>
          <p:nvPr/>
        </p:nvSpPr>
        <p:spPr>
          <a:xfrm>
            <a:off x="4379976" y="1554480"/>
            <a:ext cx="1810512" cy="237744"/>
          </a:xfrm>
          <a:prstGeom prst="rect">
            <a:avLst/>
          </a:prstGeom>
          <a:noFill/>
          <a:ln/>
        </p:spPr>
        <p:txBody>
          <a:bodyPr wrap="square" lIns="0" tIns="0" rIns="0" bIns="0" rtlCol="0" anchor="ctr"/>
          <a:lstStyle/>
          <a:p>
            <a:pPr algn="ctr" indent="0" marL="0">
              <a:buNone/>
            </a:pPr>
            <a:r>
              <a:rPr lang="en-US" sz="900" b="1" dirty="0">
                <a:solidFill>
                  <a:srgbClr val="C77D14"/>
                </a:solidFill>
                <a:latin typeface="Calibri" pitchFamily="34" charset="0"/>
                <a:ea typeface="Calibri" pitchFamily="34" charset="-122"/>
                <a:cs typeface="Calibri" pitchFamily="34" charset="-120"/>
              </a:rPr>
              <a:t>PARTIAL</a:t>
            </a:r>
            <a:endParaRPr lang="en-US" sz="900" dirty="0"/>
          </a:p>
        </p:txBody>
      </p:sp>
      <p:sp>
        <p:nvSpPr>
          <p:cNvPr id="18" name="Shape 16"/>
          <p:cNvSpPr/>
          <p:nvPr/>
        </p:nvSpPr>
        <p:spPr>
          <a:xfrm>
            <a:off x="6199632" y="1581912"/>
            <a:ext cx="109728" cy="0"/>
          </a:xfrm>
          <a:prstGeom prst="line">
            <a:avLst/>
          </a:prstGeom>
          <a:noFill/>
          <a:ln w="19050">
            <a:solidFill>
              <a:srgbClr val="62708A"/>
            </a:solidFill>
            <a:prstDash val="solid"/>
            <a:tailEnd type="triangle"/>
          </a:ln>
        </p:spPr>
      </p:sp>
      <p:sp>
        <p:nvSpPr>
          <p:cNvPr id="19" name="Shape 17"/>
          <p:cNvSpPr/>
          <p:nvPr/>
        </p:nvSpPr>
        <p:spPr>
          <a:xfrm>
            <a:off x="6318504" y="1188720"/>
            <a:ext cx="1810512" cy="786384"/>
          </a:xfrm>
          <a:prstGeom prst="roundRect">
            <a:avLst>
              <a:gd name="adj" fmla="val 8140"/>
            </a:avLst>
          </a:prstGeom>
          <a:solidFill>
            <a:srgbClr val="FFFFFF"/>
          </a:solidFill>
          <a:ln w="9525">
            <a:solidFill>
              <a:srgbClr val="E6ECF3"/>
            </a:solidFill>
            <a:prstDash val="solid"/>
          </a:ln>
        </p:spPr>
      </p:sp>
      <p:sp>
        <p:nvSpPr>
          <p:cNvPr id="20" name="Shape 18"/>
          <p:cNvSpPr/>
          <p:nvPr/>
        </p:nvSpPr>
        <p:spPr>
          <a:xfrm>
            <a:off x="6318504" y="1188720"/>
            <a:ext cx="1810512" cy="786384"/>
          </a:xfrm>
          <a:prstGeom prst="roundRect">
            <a:avLst>
              <a:gd name="adj" fmla="val 6977"/>
            </a:avLst>
          </a:prstGeom>
          <a:solidFill>
            <a:srgbClr val="FFFFFF"/>
          </a:solidFill>
          <a:ln w="15240">
            <a:solidFill>
              <a:srgbClr val="9E2A2B"/>
            </a:solidFill>
            <a:prstDash val="solid"/>
          </a:ln>
        </p:spPr>
      </p:sp>
      <p:sp>
        <p:nvSpPr>
          <p:cNvPr id="21" name="Text 19"/>
          <p:cNvSpPr/>
          <p:nvPr/>
        </p:nvSpPr>
        <p:spPr>
          <a:xfrm>
            <a:off x="6318504"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Model</a:t>
            </a:r>
            <a:endParaRPr lang="en-US" sz="1100" dirty="0"/>
          </a:p>
        </p:txBody>
      </p:sp>
      <p:sp>
        <p:nvSpPr>
          <p:cNvPr id="22" name="Text 20"/>
          <p:cNvSpPr/>
          <p:nvPr/>
        </p:nvSpPr>
        <p:spPr>
          <a:xfrm>
            <a:off x="6318504" y="1554480"/>
            <a:ext cx="1810512" cy="237744"/>
          </a:xfrm>
          <a:prstGeom prst="rect">
            <a:avLst/>
          </a:prstGeom>
          <a:noFill/>
          <a:ln/>
        </p:spPr>
        <p:txBody>
          <a:bodyPr wrap="square" lIns="0" tIns="0" rIns="0" bIns="0" rtlCol="0" anchor="ctr"/>
          <a:lstStyle/>
          <a:p>
            <a:pPr algn="ctr" indent="0" marL="0">
              <a:buNone/>
            </a:pPr>
            <a:r>
              <a:rPr lang="en-US" sz="900" b="1" dirty="0">
                <a:solidFill>
                  <a:srgbClr val="9E2A2B"/>
                </a:solidFill>
                <a:latin typeface="Calibri" pitchFamily="34" charset="0"/>
                <a:ea typeface="Calibri" pitchFamily="34" charset="-122"/>
                <a:cs typeface="Calibri" pitchFamily="34" charset="-120"/>
              </a:rPr>
              <a:t>MISMATCH</a:t>
            </a:r>
            <a:endParaRPr lang="en-US" sz="900" dirty="0"/>
          </a:p>
        </p:txBody>
      </p:sp>
      <p:sp>
        <p:nvSpPr>
          <p:cNvPr id="23" name="Shape 21"/>
          <p:cNvSpPr/>
          <p:nvPr/>
        </p:nvSpPr>
        <p:spPr>
          <a:xfrm>
            <a:off x="8138160" y="1581912"/>
            <a:ext cx="109728" cy="0"/>
          </a:xfrm>
          <a:prstGeom prst="line">
            <a:avLst/>
          </a:prstGeom>
          <a:noFill/>
          <a:ln w="19050">
            <a:solidFill>
              <a:srgbClr val="62708A"/>
            </a:solidFill>
            <a:prstDash val="solid"/>
            <a:tailEnd type="triangle"/>
          </a:ln>
        </p:spPr>
      </p:sp>
      <p:sp>
        <p:nvSpPr>
          <p:cNvPr id="24" name="Shape 22"/>
          <p:cNvSpPr/>
          <p:nvPr/>
        </p:nvSpPr>
        <p:spPr>
          <a:xfrm>
            <a:off x="8257032" y="1188720"/>
            <a:ext cx="1810512" cy="786384"/>
          </a:xfrm>
          <a:prstGeom prst="roundRect">
            <a:avLst>
              <a:gd name="adj" fmla="val 8140"/>
            </a:avLst>
          </a:prstGeom>
          <a:solidFill>
            <a:srgbClr val="FFFFFF"/>
          </a:solidFill>
          <a:ln w="9525">
            <a:solidFill>
              <a:srgbClr val="E6ECF3"/>
            </a:solidFill>
            <a:prstDash val="solid"/>
          </a:ln>
        </p:spPr>
      </p:sp>
      <p:sp>
        <p:nvSpPr>
          <p:cNvPr id="25" name="Shape 23"/>
          <p:cNvSpPr/>
          <p:nvPr/>
        </p:nvSpPr>
        <p:spPr>
          <a:xfrm>
            <a:off x="8257032" y="1188720"/>
            <a:ext cx="1810512" cy="786384"/>
          </a:xfrm>
          <a:prstGeom prst="roundRect">
            <a:avLst>
              <a:gd name="adj" fmla="val 6977"/>
            </a:avLst>
          </a:prstGeom>
          <a:solidFill>
            <a:srgbClr val="FFFFFF"/>
          </a:solidFill>
          <a:ln w="15240">
            <a:solidFill>
              <a:srgbClr val="C77D14"/>
            </a:solidFill>
            <a:prstDash val="solid"/>
          </a:ln>
        </p:spPr>
      </p:sp>
      <p:sp>
        <p:nvSpPr>
          <p:cNvPr id="26" name="Text 24"/>
          <p:cNvSpPr/>
          <p:nvPr/>
        </p:nvSpPr>
        <p:spPr>
          <a:xfrm>
            <a:off x="8257032"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Training</a:t>
            </a:r>
            <a:endParaRPr lang="en-US" sz="1100" dirty="0"/>
          </a:p>
        </p:txBody>
      </p:sp>
      <p:sp>
        <p:nvSpPr>
          <p:cNvPr id="27" name="Text 25"/>
          <p:cNvSpPr/>
          <p:nvPr/>
        </p:nvSpPr>
        <p:spPr>
          <a:xfrm>
            <a:off x="8257032" y="1554480"/>
            <a:ext cx="1810512" cy="237744"/>
          </a:xfrm>
          <a:prstGeom prst="rect">
            <a:avLst/>
          </a:prstGeom>
          <a:noFill/>
          <a:ln/>
        </p:spPr>
        <p:txBody>
          <a:bodyPr wrap="square" lIns="0" tIns="0" rIns="0" bIns="0" rtlCol="0" anchor="ctr"/>
          <a:lstStyle/>
          <a:p>
            <a:pPr algn="ctr" indent="0" marL="0">
              <a:buNone/>
            </a:pPr>
            <a:r>
              <a:rPr lang="en-US" sz="900" b="1" dirty="0">
                <a:solidFill>
                  <a:srgbClr val="C77D14"/>
                </a:solidFill>
                <a:latin typeface="Calibri" pitchFamily="34" charset="0"/>
                <a:ea typeface="Calibri" pitchFamily="34" charset="-122"/>
                <a:cs typeface="Calibri" pitchFamily="34" charset="-120"/>
              </a:rPr>
              <a:t>PARTIAL</a:t>
            </a:r>
            <a:endParaRPr lang="en-US" sz="900" dirty="0"/>
          </a:p>
        </p:txBody>
      </p:sp>
      <p:sp>
        <p:nvSpPr>
          <p:cNvPr id="28" name="Shape 26"/>
          <p:cNvSpPr/>
          <p:nvPr/>
        </p:nvSpPr>
        <p:spPr>
          <a:xfrm>
            <a:off x="10076688" y="1581912"/>
            <a:ext cx="109728" cy="0"/>
          </a:xfrm>
          <a:prstGeom prst="line">
            <a:avLst/>
          </a:prstGeom>
          <a:noFill/>
          <a:ln w="19050">
            <a:solidFill>
              <a:srgbClr val="62708A"/>
            </a:solidFill>
            <a:prstDash val="solid"/>
            <a:tailEnd type="triangle"/>
          </a:ln>
        </p:spPr>
      </p:sp>
      <p:sp>
        <p:nvSpPr>
          <p:cNvPr id="29" name="Shape 27"/>
          <p:cNvSpPr/>
          <p:nvPr/>
        </p:nvSpPr>
        <p:spPr>
          <a:xfrm>
            <a:off x="10195560" y="1188720"/>
            <a:ext cx="1810512" cy="786384"/>
          </a:xfrm>
          <a:prstGeom prst="roundRect">
            <a:avLst>
              <a:gd name="adj" fmla="val 8140"/>
            </a:avLst>
          </a:prstGeom>
          <a:solidFill>
            <a:srgbClr val="FFFFFF"/>
          </a:solidFill>
          <a:ln w="9525">
            <a:solidFill>
              <a:srgbClr val="E6ECF3"/>
            </a:solidFill>
            <a:prstDash val="solid"/>
          </a:ln>
        </p:spPr>
      </p:sp>
      <p:sp>
        <p:nvSpPr>
          <p:cNvPr id="30" name="Shape 28"/>
          <p:cNvSpPr/>
          <p:nvPr/>
        </p:nvSpPr>
        <p:spPr>
          <a:xfrm>
            <a:off x="10195560" y="1188720"/>
            <a:ext cx="1810512" cy="786384"/>
          </a:xfrm>
          <a:prstGeom prst="roundRect">
            <a:avLst>
              <a:gd name="adj" fmla="val 6977"/>
            </a:avLst>
          </a:prstGeom>
          <a:solidFill>
            <a:srgbClr val="FFFFFF"/>
          </a:solidFill>
          <a:ln w="15240">
            <a:solidFill>
              <a:srgbClr val="9E2A2B"/>
            </a:solidFill>
            <a:prstDash val="solid"/>
          </a:ln>
        </p:spPr>
      </p:sp>
      <p:sp>
        <p:nvSpPr>
          <p:cNvPr id="31" name="Text 29"/>
          <p:cNvSpPr/>
          <p:nvPr/>
        </p:nvSpPr>
        <p:spPr>
          <a:xfrm>
            <a:off x="10195560"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Evaluation</a:t>
            </a:r>
            <a:endParaRPr lang="en-US" sz="1100" dirty="0"/>
          </a:p>
        </p:txBody>
      </p:sp>
      <p:sp>
        <p:nvSpPr>
          <p:cNvPr id="32" name="Text 30"/>
          <p:cNvSpPr/>
          <p:nvPr/>
        </p:nvSpPr>
        <p:spPr>
          <a:xfrm>
            <a:off x="10195560" y="1554480"/>
            <a:ext cx="1810512" cy="237744"/>
          </a:xfrm>
          <a:prstGeom prst="rect">
            <a:avLst/>
          </a:prstGeom>
          <a:noFill/>
          <a:ln/>
        </p:spPr>
        <p:txBody>
          <a:bodyPr wrap="square" lIns="0" tIns="0" rIns="0" bIns="0" rtlCol="0" anchor="ctr"/>
          <a:lstStyle/>
          <a:p>
            <a:pPr algn="ctr" indent="0" marL="0">
              <a:buNone/>
            </a:pPr>
            <a:r>
              <a:rPr lang="en-US" sz="900" b="1" dirty="0">
                <a:solidFill>
                  <a:srgbClr val="9E2A2B"/>
                </a:solidFill>
                <a:latin typeface="Calibri" pitchFamily="34" charset="0"/>
                <a:ea typeface="Calibri" pitchFamily="34" charset="-122"/>
                <a:cs typeface="Calibri" pitchFamily="34" charset="-120"/>
              </a:rPr>
              <a:t>MISMATCH</a:t>
            </a:r>
            <a:endParaRPr lang="en-US" sz="900" dirty="0"/>
          </a:p>
        </p:txBody>
      </p:sp>
      <p:sp>
        <p:nvSpPr>
          <p:cNvPr id="33" name="Shape 31"/>
          <p:cNvSpPr/>
          <p:nvPr/>
        </p:nvSpPr>
        <p:spPr>
          <a:xfrm>
            <a:off x="502920" y="2176272"/>
            <a:ext cx="11185855" cy="603504"/>
          </a:xfrm>
          <a:prstGeom prst="roundRect">
            <a:avLst>
              <a:gd name="adj" fmla="val 10606"/>
            </a:avLst>
          </a:prstGeom>
          <a:solidFill>
            <a:srgbClr val="F1F4F8"/>
          </a:solidFill>
          <a:ln w="9525">
            <a:solidFill>
              <a:srgbClr val="E6ECF3"/>
            </a:solidFill>
            <a:prstDash val="solid"/>
          </a:ln>
        </p:spPr>
      </p:sp>
      <p:sp>
        <p:nvSpPr>
          <p:cNvPr id="34" name="Shape 32"/>
          <p:cNvSpPr/>
          <p:nvPr/>
        </p:nvSpPr>
        <p:spPr>
          <a:xfrm>
            <a:off x="649224" y="2359152"/>
            <a:ext cx="749808" cy="237744"/>
          </a:xfrm>
          <a:prstGeom prst="roundRect">
            <a:avLst>
              <a:gd name="adj" fmla="val 50000"/>
            </a:avLst>
          </a:prstGeom>
          <a:solidFill>
            <a:srgbClr val="9E2A2B"/>
          </a:solidFill>
          <a:ln w="6350">
            <a:solidFill>
              <a:srgbClr val="9E2A2B"/>
            </a:solidFill>
            <a:prstDash val="solid"/>
          </a:ln>
        </p:spPr>
      </p:sp>
      <p:sp>
        <p:nvSpPr>
          <p:cNvPr id="35" name="Text 33"/>
          <p:cNvSpPr/>
          <p:nvPr/>
        </p:nvSpPr>
        <p:spPr>
          <a:xfrm>
            <a:off x="649224" y="2359152"/>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36" name="Text 34"/>
          <p:cNvSpPr/>
          <p:nvPr/>
        </p:nvSpPr>
        <p:spPr>
          <a:xfrm>
            <a:off x="1527048" y="2231136"/>
            <a:ext cx="457200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Transferred layer does not fit the branch it is used in.</a:t>
            </a:r>
            <a:endParaRPr lang="en-US" sz="1050" dirty="0"/>
          </a:p>
        </p:txBody>
      </p:sp>
      <p:sp>
        <p:nvSpPr>
          <p:cNvPr id="37" name="Text 35"/>
          <p:cNvSpPr/>
          <p:nvPr/>
        </p:nvSpPr>
        <p:spPr>
          <a:xfrm>
            <a:off x="1527048" y="2478024"/>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gan.layers[-3] is a Conv1D built on 1 input channel, then applied to a 32-channel embedding — in the drug branch of all three variants.</a:t>
            </a:r>
            <a:endParaRPr lang="en-US" sz="880" dirty="0"/>
          </a:p>
        </p:txBody>
      </p:sp>
      <p:sp>
        <p:nvSpPr>
          <p:cNvPr id="38" name="Shape 36"/>
          <p:cNvSpPr/>
          <p:nvPr/>
        </p:nvSpPr>
        <p:spPr>
          <a:xfrm>
            <a:off x="502920" y="2852928"/>
            <a:ext cx="11185855" cy="603504"/>
          </a:xfrm>
          <a:prstGeom prst="roundRect">
            <a:avLst>
              <a:gd name="adj" fmla="val 10606"/>
            </a:avLst>
          </a:prstGeom>
          <a:solidFill>
            <a:srgbClr val="F1F4F8"/>
          </a:solidFill>
          <a:ln w="9525">
            <a:solidFill>
              <a:srgbClr val="E6ECF3"/>
            </a:solidFill>
            <a:prstDash val="solid"/>
          </a:ln>
        </p:spPr>
      </p:sp>
      <p:sp>
        <p:nvSpPr>
          <p:cNvPr id="39" name="Shape 37"/>
          <p:cNvSpPr/>
          <p:nvPr/>
        </p:nvSpPr>
        <p:spPr>
          <a:xfrm>
            <a:off x="649224" y="3035808"/>
            <a:ext cx="749808" cy="237744"/>
          </a:xfrm>
          <a:prstGeom prst="roundRect">
            <a:avLst>
              <a:gd name="adj" fmla="val 50000"/>
            </a:avLst>
          </a:prstGeom>
          <a:solidFill>
            <a:srgbClr val="9E2A2B"/>
          </a:solidFill>
          <a:ln w="6350">
            <a:solidFill>
              <a:srgbClr val="9E2A2B"/>
            </a:solidFill>
            <a:prstDash val="solid"/>
          </a:ln>
        </p:spPr>
      </p:sp>
      <p:sp>
        <p:nvSpPr>
          <p:cNvPr id="40" name="Text 38"/>
          <p:cNvSpPr/>
          <p:nvPr/>
        </p:nvSpPr>
        <p:spPr>
          <a:xfrm>
            <a:off x="649224" y="3035808"/>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41" name="Text 39"/>
          <p:cNvSpPr/>
          <p:nvPr/>
        </p:nvSpPr>
        <p:spPr>
          <a:xfrm>
            <a:off x="1527048" y="2907792"/>
            <a:ext cx="457200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Three of five experiment families have no code.</a:t>
            </a:r>
            <a:endParaRPr lang="en-US" sz="1050" dirty="0"/>
          </a:p>
        </p:txBody>
      </p:sp>
      <p:sp>
        <p:nvSpPr>
          <p:cNvPr id="42" name="Text 40"/>
          <p:cNvSpPr/>
          <p:nvPr/>
        </p:nvSpPr>
        <p:spPr>
          <a:xfrm>
            <a:off x="1527048" y="3154680"/>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No cold-start/logP split, no adversarial-control shuffling, no baselines, no concatenation ablation — Figs. 5–8 have no code path.</a:t>
            </a:r>
            <a:endParaRPr lang="en-US" sz="880" dirty="0"/>
          </a:p>
        </p:txBody>
      </p:sp>
      <p:sp>
        <p:nvSpPr>
          <p:cNvPr id="43" name="Shape 41"/>
          <p:cNvSpPr/>
          <p:nvPr/>
        </p:nvSpPr>
        <p:spPr>
          <a:xfrm>
            <a:off x="502920" y="3529584"/>
            <a:ext cx="11185855" cy="603504"/>
          </a:xfrm>
          <a:prstGeom prst="roundRect">
            <a:avLst>
              <a:gd name="adj" fmla="val 10606"/>
            </a:avLst>
          </a:prstGeom>
          <a:solidFill>
            <a:srgbClr val="F1F4F8"/>
          </a:solidFill>
          <a:ln w="9525">
            <a:solidFill>
              <a:srgbClr val="E6ECF3"/>
            </a:solidFill>
            <a:prstDash val="solid"/>
          </a:ln>
        </p:spPr>
      </p:sp>
      <p:sp>
        <p:nvSpPr>
          <p:cNvPr id="44" name="Shape 42"/>
          <p:cNvSpPr/>
          <p:nvPr/>
        </p:nvSpPr>
        <p:spPr>
          <a:xfrm>
            <a:off x="649224" y="3712464"/>
            <a:ext cx="749808" cy="237744"/>
          </a:xfrm>
          <a:prstGeom prst="roundRect">
            <a:avLst>
              <a:gd name="adj" fmla="val 50000"/>
            </a:avLst>
          </a:prstGeom>
          <a:solidFill>
            <a:srgbClr val="9E2A2B"/>
          </a:solidFill>
          <a:ln w="6350">
            <a:solidFill>
              <a:srgbClr val="9E2A2B"/>
            </a:solidFill>
            <a:prstDash val="solid"/>
          </a:ln>
        </p:spPr>
      </p:sp>
      <p:sp>
        <p:nvSpPr>
          <p:cNvPr id="45" name="Text 43"/>
          <p:cNvSpPr/>
          <p:nvPr/>
        </p:nvSpPr>
        <p:spPr>
          <a:xfrm>
            <a:off x="649224" y="3712464"/>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46" name="Text 44"/>
          <p:cNvSpPr/>
          <p:nvPr/>
        </p:nvSpPr>
        <p:spPr>
          <a:xfrm>
            <a:off x="1527048" y="3584448"/>
            <a:ext cx="457200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Reported CI is not the paper’s equation.</a:t>
            </a:r>
            <a:endParaRPr lang="en-US" sz="1050" dirty="0"/>
          </a:p>
        </p:txBody>
      </p:sp>
      <p:sp>
        <p:nvSpPr>
          <p:cNvPr id="47" name="Text 45"/>
          <p:cNvSpPr/>
          <p:nvPr/>
        </p:nvSpPr>
        <p:spPr>
          <a:xfrm>
            <a:off x="1527048" y="3831336"/>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The exact CI in emetrics.py is never imported. The reported value is a Keras per-batch metric averaged across batches.</a:t>
            </a:r>
            <a:endParaRPr lang="en-US" sz="880" dirty="0"/>
          </a:p>
        </p:txBody>
      </p:sp>
      <p:sp>
        <p:nvSpPr>
          <p:cNvPr id="48" name="Shape 46"/>
          <p:cNvSpPr/>
          <p:nvPr/>
        </p:nvSpPr>
        <p:spPr>
          <a:xfrm>
            <a:off x="502920" y="4206240"/>
            <a:ext cx="11185855" cy="603504"/>
          </a:xfrm>
          <a:prstGeom prst="roundRect">
            <a:avLst>
              <a:gd name="adj" fmla="val 10606"/>
            </a:avLst>
          </a:prstGeom>
          <a:solidFill>
            <a:srgbClr val="F1F4F8"/>
          </a:solidFill>
          <a:ln w="9525">
            <a:solidFill>
              <a:srgbClr val="E6ECF3"/>
            </a:solidFill>
            <a:prstDash val="solid"/>
          </a:ln>
        </p:spPr>
      </p:sp>
      <p:sp>
        <p:nvSpPr>
          <p:cNvPr id="49" name="Shape 47"/>
          <p:cNvSpPr/>
          <p:nvPr/>
        </p:nvSpPr>
        <p:spPr>
          <a:xfrm>
            <a:off x="649224" y="4389120"/>
            <a:ext cx="749808" cy="237744"/>
          </a:xfrm>
          <a:prstGeom prst="roundRect">
            <a:avLst>
              <a:gd name="adj" fmla="val 50000"/>
            </a:avLst>
          </a:prstGeom>
          <a:solidFill>
            <a:srgbClr val="C77D14"/>
          </a:solidFill>
          <a:ln w="6350">
            <a:solidFill>
              <a:srgbClr val="C77D14"/>
            </a:solidFill>
            <a:prstDash val="solid"/>
          </a:ln>
        </p:spPr>
      </p:sp>
      <p:sp>
        <p:nvSpPr>
          <p:cNvPr id="50" name="Text 48"/>
          <p:cNvSpPr/>
          <p:nvPr/>
        </p:nvSpPr>
        <p:spPr>
          <a:xfrm>
            <a:off x="649224" y="4389120"/>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51" name="Text 49"/>
          <p:cNvSpPr/>
          <p:nvPr/>
        </p:nvSpPr>
        <p:spPr>
          <a:xfrm>
            <a:off x="1527048" y="4261104"/>
            <a:ext cx="457200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BatchNorm is present in all three generators.</a:t>
            </a:r>
            <a:endParaRPr lang="en-US" sz="1050" dirty="0"/>
          </a:p>
        </p:txBody>
      </p:sp>
      <p:sp>
        <p:nvSpPr>
          <p:cNvPr id="52" name="Text 50"/>
          <p:cNvSpPr/>
          <p:nvPr/>
        </p:nvSpPr>
        <p:spPr>
          <a:xfrm>
            <a:off x="1527048" y="4507992"/>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The paper states explicitly, with justification, that BatchNorm was removed. It is absent from the discriminators only.</a:t>
            </a:r>
            <a:endParaRPr lang="en-US" sz="880" dirty="0"/>
          </a:p>
        </p:txBody>
      </p:sp>
      <p:sp>
        <p:nvSpPr>
          <p:cNvPr id="53" name="Shape 51"/>
          <p:cNvSpPr/>
          <p:nvPr/>
        </p:nvSpPr>
        <p:spPr>
          <a:xfrm>
            <a:off x="502920" y="4882896"/>
            <a:ext cx="11185855" cy="603504"/>
          </a:xfrm>
          <a:prstGeom prst="roundRect">
            <a:avLst>
              <a:gd name="adj" fmla="val 10606"/>
            </a:avLst>
          </a:prstGeom>
          <a:solidFill>
            <a:srgbClr val="F1F4F8"/>
          </a:solidFill>
          <a:ln w="9525">
            <a:solidFill>
              <a:srgbClr val="E6ECF3"/>
            </a:solidFill>
            <a:prstDash val="solid"/>
          </a:ln>
        </p:spPr>
      </p:sp>
      <p:sp>
        <p:nvSpPr>
          <p:cNvPr id="54" name="Shape 52"/>
          <p:cNvSpPr/>
          <p:nvPr/>
        </p:nvSpPr>
        <p:spPr>
          <a:xfrm>
            <a:off x="649224" y="5065776"/>
            <a:ext cx="749808" cy="237744"/>
          </a:xfrm>
          <a:prstGeom prst="roundRect">
            <a:avLst>
              <a:gd name="adj" fmla="val 50000"/>
            </a:avLst>
          </a:prstGeom>
          <a:solidFill>
            <a:srgbClr val="C77D14"/>
          </a:solidFill>
          <a:ln w="6350">
            <a:solidFill>
              <a:srgbClr val="C77D14"/>
            </a:solidFill>
            <a:prstDash val="solid"/>
          </a:ln>
        </p:spPr>
      </p:sp>
      <p:sp>
        <p:nvSpPr>
          <p:cNvPr id="55" name="Text 53"/>
          <p:cNvSpPr/>
          <p:nvPr/>
        </p:nvSpPr>
        <p:spPr>
          <a:xfrm>
            <a:off x="649224" y="5065776"/>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56" name="Text 54"/>
          <p:cNvSpPr/>
          <p:nvPr/>
        </p:nvSpPr>
        <p:spPr>
          <a:xfrm>
            <a:off x="1527048" y="4937760"/>
            <a:ext cx="457200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Model selection uses the test fold.</a:t>
            </a:r>
            <a:endParaRPr lang="en-US" sz="1050" dirty="0"/>
          </a:p>
        </p:txBody>
      </p:sp>
      <p:sp>
        <p:nvSpPr>
          <p:cNvPr id="57" name="Text 55"/>
          <p:cNvSpPr/>
          <p:nvPr/>
        </p:nvSpPr>
        <p:spPr>
          <a:xfrm>
            <a:off x="1527048" y="5184648"/>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The CV routine runs twice; the reported pass early-stops and picks the epoch on the test fold.</a:t>
            </a:r>
            <a:endParaRPr lang="en-US" sz="880" dirty="0"/>
          </a:p>
        </p:txBody>
      </p:sp>
      <p:sp>
        <p:nvSpPr>
          <p:cNvPr id="58" name="Shape 56"/>
          <p:cNvSpPr/>
          <p:nvPr/>
        </p:nvSpPr>
        <p:spPr>
          <a:xfrm>
            <a:off x="502920" y="5559552"/>
            <a:ext cx="11185855" cy="603504"/>
          </a:xfrm>
          <a:prstGeom prst="roundRect">
            <a:avLst>
              <a:gd name="adj" fmla="val 10606"/>
            </a:avLst>
          </a:prstGeom>
          <a:solidFill>
            <a:srgbClr val="F1F4F8"/>
          </a:solidFill>
          <a:ln w="9525">
            <a:solidFill>
              <a:srgbClr val="E6ECF3"/>
            </a:solidFill>
            <a:prstDash val="solid"/>
          </a:ln>
        </p:spPr>
      </p:sp>
      <p:sp>
        <p:nvSpPr>
          <p:cNvPr id="59" name="Shape 57"/>
          <p:cNvSpPr/>
          <p:nvPr/>
        </p:nvSpPr>
        <p:spPr>
          <a:xfrm>
            <a:off x="649224" y="5742432"/>
            <a:ext cx="749808" cy="237744"/>
          </a:xfrm>
          <a:prstGeom prst="roundRect">
            <a:avLst>
              <a:gd name="adj" fmla="val 50000"/>
            </a:avLst>
          </a:prstGeom>
          <a:solidFill>
            <a:srgbClr val="2F6F4E"/>
          </a:solidFill>
          <a:ln w="6350">
            <a:solidFill>
              <a:srgbClr val="2F6F4E"/>
            </a:solidFill>
            <a:prstDash val="solid"/>
          </a:ln>
        </p:spPr>
      </p:sp>
      <p:sp>
        <p:nvSpPr>
          <p:cNvPr id="60" name="Text 58"/>
          <p:cNvSpPr/>
          <p:nvPr/>
        </p:nvSpPr>
        <p:spPr>
          <a:xfrm>
            <a:off x="649224" y="5742432"/>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61" name="Text 59"/>
          <p:cNvSpPr/>
          <p:nvPr/>
        </p:nvSpPr>
        <p:spPr>
          <a:xfrm>
            <a:off x="1527048" y="5614416"/>
            <a:ext cx="457200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Dataset and folds match the paper exactly.</a:t>
            </a:r>
            <a:endParaRPr lang="en-US" sz="1050" dirty="0"/>
          </a:p>
        </p:txBody>
      </p:sp>
      <p:sp>
        <p:nvSpPr>
          <p:cNvPr id="62" name="Text 60"/>
          <p:cNvSpPr/>
          <p:nvPr/>
        </p:nvSpPr>
        <p:spPr>
          <a:xfrm>
            <a:off x="1527048" y="5861304"/>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Both matrices and all fold index sets reproduce the published counts — 42,203 and 5,014 pairs.</a:t>
            </a:r>
            <a:endParaRPr lang="en-US" sz="880" dirty="0"/>
          </a:p>
        </p:txBody>
      </p:sp>
      <p:sp>
        <p:nvSpPr>
          <p:cNvPr id="63" name="Shape 61"/>
          <p:cNvSpPr/>
          <p:nvPr/>
        </p:nvSpPr>
        <p:spPr>
          <a:xfrm>
            <a:off x="502920" y="6254496"/>
            <a:ext cx="11185855" cy="457200"/>
          </a:xfrm>
          <a:prstGeom prst="roundRect">
            <a:avLst>
              <a:gd name="adj" fmla="val 14000"/>
            </a:avLst>
          </a:prstGeom>
          <a:solidFill>
            <a:srgbClr val="14213D"/>
          </a:solidFill>
          <a:ln w="12700">
            <a:solidFill>
              <a:srgbClr val="14213D"/>
            </a:solidFill>
            <a:prstDash val="solid"/>
          </a:ln>
        </p:spPr>
      </p:sp>
      <p:sp>
        <p:nvSpPr>
          <p:cNvPr id="64" name="Text 62"/>
          <p:cNvSpPr/>
          <p:nvPr/>
        </p:nvSpPr>
        <p:spPr>
          <a:xfrm>
            <a:off x="722376" y="6254496"/>
            <a:ext cx="10746943" cy="457200"/>
          </a:xfrm>
          <a:prstGeom prst="rect">
            <a:avLst/>
          </a:prstGeom>
          <a:noFill/>
          <a:ln/>
        </p:spPr>
        <p:txBody>
          <a:bodyPr wrap="square" lIns="0" tIns="0" rIns="0" bIns="0" rtlCol="0" anchor="ctr"/>
          <a:lstStyle/>
          <a:p>
            <a:pPr indent="0" marL="0">
              <a:buNone/>
            </a:pPr>
            <a:r>
              <a:rPr lang="en-US" sz="1050" b="1" dirty="0">
                <a:solidFill>
                  <a:srgbClr val="FFB4A2"/>
                </a:solidFill>
                <a:latin typeface="Calibri" pitchFamily="34" charset="0"/>
                <a:ea typeface="Calibri" pitchFamily="34" charset="-122"/>
                <a:cs typeface="Calibri" pitchFamily="34" charset="-120"/>
              </a:rPr>
              <a:t>Traceability verdict: RED.   </a:t>
            </a:r>
            <a:pPr indent="0" marL="0">
              <a:buNone/>
            </a:pPr>
            <a:r>
              <a:rPr lang="en-US" sz="1050" dirty="0">
                <a:solidFill>
                  <a:srgbClr val="C8D4E6"/>
                </a:solidFill>
                <a:latin typeface="Calibri" pitchFamily="34" charset="0"/>
                <a:ea typeface="Calibri" pitchFamily="34" charset="-122"/>
                <a:cs typeface="Calibri" pitchFamily="34" charset="-120"/>
              </a:rPr>
              <a:t>Also resolved from code — FC widths are 1024/1024/512, matching the figure and contradicting the paper text and supplementary table.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PAPER AUDIT · ALL CLAIMS [PAPER]</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Co-VAE — What the Paper Proposes</a:t>
            </a:r>
            <a:endParaRPr lang="en-US" sz="3000" dirty="0"/>
          </a:p>
        </p:txBody>
      </p:sp>
      <p:sp>
        <p:nvSpPr>
          <p:cNvPr id="4" name="Shape 2"/>
          <p:cNvSpPr/>
          <p:nvPr/>
        </p:nvSpPr>
        <p:spPr>
          <a:xfrm>
            <a:off x="502920" y="1188720"/>
            <a:ext cx="6812280" cy="2651760"/>
          </a:xfrm>
          <a:prstGeom prst="roundRect">
            <a:avLst>
              <a:gd name="adj" fmla="val 2759"/>
            </a:avLst>
          </a:prstGeom>
          <a:solidFill>
            <a:srgbClr val="FFFFFF"/>
          </a:solidFill>
          <a:ln w="16510">
            <a:solidFill>
              <a:srgbClr val="6C4AB6"/>
            </a:solidFill>
            <a:prstDash val="solid"/>
          </a:ln>
        </p:spPr>
      </p:sp>
      <p:sp>
        <p:nvSpPr>
          <p:cNvPr id="5" name="Text 3"/>
          <p:cNvSpPr/>
          <p:nvPr/>
        </p:nvSpPr>
        <p:spPr>
          <a:xfrm>
            <a:off x="704088" y="1261872"/>
            <a:ext cx="6400800" cy="237744"/>
          </a:xfrm>
          <a:prstGeom prst="rect">
            <a:avLst/>
          </a:prstGeom>
          <a:noFill/>
          <a:ln/>
        </p:spPr>
        <p:txBody>
          <a:bodyPr wrap="square" lIns="0" tIns="0" rIns="0" bIns="0" rtlCol="0" anchor="ctr"/>
          <a:lstStyle/>
          <a:p>
            <a:pPr indent="0" marL="0">
              <a:buNone/>
            </a:pPr>
            <a:r>
              <a:rPr lang="en-US" sz="1100" b="1" dirty="0">
                <a:solidFill>
                  <a:srgbClr val="6C4AB6"/>
                </a:solidFill>
                <a:latin typeface="Calibri" pitchFamily="34" charset="0"/>
                <a:ea typeface="Calibri" pitchFamily="34" charset="-122"/>
                <a:cs typeface="Calibri" pitchFamily="34" charset="-120"/>
              </a:rPr>
              <a:t>Architecture (simplified, adapted from Fig. 4, p. 8866)</a:t>
            </a:r>
            <a:endParaRPr lang="en-US" sz="1100" dirty="0"/>
          </a:p>
        </p:txBody>
      </p:sp>
      <p:sp>
        <p:nvSpPr>
          <p:cNvPr id="6" name="Shape 4"/>
          <p:cNvSpPr/>
          <p:nvPr/>
        </p:nvSpPr>
        <p:spPr>
          <a:xfrm>
            <a:off x="1143000" y="1783080"/>
            <a:ext cx="1371600" cy="512064"/>
          </a:xfrm>
          <a:prstGeom prst="roundRect">
            <a:avLst>
              <a:gd name="adj" fmla="val 10714"/>
            </a:avLst>
          </a:prstGeom>
          <a:solidFill>
            <a:srgbClr val="F1F4F8"/>
          </a:solidFill>
          <a:ln w="11430">
            <a:solidFill>
              <a:srgbClr val="E6ECF3"/>
            </a:solidFill>
            <a:prstDash val="solid"/>
          </a:ln>
        </p:spPr>
      </p:sp>
      <p:sp>
        <p:nvSpPr>
          <p:cNvPr id="7" name="Text 5"/>
          <p:cNvSpPr/>
          <p:nvPr/>
        </p:nvSpPr>
        <p:spPr>
          <a:xfrm>
            <a:off x="1143000" y="1783080"/>
            <a:ext cx="1371600" cy="512064"/>
          </a:xfrm>
          <a:prstGeom prst="rect">
            <a:avLst/>
          </a:prstGeom>
          <a:noFill/>
          <a:ln/>
        </p:spPr>
        <p:txBody>
          <a:bodyPr wrap="square" lIns="0" tIns="0" rIns="0" bIns="0" rtlCol="0" anchor="ctr"/>
          <a:lstStyle/>
          <a:p>
            <a:pPr algn="ctr" indent="0" marL="0">
              <a:buNone/>
            </a:pPr>
            <a:r>
              <a:rPr lang="en-US" sz="850" b="1" dirty="0">
                <a:solidFill>
                  <a:srgbClr val="14213D"/>
                </a:solidFill>
                <a:latin typeface="Calibri" pitchFamily="34" charset="0"/>
                <a:ea typeface="Calibri" pitchFamily="34" charset="-122"/>
                <a:cs typeface="Calibri" pitchFamily="34" charset="-120"/>
              </a:rPr>
              <a:t>Drug SMILES</a:t>
            </a:r>
            <a:endParaRPr lang="en-US" sz="850" dirty="0"/>
          </a:p>
        </p:txBody>
      </p:sp>
      <p:sp>
        <p:nvSpPr>
          <p:cNvPr id="8" name="Shape 6"/>
          <p:cNvSpPr/>
          <p:nvPr/>
        </p:nvSpPr>
        <p:spPr>
          <a:xfrm>
            <a:off x="2532888" y="2039112"/>
            <a:ext cx="182880" cy="0"/>
          </a:xfrm>
          <a:prstGeom prst="line">
            <a:avLst/>
          </a:prstGeom>
          <a:noFill/>
          <a:ln w="19050">
            <a:solidFill>
              <a:srgbClr val="0E7C86"/>
            </a:solidFill>
            <a:prstDash val="solid"/>
            <a:tailEnd type="triangle"/>
          </a:ln>
        </p:spPr>
      </p:sp>
      <p:sp>
        <p:nvSpPr>
          <p:cNvPr id="9" name="Shape 7"/>
          <p:cNvSpPr/>
          <p:nvPr/>
        </p:nvSpPr>
        <p:spPr>
          <a:xfrm>
            <a:off x="2752344" y="1783080"/>
            <a:ext cx="1143000" cy="512064"/>
          </a:xfrm>
          <a:prstGeom prst="roundRect">
            <a:avLst>
              <a:gd name="adj" fmla="val 10714"/>
            </a:avLst>
          </a:prstGeom>
          <a:solidFill>
            <a:srgbClr val="0E7C86"/>
          </a:solidFill>
          <a:ln w="12700">
            <a:solidFill>
              <a:srgbClr val="0E7C86"/>
            </a:solidFill>
            <a:prstDash val="solid"/>
          </a:ln>
        </p:spPr>
      </p:sp>
      <p:sp>
        <p:nvSpPr>
          <p:cNvPr id="10" name="Text 8"/>
          <p:cNvSpPr/>
          <p:nvPr/>
        </p:nvSpPr>
        <p:spPr>
          <a:xfrm>
            <a:off x="2752344" y="1783080"/>
            <a:ext cx="1143000" cy="51206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Encoder</a:t>
            </a:r>
            <a:endParaRPr lang="en-US" sz="750" dirty="0"/>
          </a:p>
          <a:p>
            <a:pPr algn="ctr" indent="0" marL="0">
              <a:buNone/>
            </a:pPr>
            <a:r>
              <a:rPr lang="en-US" sz="750" b="1" dirty="0">
                <a:solidFill>
                  <a:srgbClr val="FFFFFF"/>
                </a:solidFill>
                <a:latin typeface="Calibri" pitchFamily="34" charset="0"/>
                <a:ea typeface="Calibri" pitchFamily="34" charset="-122"/>
                <a:cs typeface="Calibri" pitchFamily="34" charset="-120"/>
              </a:rPr>
              <a:t>GatedCNN</a:t>
            </a:r>
            <a:endParaRPr lang="en-US" sz="750" dirty="0"/>
          </a:p>
        </p:txBody>
      </p:sp>
      <p:sp>
        <p:nvSpPr>
          <p:cNvPr id="11" name="Shape 9"/>
          <p:cNvSpPr/>
          <p:nvPr/>
        </p:nvSpPr>
        <p:spPr>
          <a:xfrm>
            <a:off x="3913632" y="2039112"/>
            <a:ext cx="164592" cy="0"/>
          </a:xfrm>
          <a:prstGeom prst="line">
            <a:avLst/>
          </a:prstGeom>
          <a:noFill/>
          <a:ln w="19050">
            <a:solidFill>
              <a:srgbClr val="0E7C86"/>
            </a:solidFill>
            <a:prstDash val="solid"/>
            <a:tailEnd type="triangle"/>
          </a:ln>
        </p:spPr>
      </p:sp>
      <p:sp>
        <p:nvSpPr>
          <p:cNvPr id="12" name="Shape 10"/>
          <p:cNvSpPr/>
          <p:nvPr/>
        </p:nvSpPr>
        <p:spPr>
          <a:xfrm>
            <a:off x="4114800" y="1783080"/>
            <a:ext cx="749808" cy="512064"/>
          </a:xfrm>
          <a:prstGeom prst="roundRect">
            <a:avLst>
              <a:gd name="adj" fmla="val 10714"/>
            </a:avLst>
          </a:prstGeom>
          <a:solidFill>
            <a:srgbClr val="F1F4F8"/>
          </a:solidFill>
          <a:ln w="11430">
            <a:solidFill>
              <a:srgbClr val="0E7C86"/>
            </a:solidFill>
            <a:prstDash val="solid"/>
          </a:ln>
        </p:spPr>
      </p:sp>
      <p:sp>
        <p:nvSpPr>
          <p:cNvPr id="13" name="Text 11"/>
          <p:cNvSpPr/>
          <p:nvPr/>
        </p:nvSpPr>
        <p:spPr>
          <a:xfrm>
            <a:off x="4114800" y="1783080"/>
            <a:ext cx="749808" cy="512064"/>
          </a:xfrm>
          <a:prstGeom prst="rect">
            <a:avLst/>
          </a:prstGeom>
          <a:noFill/>
          <a:ln/>
        </p:spPr>
        <p:txBody>
          <a:bodyPr wrap="square" lIns="0" tIns="0" rIns="0" bIns="0" rtlCol="0" anchor="ctr"/>
          <a:lstStyle/>
          <a:p>
            <a:pPr algn="ctr" indent="0" marL="0">
              <a:buNone/>
            </a:pPr>
            <a:r>
              <a:rPr lang="en-US" sz="800" b="1" dirty="0">
                <a:solidFill>
                  <a:srgbClr val="14213D"/>
                </a:solidFill>
                <a:latin typeface="Calibri" pitchFamily="34" charset="0"/>
                <a:ea typeface="Calibri" pitchFamily="34" charset="-122"/>
                <a:cs typeface="Calibri" pitchFamily="34" charset="-120"/>
              </a:rPr>
              <a:t>μ, σ → z</a:t>
            </a:r>
            <a:endParaRPr lang="en-US" sz="800" dirty="0"/>
          </a:p>
        </p:txBody>
      </p:sp>
      <p:sp>
        <p:nvSpPr>
          <p:cNvPr id="14" name="Shape 12"/>
          <p:cNvSpPr/>
          <p:nvPr/>
        </p:nvSpPr>
        <p:spPr>
          <a:xfrm>
            <a:off x="4882896" y="2039112"/>
            <a:ext cx="164592" cy="0"/>
          </a:xfrm>
          <a:prstGeom prst="line">
            <a:avLst/>
          </a:prstGeom>
          <a:noFill/>
          <a:ln w="19050">
            <a:solidFill>
              <a:srgbClr val="0E7C86"/>
            </a:solidFill>
            <a:prstDash val="solid"/>
            <a:tailEnd type="triangle"/>
          </a:ln>
        </p:spPr>
      </p:sp>
      <p:sp>
        <p:nvSpPr>
          <p:cNvPr id="15" name="Shape 13"/>
          <p:cNvSpPr/>
          <p:nvPr/>
        </p:nvSpPr>
        <p:spPr>
          <a:xfrm>
            <a:off x="5084064" y="1783080"/>
            <a:ext cx="1143000" cy="512064"/>
          </a:xfrm>
          <a:prstGeom prst="roundRect">
            <a:avLst>
              <a:gd name="adj" fmla="val 10714"/>
            </a:avLst>
          </a:prstGeom>
          <a:solidFill>
            <a:srgbClr val="0E7C86"/>
          </a:solidFill>
          <a:ln w="12700">
            <a:solidFill>
              <a:srgbClr val="0E7C86"/>
            </a:solidFill>
            <a:prstDash val="solid"/>
          </a:ln>
        </p:spPr>
      </p:sp>
      <p:sp>
        <p:nvSpPr>
          <p:cNvPr id="16" name="Text 14"/>
          <p:cNvSpPr/>
          <p:nvPr/>
        </p:nvSpPr>
        <p:spPr>
          <a:xfrm>
            <a:off x="5084064" y="1783080"/>
            <a:ext cx="1143000" cy="51206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Decoder</a:t>
            </a:r>
            <a:endParaRPr lang="en-US" sz="750" dirty="0"/>
          </a:p>
          <a:p>
            <a:pPr algn="ctr" indent="0" marL="0">
              <a:buNone/>
            </a:pPr>
            <a:r>
              <a:rPr lang="en-US" sz="750" b="1" dirty="0">
                <a:solidFill>
                  <a:srgbClr val="FFFFFF"/>
                </a:solidFill>
                <a:latin typeface="Calibri" pitchFamily="34" charset="0"/>
                <a:ea typeface="Calibri" pitchFamily="34" charset="-122"/>
                <a:cs typeface="Calibri" pitchFamily="34" charset="-120"/>
              </a:rPr>
              <a:t>deconv</a:t>
            </a:r>
            <a:endParaRPr lang="en-US" sz="750" dirty="0"/>
          </a:p>
        </p:txBody>
      </p:sp>
      <p:sp>
        <p:nvSpPr>
          <p:cNvPr id="17" name="Text 15"/>
          <p:cNvSpPr/>
          <p:nvPr/>
        </p:nvSpPr>
        <p:spPr>
          <a:xfrm>
            <a:off x="6281928" y="1783080"/>
            <a:ext cx="914400" cy="512064"/>
          </a:xfrm>
          <a:prstGeom prst="rect">
            <a:avLst/>
          </a:prstGeom>
          <a:noFill/>
          <a:ln/>
        </p:spPr>
        <p:txBody>
          <a:bodyPr wrap="square" lIns="0" tIns="0" rIns="0" bIns="0" rtlCol="0" anchor="ctr"/>
          <a:lstStyle/>
          <a:p>
            <a:pPr indent="0" marL="0">
              <a:buNone/>
            </a:pPr>
            <a:r>
              <a:rPr lang="en-US" sz="750" dirty="0">
                <a:solidFill>
                  <a:srgbClr val="62708A"/>
                </a:solidFill>
                <a:latin typeface="Calibri" pitchFamily="34" charset="0"/>
                <a:ea typeface="Calibri" pitchFamily="34" charset="-122"/>
                <a:cs typeface="Calibri" pitchFamily="34" charset="-120"/>
              </a:rPr>
              <a:t>reconstruct</a:t>
            </a:r>
            <a:endParaRPr lang="en-US" sz="750" dirty="0"/>
          </a:p>
        </p:txBody>
      </p:sp>
      <p:sp>
        <p:nvSpPr>
          <p:cNvPr id="18" name="Shape 16"/>
          <p:cNvSpPr/>
          <p:nvPr/>
        </p:nvSpPr>
        <p:spPr>
          <a:xfrm>
            <a:off x="1143000" y="2514600"/>
            <a:ext cx="1371600" cy="512064"/>
          </a:xfrm>
          <a:prstGeom prst="roundRect">
            <a:avLst>
              <a:gd name="adj" fmla="val 10714"/>
            </a:avLst>
          </a:prstGeom>
          <a:solidFill>
            <a:srgbClr val="F1F4F8"/>
          </a:solidFill>
          <a:ln w="11430">
            <a:solidFill>
              <a:srgbClr val="E6ECF3"/>
            </a:solidFill>
            <a:prstDash val="solid"/>
          </a:ln>
        </p:spPr>
      </p:sp>
      <p:sp>
        <p:nvSpPr>
          <p:cNvPr id="19" name="Text 17"/>
          <p:cNvSpPr/>
          <p:nvPr/>
        </p:nvSpPr>
        <p:spPr>
          <a:xfrm>
            <a:off x="1143000" y="2514600"/>
            <a:ext cx="1371600" cy="512064"/>
          </a:xfrm>
          <a:prstGeom prst="rect">
            <a:avLst/>
          </a:prstGeom>
          <a:noFill/>
          <a:ln/>
        </p:spPr>
        <p:txBody>
          <a:bodyPr wrap="square" lIns="0" tIns="0" rIns="0" bIns="0" rtlCol="0" anchor="ctr"/>
          <a:lstStyle/>
          <a:p>
            <a:pPr algn="ctr" indent="0" marL="0">
              <a:buNone/>
            </a:pPr>
            <a:r>
              <a:rPr lang="en-US" sz="850" b="1" dirty="0">
                <a:solidFill>
                  <a:srgbClr val="14213D"/>
                </a:solidFill>
                <a:latin typeface="Calibri" pitchFamily="34" charset="0"/>
                <a:ea typeface="Calibri" pitchFamily="34" charset="-122"/>
                <a:cs typeface="Calibri" pitchFamily="34" charset="-120"/>
              </a:rPr>
              <a:t>Target sequence</a:t>
            </a:r>
            <a:endParaRPr lang="en-US" sz="850" dirty="0"/>
          </a:p>
        </p:txBody>
      </p:sp>
      <p:sp>
        <p:nvSpPr>
          <p:cNvPr id="20" name="Shape 18"/>
          <p:cNvSpPr/>
          <p:nvPr/>
        </p:nvSpPr>
        <p:spPr>
          <a:xfrm>
            <a:off x="2532888" y="2770632"/>
            <a:ext cx="182880" cy="0"/>
          </a:xfrm>
          <a:prstGeom prst="line">
            <a:avLst/>
          </a:prstGeom>
          <a:noFill/>
          <a:ln w="19050">
            <a:solidFill>
              <a:srgbClr val="6C4AB6"/>
            </a:solidFill>
            <a:prstDash val="solid"/>
            <a:tailEnd type="triangle"/>
          </a:ln>
        </p:spPr>
      </p:sp>
      <p:sp>
        <p:nvSpPr>
          <p:cNvPr id="21" name="Shape 19"/>
          <p:cNvSpPr/>
          <p:nvPr/>
        </p:nvSpPr>
        <p:spPr>
          <a:xfrm>
            <a:off x="2752344" y="2514600"/>
            <a:ext cx="1143000" cy="512064"/>
          </a:xfrm>
          <a:prstGeom prst="roundRect">
            <a:avLst>
              <a:gd name="adj" fmla="val 10714"/>
            </a:avLst>
          </a:prstGeom>
          <a:solidFill>
            <a:srgbClr val="6C4AB6"/>
          </a:solidFill>
          <a:ln w="12700">
            <a:solidFill>
              <a:srgbClr val="6C4AB6"/>
            </a:solidFill>
            <a:prstDash val="solid"/>
          </a:ln>
        </p:spPr>
      </p:sp>
      <p:sp>
        <p:nvSpPr>
          <p:cNvPr id="22" name="Text 20"/>
          <p:cNvSpPr/>
          <p:nvPr/>
        </p:nvSpPr>
        <p:spPr>
          <a:xfrm>
            <a:off x="2752344" y="2514600"/>
            <a:ext cx="1143000" cy="51206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Encoder</a:t>
            </a:r>
            <a:endParaRPr lang="en-US" sz="750" dirty="0"/>
          </a:p>
          <a:p>
            <a:pPr algn="ctr" indent="0" marL="0">
              <a:buNone/>
            </a:pPr>
            <a:r>
              <a:rPr lang="en-US" sz="750" b="1" dirty="0">
                <a:solidFill>
                  <a:srgbClr val="FFFFFF"/>
                </a:solidFill>
                <a:latin typeface="Calibri" pitchFamily="34" charset="0"/>
                <a:ea typeface="Calibri" pitchFamily="34" charset="-122"/>
                <a:cs typeface="Calibri" pitchFamily="34" charset="-120"/>
              </a:rPr>
              <a:t>GatedCNN</a:t>
            </a:r>
            <a:endParaRPr lang="en-US" sz="750" dirty="0"/>
          </a:p>
        </p:txBody>
      </p:sp>
      <p:sp>
        <p:nvSpPr>
          <p:cNvPr id="23" name="Shape 21"/>
          <p:cNvSpPr/>
          <p:nvPr/>
        </p:nvSpPr>
        <p:spPr>
          <a:xfrm>
            <a:off x="3913632" y="2770632"/>
            <a:ext cx="164592" cy="0"/>
          </a:xfrm>
          <a:prstGeom prst="line">
            <a:avLst/>
          </a:prstGeom>
          <a:noFill/>
          <a:ln w="19050">
            <a:solidFill>
              <a:srgbClr val="6C4AB6"/>
            </a:solidFill>
            <a:prstDash val="solid"/>
            <a:tailEnd type="triangle"/>
          </a:ln>
        </p:spPr>
      </p:sp>
      <p:sp>
        <p:nvSpPr>
          <p:cNvPr id="24" name="Shape 22"/>
          <p:cNvSpPr/>
          <p:nvPr/>
        </p:nvSpPr>
        <p:spPr>
          <a:xfrm>
            <a:off x="4114800" y="2514600"/>
            <a:ext cx="749808" cy="512064"/>
          </a:xfrm>
          <a:prstGeom prst="roundRect">
            <a:avLst>
              <a:gd name="adj" fmla="val 10714"/>
            </a:avLst>
          </a:prstGeom>
          <a:solidFill>
            <a:srgbClr val="F1F4F8"/>
          </a:solidFill>
          <a:ln w="11430">
            <a:solidFill>
              <a:srgbClr val="6C4AB6"/>
            </a:solidFill>
            <a:prstDash val="solid"/>
          </a:ln>
        </p:spPr>
      </p:sp>
      <p:sp>
        <p:nvSpPr>
          <p:cNvPr id="25" name="Text 23"/>
          <p:cNvSpPr/>
          <p:nvPr/>
        </p:nvSpPr>
        <p:spPr>
          <a:xfrm>
            <a:off x="4114800" y="2514600"/>
            <a:ext cx="749808" cy="512064"/>
          </a:xfrm>
          <a:prstGeom prst="rect">
            <a:avLst/>
          </a:prstGeom>
          <a:noFill/>
          <a:ln/>
        </p:spPr>
        <p:txBody>
          <a:bodyPr wrap="square" lIns="0" tIns="0" rIns="0" bIns="0" rtlCol="0" anchor="ctr"/>
          <a:lstStyle/>
          <a:p>
            <a:pPr algn="ctr" indent="0" marL="0">
              <a:buNone/>
            </a:pPr>
            <a:r>
              <a:rPr lang="en-US" sz="800" b="1" dirty="0">
                <a:solidFill>
                  <a:srgbClr val="14213D"/>
                </a:solidFill>
                <a:latin typeface="Calibri" pitchFamily="34" charset="0"/>
                <a:ea typeface="Calibri" pitchFamily="34" charset="-122"/>
                <a:cs typeface="Calibri" pitchFamily="34" charset="-120"/>
              </a:rPr>
              <a:t>μ, σ → z</a:t>
            </a:r>
            <a:endParaRPr lang="en-US" sz="800" dirty="0"/>
          </a:p>
        </p:txBody>
      </p:sp>
      <p:sp>
        <p:nvSpPr>
          <p:cNvPr id="26" name="Shape 24"/>
          <p:cNvSpPr/>
          <p:nvPr/>
        </p:nvSpPr>
        <p:spPr>
          <a:xfrm>
            <a:off x="4882896" y="2770632"/>
            <a:ext cx="164592" cy="0"/>
          </a:xfrm>
          <a:prstGeom prst="line">
            <a:avLst/>
          </a:prstGeom>
          <a:noFill/>
          <a:ln w="19050">
            <a:solidFill>
              <a:srgbClr val="6C4AB6"/>
            </a:solidFill>
            <a:prstDash val="solid"/>
            <a:tailEnd type="triangle"/>
          </a:ln>
        </p:spPr>
      </p:sp>
      <p:sp>
        <p:nvSpPr>
          <p:cNvPr id="27" name="Shape 25"/>
          <p:cNvSpPr/>
          <p:nvPr/>
        </p:nvSpPr>
        <p:spPr>
          <a:xfrm>
            <a:off x="5084064" y="2514600"/>
            <a:ext cx="1143000" cy="512064"/>
          </a:xfrm>
          <a:prstGeom prst="roundRect">
            <a:avLst>
              <a:gd name="adj" fmla="val 10714"/>
            </a:avLst>
          </a:prstGeom>
          <a:solidFill>
            <a:srgbClr val="6C4AB6"/>
          </a:solidFill>
          <a:ln w="12700">
            <a:solidFill>
              <a:srgbClr val="6C4AB6"/>
            </a:solidFill>
            <a:prstDash val="solid"/>
          </a:ln>
        </p:spPr>
      </p:sp>
      <p:sp>
        <p:nvSpPr>
          <p:cNvPr id="28" name="Text 26"/>
          <p:cNvSpPr/>
          <p:nvPr/>
        </p:nvSpPr>
        <p:spPr>
          <a:xfrm>
            <a:off x="5084064" y="2514600"/>
            <a:ext cx="1143000" cy="51206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Decoder</a:t>
            </a:r>
            <a:endParaRPr lang="en-US" sz="750" dirty="0"/>
          </a:p>
          <a:p>
            <a:pPr algn="ctr" indent="0" marL="0">
              <a:buNone/>
            </a:pPr>
            <a:r>
              <a:rPr lang="en-US" sz="750" b="1" dirty="0">
                <a:solidFill>
                  <a:srgbClr val="FFFFFF"/>
                </a:solidFill>
                <a:latin typeface="Calibri" pitchFamily="34" charset="0"/>
                <a:ea typeface="Calibri" pitchFamily="34" charset="-122"/>
                <a:cs typeface="Calibri" pitchFamily="34" charset="-120"/>
              </a:rPr>
              <a:t>deconv</a:t>
            </a:r>
            <a:endParaRPr lang="en-US" sz="750" dirty="0"/>
          </a:p>
        </p:txBody>
      </p:sp>
      <p:sp>
        <p:nvSpPr>
          <p:cNvPr id="29" name="Text 27"/>
          <p:cNvSpPr/>
          <p:nvPr/>
        </p:nvSpPr>
        <p:spPr>
          <a:xfrm>
            <a:off x="6281928" y="2514600"/>
            <a:ext cx="914400" cy="512064"/>
          </a:xfrm>
          <a:prstGeom prst="rect">
            <a:avLst/>
          </a:prstGeom>
          <a:noFill/>
          <a:ln/>
        </p:spPr>
        <p:txBody>
          <a:bodyPr wrap="square" lIns="0" tIns="0" rIns="0" bIns="0" rtlCol="0" anchor="ctr"/>
          <a:lstStyle/>
          <a:p>
            <a:pPr indent="0" marL="0">
              <a:buNone/>
            </a:pPr>
            <a:r>
              <a:rPr lang="en-US" sz="750" dirty="0">
                <a:solidFill>
                  <a:srgbClr val="62708A"/>
                </a:solidFill>
                <a:latin typeface="Calibri" pitchFamily="34" charset="0"/>
                <a:ea typeface="Calibri" pitchFamily="34" charset="-122"/>
                <a:cs typeface="Calibri" pitchFamily="34" charset="-120"/>
              </a:rPr>
              <a:t>reconstruct</a:t>
            </a:r>
            <a:endParaRPr lang="en-US" sz="750" dirty="0"/>
          </a:p>
        </p:txBody>
      </p:sp>
      <p:sp>
        <p:nvSpPr>
          <p:cNvPr id="30" name="Shape 28"/>
          <p:cNvSpPr/>
          <p:nvPr/>
        </p:nvSpPr>
        <p:spPr>
          <a:xfrm>
            <a:off x="3749040" y="3246120"/>
            <a:ext cx="2286000" cy="457200"/>
          </a:xfrm>
          <a:prstGeom prst="roundRect">
            <a:avLst>
              <a:gd name="adj" fmla="val 12000"/>
            </a:avLst>
          </a:prstGeom>
          <a:solidFill>
            <a:srgbClr val="14213D"/>
          </a:solidFill>
          <a:ln w="12700">
            <a:solidFill>
              <a:srgbClr val="14213D"/>
            </a:solidFill>
            <a:prstDash val="solid"/>
          </a:ln>
        </p:spPr>
      </p:sp>
      <p:sp>
        <p:nvSpPr>
          <p:cNvPr id="31" name="Text 29"/>
          <p:cNvSpPr/>
          <p:nvPr/>
        </p:nvSpPr>
        <p:spPr>
          <a:xfrm>
            <a:off x="3749040" y="3246120"/>
            <a:ext cx="22860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Reg block  →  affinity</a:t>
            </a:r>
            <a:endParaRPr lang="en-US" sz="900" dirty="0"/>
          </a:p>
        </p:txBody>
      </p:sp>
      <p:sp>
        <p:nvSpPr>
          <p:cNvPr id="32" name="Shape 30"/>
          <p:cNvSpPr/>
          <p:nvPr/>
        </p:nvSpPr>
        <p:spPr>
          <a:xfrm>
            <a:off x="4489704" y="3026664"/>
            <a:ext cx="0" cy="219456"/>
          </a:xfrm>
          <a:prstGeom prst="line">
            <a:avLst/>
          </a:prstGeom>
          <a:noFill/>
          <a:ln w="15240">
            <a:solidFill>
              <a:srgbClr val="62708A"/>
            </a:solidFill>
            <a:prstDash val="solid"/>
            <a:tailEnd type="triangle"/>
          </a:ln>
        </p:spPr>
      </p:sp>
      <p:sp>
        <p:nvSpPr>
          <p:cNvPr id="33" name="Shape 31"/>
          <p:cNvSpPr/>
          <p:nvPr/>
        </p:nvSpPr>
        <p:spPr>
          <a:xfrm>
            <a:off x="4489704" y="1600200"/>
            <a:ext cx="0" cy="182880"/>
          </a:xfrm>
          <a:prstGeom prst="line">
            <a:avLst/>
          </a:prstGeom>
          <a:noFill/>
          <a:ln w="15240">
            <a:solidFill>
              <a:srgbClr val="62708A"/>
            </a:solidFill>
            <a:prstDash val="solid"/>
          </a:ln>
        </p:spPr>
      </p:sp>
      <p:sp>
        <p:nvSpPr>
          <p:cNvPr id="34" name="Shape 32"/>
          <p:cNvSpPr/>
          <p:nvPr/>
        </p:nvSpPr>
        <p:spPr>
          <a:xfrm>
            <a:off x="914400" y="1600200"/>
            <a:ext cx="3575304" cy="0"/>
          </a:xfrm>
          <a:prstGeom prst="line">
            <a:avLst/>
          </a:prstGeom>
          <a:noFill/>
          <a:ln w="15240">
            <a:solidFill>
              <a:srgbClr val="62708A"/>
            </a:solidFill>
            <a:prstDash val="solid"/>
          </a:ln>
        </p:spPr>
      </p:sp>
      <p:sp>
        <p:nvSpPr>
          <p:cNvPr id="35" name="Shape 33"/>
          <p:cNvSpPr/>
          <p:nvPr/>
        </p:nvSpPr>
        <p:spPr>
          <a:xfrm>
            <a:off x="914400" y="1600200"/>
            <a:ext cx="0" cy="1874520"/>
          </a:xfrm>
          <a:prstGeom prst="line">
            <a:avLst/>
          </a:prstGeom>
          <a:noFill/>
          <a:ln w="15240">
            <a:solidFill>
              <a:srgbClr val="62708A"/>
            </a:solidFill>
            <a:prstDash val="solid"/>
          </a:ln>
        </p:spPr>
      </p:sp>
      <p:sp>
        <p:nvSpPr>
          <p:cNvPr id="36" name="Shape 34"/>
          <p:cNvSpPr/>
          <p:nvPr/>
        </p:nvSpPr>
        <p:spPr>
          <a:xfrm>
            <a:off x="914400" y="3474720"/>
            <a:ext cx="2834640" cy="0"/>
          </a:xfrm>
          <a:prstGeom prst="line">
            <a:avLst/>
          </a:prstGeom>
          <a:noFill/>
          <a:ln w="15240">
            <a:solidFill>
              <a:srgbClr val="62708A"/>
            </a:solidFill>
            <a:prstDash val="solid"/>
            <a:tailEnd type="triangle"/>
          </a:ln>
        </p:spPr>
      </p:sp>
      <p:sp>
        <p:nvSpPr>
          <p:cNvPr id="37" name="Shape 35"/>
          <p:cNvSpPr/>
          <p:nvPr/>
        </p:nvSpPr>
        <p:spPr>
          <a:xfrm>
            <a:off x="7607808" y="1188720"/>
            <a:ext cx="4069080" cy="932688"/>
          </a:xfrm>
          <a:prstGeom prst="roundRect">
            <a:avLst>
              <a:gd name="adj" fmla="val 6863"/>
            </a:avLst>
          </a:prstGeom>
          <a:solidFill>
            <a:srgbClr val="F1F4F8"/>
          </a:solidFill>
          <a:ln w="9525">
            <a:solidFill>
              <a:srgbClr val="E6ECF3"/>
            </a:solidFill>
            <a:prstDash val="solid"/>
          </a:ln>
        </p:spPr>
      </p:sp>
      <p:sp>
        <p:nvSpPr>
          <p:cNvPr id="38" name="Text 36"/>
          <p:cNvSpPr/>
          <p:nvPr/>
        </p:nvSpPr>
        <p:spPr>
          <a:xfrm>
            <a:off x="7772400" y="128016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Datasets</a:t>
            </a:r>
            <a:endParaRPr lang="en-US" sz="1100" dirty="0"/>
          </a:p>
        </p:txBody>
      </p:sp>
      <p:sp>
        <p:nvSpPr>
          <p:cNvPr id="39" name="Text 37"/>
          <p:cNvSpPr/>
          <p:nvPr/>
        </p:nvSpPr>
        <p:spPr>
          <a:xfrm>
            <a:off x="7772400" y="153619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Davis 68×442 (pKd)</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KIBA 2111×229, density 24.4%</a:t>
            </a:r>
            <a:endParaRPr lang="en-US" sz="900" dirty="0"/>
          </a:p>
        </p:txBody>
      </p:sp>
      <p:sp>
        <p:nvSpPr>
          <p:cNvPr id="40" name="Shape 38"/>
          <p:cNvSpPr/>
          <p:nvPr/>
        </p:nvSpPr>
        <p:spPr>
          <a:xfrm>
            <a:off x="7607808" y="2194560"/>
            <a:ext cx="4069080" cy="932688"/>
          </a:xfrm>
          <a:prstGeom prst="roundRect">
            <a:avLst>
              <a:gd name="adj" fmla="val 6863"/>
            </a:avLst>
          </a:prstGeom>
          <a:solidFill>
            <a:srgbClr val="F1F4F8"/>
          </a:solidFill>
          <a:ln w="9525">
            <a:solidFill>
              <a:srgbClr val="E6ECF3"/>
            </a:solidFill>
            <a:prstDash val="solid"/>
          </a:ln>
        </p:spPr>
      </p:sp>
      <p:sp>
        <p:nvSpPr>
          <p:cNvPr id="41" name="Text 39"/>
          <p:cNvSpPr/>
          <p:nvPr/>
        </p:nvSpPr>
        <p:spPr>
          <a:xfrm>
            <a:off x="7772400" y="228600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Representation</a:t>
            </a:r>
            <a:endParaRPr lang="en-US" sz="1100" dirty="0"/>
          </a:p>
        </p:txBody>
      </p:sp>
      <p:sp>
        <p:nvSpPr>
          <p:cNvPr id="42" name="Text 40"/>
          <p:cNvSpPr/>
          <p:nvPr/>
        </p:nvSpPr>
        <p:spPr>
          <a:xfrm>
            <a:off x="7772400" y="254203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Both sides: label encoding → embedding (128)</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64 SMILES chars, 25 protein chars</a:t>
            </a:r>
            <a:endParaRPr lang="en-US" sz="900" dirty="0"/>
          </a:p>
        </p:txBody>
      </p:sp>
      <p:sp>
        <p:nvSpPr>
          <p:cNvPr id="43" name="Shape 41"/>
          <p:cNvSpPr/>
          <p:nvPr/>
        </p:nvSpPr>
        <p:spPr>
          <a:xfrm>
            <a:off x="7607808" y="3200400"/>
            <a:ext cx="4069080" cy="932688"/>
          </a:xfrm>
          <a:prstGeom prst="roundRect">
            <a:avLst>
              <a:gd name="adj" fmla="val 6863"/>
            </a:avLst>
          </a:prstGeom>
          <a:solidFill>
            <a:srgbClr val="F1F4F8"/>
          </a:solidFill>
          <a:ln w="9525">
            <a:solidFill>
              <a:srgbClr val="E6ECF3"/>
            </a:solidFill>
            <a:prstDash val="solid"/>
          </a:ln>
        </p:spPr>
      </p:sp>
      <p:sp>
        <p:nvSpPr>
          <p:cNvPr id="44" name="Text 42"/>
          <p:cNvSpPr/>
          <p:nvPr/>
        </p:nvSpPr>
        <p:spPr>
          <a:xfrm>
            <a:off x="7772400" y="329184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Objective (Thm 2.1, Eq. 5)</a:t>
            </a:r>
            <a:endParaRPr lang="en-US" sz="1100" dirty="0"/>
          </a:p>
        </p:txBody>
      </p:sp>
      <p:sp>
        <p:nvSpPr>
          <p:cNvPr id="45" name="Text 43"/>
          <p:cNvSpPr/>
          <p:nvPr/>
        </p:nvSpPr>
        <p:spPr>
          <a:xfrm>
            <a:off x="7772400" y="354787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L = L_DrugVAE + L_TargetVAE + L_CoREG,</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maximised; co-regularisation weight λ ∈ {−3, −5}</a:t>
            </a:r>
            <a:endParaRPr lang="en-US" sz="900" dirty="0"/>
          </a:p>
        </p:txBody>
      </p:sp>
      <p:sp>
        <p:nvSpPr>
          <p:cNvPr id="46" name="Shape 44"/>
          <p:cNvSpPr/>
          <p:nvPr/>
        </p:nvSpPr>
        <p:spPr>
          <a:xfrm>
            <a:off x="7607808" y="4206240"/>
            <a:ext cx="4069080" cy="932688"/>
          </a:xfrm>
          <a:prstGeom prst="roundRect">
            <a:avLst>
              <a:gd name="adj" fmla="val 6863"/>
            </a:avLst>
          </a:prstGeom>
          <a:solidFill>
            <a:srgbClr val="F1F4F8"/>
          </a:solidFill>
          <a:ln w="9525">
            <a:solidFill>
              <a:srgbClr val="E6ECF3"/>
            </a:solidFill>
            <a:prstDash val="solid"/>
          </a:ln>
        </p:spPr>
      </p:sp>
      <p:sp>
        <p:nvSpPr>
          <p:cNvPr id="47" name="Text 45"/>
          <p:cNvSpPr/>
          <p:nvPr/>
        </p:nvSpPr>
        <p:spPr>
          <a:xfrm>
            <a:off x="7772400" y="429768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Protocol</a:t>
            </a:r>
            <a:endParaRPr lang="en-US" sz="1100" dirty="0"/>
          </a:p>
        </p:txBody>
      </p:sp>
      <p:sp>
        <p:nvSpPr>
          <p:cNvPr id="48" name="Text 46"/>
          <p:cNvSpPr/>
          <p:nvPr/>
        </p:nvSpPr>
        <p:spPr>
          <a:xfrm>
            <a:off x="7772400" y="455371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Six folds (5 train / 1 test); new-drug and</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new-target settings; ten random repetitions</a:t>
            </a:r>
            <a:endParaRPr lang="en-US" sz="900" dirty="0"/>
          </a:p>
        </p:txBody>
      </p:sp>
      <p:sp>
        <p:nvSpPr>
          <p:cNvPr id="49" name="Shape 47"/>
          <p:cNvSpPr/>
          <p:nvPr/>
        </p:nvSpPr>
        <p:spPr>
          <a:xfrm>
            <a:off x="7607808" y="5212080"/>
            <a:ext cx="4069080" cy="932688"/>
          </a:xfrm>
          <a:prstGeom prst="roundRect">
            <a:avLst>
              <a:gd name="adj" fmla="val 6863"/>
            </a:avLst>
          </a:prstGeom>
          <a:solidFill>
            <a:srgbClr val="F1F4F8"/>
          </a:solidFill>
          <a:ln w="9525">
            <a:solidFill>
              <a:srgbClr val="E6ECF3"/>
            </a:solidFill>
            <a:prstDash val="solid"/>
          </a:ln>
        </p:spPr>
      </p:sp>
      <p:sp>
        <p:nvSpPr>
          <p:cNvPr id="50" name="Text 48"/>
          <p:cNvSpPr/>
          <p:nvPr/>
        </p:nvSpPr>
        <p:spPr>
          <a:xfrm>
            <a:off x="7772400" y="5303520"/>
            <a:ext cx="3739896" cy="237744"/>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Evaluation</a:t>
            </a:r>
            <a:endParaRPr lang="en-US" sz="1100" dirty="0"/>
          </a:p>
        </p:txBody>
      </p:sp>
      <p:sp>
        <p:nvSpPr>
          <p:cNvPr id="51" name="Text 49"/>
          <p:cNvSpPr/>
          <p:nvPr/>
        </p:nvSpPr>
        <p:spPr>
          <a:xfrm>
            <a:off x="7772400" y="5559552"/>
            <a:ext cx="3739896" cy="512064"/>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CI, MSE, MAE, r²m; AUC on KIBA only</a:t>
            </a:r>
            <a:endParaRPr lang="en-US" sz="900" dirty="0"/>
          </a:p>
          <a:p>
            <a:pPr indent="0" marL="0">
              <a:buNone/>
            </a:pPr>
            <a:r>
              <a:rPr lang="en-US" sz="900" dirty="0">
                <a:solidFill>
                  <a:srgbClr val="2B3A55"/>
                </a:solidFill>
                <a:latin typeface="Calibri" pitchFamily="34" charset="0"/>
                <a:ea typeface="Calibri" pitchFamily="34" charset="-122"/>
                <a:cs typeface="Calibri" pitchFamily="34" charset="-120"/>
              </a:rPr>
              <a:t>(threshold sweep 10.5–12.5)</a:t>
            </a:r>
            <a:endParaRPr lang="en-US" sz="900" dirty="0"/>
          </a:p>
        </p:txBody>
      </p:sp>
      <p:sp>
        <p:nvSpPr>
          <p:cNvPr id="52" name="Shape 50"/>
          <p:cNvSpPr/>
          <p:nvPr/>
        </p:nvSpPr>
        <p:spPr>
          <a:xfrm>
            <a:off x="502920" y="3931920"/>
            <a:ext cx="6812280" cy="1298448"/>
          </a:xfrm>
          <a:prstGeom prst="roundRect">
            <a:avLst>
              <a:gd name="adj" fmla="val 4930"/>
            </a:avLst>
          </a:prstGeom>
          <a:solidFill>
            <a:srgbClr val="F1F4F8"/>
          </a:solidFill>
          <a:ln w="9525">
            <a:solidFill>
              <a:srgbClr val="E6ECF3"/>
            </a:solidFill>
            <a:prstDash val="solid"/>
          </a:ln>
        </p:spPr>
      </p:sp>
      <p:sp>
        <p:nvSpPr>
          <p:cNvPr id="53" name="Text 51"/>
          <p:cNvSpPr/>
          <p:nvPr/>
        </p:nvSpPr>
        <p:spPr>
          <a:xfrm>
            <a:off x="722376" y="3931920"/>
            <a:ext cx="6400800" cy="1298448"/>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Strong where DCGAN-DTA was weak.  </a:t>
            </a:r>
            <a:pPr indent="0" marL="0">
              <a:buNone/>
            </a:pPr>
            <a:r>
              <a:rPr lang="en-US" sz="1100" dirty="0">
                <a:solidFill>
                  <a:srgbClr val="2B3A55"/>
                </a:solidFill>
                <a:latin typeface="Calibri" pitchFamily="34" charset="0"/>
                <a:ea typeface="Calibri" pitchFamily="34" charset="-122"/>
                <a:cs typeface="Calibri" pitchFamily="34" charset="-120"/>
              </a:rPr>
              <a:t>The variational objective is derived formally, with priors, posterior family, reparameterisation and KL all stated. But the latent dimension is never given, λ’s sign is ambiguous, and a validation partition appears only in a figure caption — never in the protocol text.</a:t>
            </a:r>
            <a:endParaRPr lang="en-US" sz="1100" dirty="0"/>
          </a:p>
        </p:txBody>
      </p:sp>
      <p:sp>
        <p:nvSpPr>
          <p:cNvPr id="54" name="Text 52"/>
          <p:cNvSpPr/>
          <p:nvPr/>
        </p:nvSpPr>
        <p:spPr>
          <a:xfrm>
            <a:off x="502920" y="5394960"/>
            <a:ext cx="11185855" cy="457200"/>
          </a:xfrm>
          <a:prstGeom prst="rect">
            <a:avLst/>
          </a:prstGeom>
          <a:noFill/>
          <a:ln/>
        </p:spPr>
        <p:txBody>
          <a:bodyPr wrap="square" lIns="0" tIns="0" rIns="0" bIns="0" rtlCol="0" anchor="ctr"/>
          <a:lstStyle/>
          <a:p>
            <a:pPr indent="0" marL="0">
              <a:buNone/>
            </a:pPr>
            <a:r>
              <a:rPr lang="en-US" sz="850" i="1" dirty="0">
                <a:solidFill>
                  <a:srgbClr val="62708A"/>
                </a:solidFill>
                <a:latin typeface="Calibri" pitchFamily="34" charset="0"/>
                <a:ea typeface="Calibri" pitchFamily="34" charset="-122"/>
                <a:cs typeface="Calibri" pitchFamily="34" charset="-120"/>
              </a:rPr>
              <a:t>Li T., Zhao X.-M., Li L., “Co-VAE: Drug-Target Binding Affinity Prediction by Co-Regularized Variational Autoencoders,” IEEE TPAMI 44(12):8861–8873 (2022). DOI 10.1109/TPAMI.2021.3120428. Architecture diagram redrawn from Fig. 4; original figure not reproduced.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CODE AUDIT · READ-ONLY INSPECTION</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Co-VAE — What the Code Actually Contains</a:t>
            </a:r>
            <a:endParaRPr lang="en-US" sz="3000" dirty="0"/>
          </a:p>
        </p:txBody>
      </p:sp>
      <p:sp>
        <p:nvSpPr>
          <p:cNvPr id="4" name="Shape 2"/>
          <p:cNvSpPr/>
          <p:nvPr/>
        </p:nvSpPr>
        <p:spPr>
          <a:xfrm>
            <a:off x="502920" y="1188720"/>
            <a:ext cx="1810512" cy="786384"/>
          </a:xfrm>
          <a:prstGeom prst="roundRect">
            <a:avLst>
              <a:gd name="adj" fmla="val 6977"/>
            </a:avLst>
          </a:prstGeom>
          <a:solidFill>
            <a:srgbClr val="FFFFFF"/>
          </a:solidFill>
          <a:ln w="15240">
            <a:solidFill>
              <a:srgbClr val="C77D14"/>
            </a:solidFill>
            <a:prstDash val="solid"/>
          </a:ln>
        </p:spPr>
      </p:sp>
      <p:sp>
        <p:nvSpPr>
          <p:cNvPr id="5" name="Text 3"/>
          <p:cNvSpPr/>
          <p:nvPr/>
        </p:nvSpPr>
        <p:spPr>
          <a:xfrm>
            <a:off x="502920"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Data</a:t>
            </a:r>
            <a:endParaRPr lang="en-US" sz="1100" dirty="0"/>
          </a:p>
        </p:txBody>
      </p:sp>
      <p:sp>
        <p:nvSpPr>
          <p:cNvPr id="6" name="Text 4"/>
          <p:cNvSpPr/>
          <p:nvPr/>
        </p:nvSpPr>
        <p:spPr>
          <a:xfrm>
            <a:off x="502920" y="1554480"/>
            <a:ext cx="1810512" cy="237744"/>
          </a:xfrm>
          <a:prstGeom prst="rect">
            <a:avLst/>
          </a:prstGeom>
          <a:noFill/>
          <a:ln/>
        </p:spPr>
        <p:txBody>
          <a:bodyPr wrap="square" lIns="0" tIns="0" rIns="0" bIns="0" rtlCol="0" anchor="ctr"/>
          <a:lstStyle/>
          <a:p>
            <a:pPr algn="ctr" indent="0" marL="0">
              <a:buNone/>
            </a:pPr>
            <a:r>
              <a:rPr lang="en-US" sz="900" b="1" dirty="0">
                <a:solidFill>
                  <a:srgbClr val="C77D14"/>
                </a:solidFill>
                <a:latin typeface="Calibri" pitchFamily="34" charset="0"/>
                <a:ea typeface="Calibri" pitchFamily="34" charset="-122"/>
                <a:cs typeface="Calibri" pitchFamily="34" charset="-120"/>
              </a:rPr>
              <a:t>PARTIAL</a:t>
            </a:r>
            <a:endParaRPr lang="en-US" sz="900" dirty="0"/>
          </a:p>
        </p:txBody>
      </p:sp>
      <p:sp>
        <p:nvSpPr>
          <p:cNvPr id="7" name="Shape 5"/>
          <p:cNvSpPr/>
          <p:nvPr/>
        </p:nvSpPr>
        <p:spPr>
          <a:xfrm>
            <a:off x="2322576" y="1581912"/>
            <a:ext cx="109728" cy="0"/>
          </a:xfrm>
          <a:prstGeom prst="line">
            <a:avLst/>
          </a:prstGeom>
          <a:noFill/>
          <a:ln w="19050">
            <a:solidFill>
              <a:srgbClr val="62708A"/>
            </a:solidFill>
            <a:prstDash val="solid"/>
            <a:tailEnd type="triangle"/>
          </a:ln>
        </p:spPr>
      </p:sp>
      <p:sp>
        <p:nvSpPr>
          <p:cNvPr id="8" name="Shape 6"/>
          <p:cNvSpPr/>
          <p:nvPr/>
        </p:nvSpPr>
        <p:spPr>
          <a:xfrm>
            <a:off x="2441448" y="1188720"/>
            <a:ext cx="1810512" cy="786384"/>
          </a:xfrm>
          <a:prstGeom prst="roundRect">
            <a:avLst>
              <a:gd name="adj" fmla="val 6977"/>
            </a:avLst>
          </a:prstGeom>
          <a:solidFill>
            <a:srgbClr val="FFFFFF"/>
          </a:solidFill>
          <a:ln w="15240">
            <a:solidFill>
              <a:srgbClr val="9E2A2B"/>
            </a:solidFill>
            <a:prstDash val="solid"/>
          </a:ln>
        </p:spPr>
      </p:sp>
      <p:sp>
        <p:nvSpPr>
          <p:cNvPr id="9" name="Text 7"/>
          <p:cNvSpPr/>
          <p:nvPr/>
        </p:nvSpPr>
        <p:spPr>
          <a:xfrm>
            <a:off x="2441448"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Preprocessing</a:t>
            </a:r>
            <a:endParaRPr lang="en-US" sz="1100" dirty="0"/>
          </a:p>
        </p:txBody>
      </p:sp>
      <p:sp>
        <p:nvSpPr>
          <p:cNvPr id="10" name="Text 8"/>
          <p:cNvSpPr/>
          <p:nvPr/>
        </p:nvSpPr>
        <p:spPr>
          <a:xfrm>
            <a:off x="2441448" y="1554480"/>
            <a:ext cx="1810512" cy="237744"/>
          </a:xfrm>
          <a:prstGeom prst="rect">
            <a:avLst/>
          </a:prstGeom>
          <a:noFill/>
          <a:ln/>
        </p:spPr>
        <p:txBody>
          <a:bodyPr wrap="square" lIns="0" tIns="0" rIns="0" bIns="0" rtlCol="0" anchor="ctr"/>
          <a:lstStyle/>
          <a:p>
            <a:pPr algn="ctr" indent="0" marL="0">
              <a:buNone/>
            </a:pPr>
            <a:r>
              <a:rPr lang="en-US" sz="900" b="1" dirty="0">
                <a:solidFill>
                  <a:srgbClr val="9E2A2B"/>
                </a:solidFill>
                <a:latin typeface="Calibri" pitchFamily="34" charset="0"/>
                <a:ea typeface="Calibri" pitchFamily="34" charset="-122"/>
                <a:cs typeface="Calibri" pitchFamily="34" charset="-120"/>
              </a:rPr>
              <a:t>MISMATCH</a:t>
            </a:r>
            <a:endParaRPr lang="en-US" sz="900" dirty="0"/>
          </a:p>
        </p:txBody>
      </p:sp>
      <p:sp>
        <p:nvSpPr>
          <p:cNvPr id="11" name="Shape 9"/>
          <p:cNvSpPr/>
          <p:nvPr/>
        </p:nvSpPr>
        <p:spPr>
          <a:xfrm>
            <a:off x="4261104" y="1581912"/>
            <a:ext cx="109728" cy="0"/>
          </a:xfrm>
          <a:prstGeom prst="line">
            <a:avLst/>
          </a:prstGeom>
          <a:noFill/>
          <a:ln w="19050">
            <a:solidFill>
              <a:srgbClr val="62708A"/>
            </a:solidFill>
            <a:prstDash val="solid"/>
            <a:tailEnd type="triangle"/>
          </a:ln>
        </p:spPr>
      </p:sp>
      <p:sp>
        <p:nvSpPr>
          <p:cNvPr id="12" name="Shape 10"/>
          <p:cNvSpPr/>
          <p:nvPr/>
        </p:nvSpPr>
        <p:spPr>
          <a:xfrm>
            <a:off x="4379976" y="1188720"/>
            <a:ext cx="1810512" cy="786384"/>
          </a:xfrm>
          <a:prstGeom prst="roundRect">
            <a:avLst>
              <a:gd name="adj" fmla="val 6977"/>
            </a:avLst>
          </a:prstGeom>
          <a:solidFill>
            <a:srgbClr val="FFFFFF"/>
          </a:solidFill>
          <a:ln w="15240">
            <a:solidFill>
              <a:srgbClr val="2F6F4E"/>
            </a:solidFill>
            <a:prstDash val="solid"/>
          </a:ln>
        </p:spPr>
      </p:sp>
      <p:sp>
        <p:nvSpPr>
          <p:cNvPr id="13" name="Text 11"/>
          <p:cNvSpPr/>
          <p:nvPr/>
        </p:nvSpPr>
        <p:spPr>
          <a:xfrm>
            <a:off x="4379976"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Representation</a:t>
            </a:r>
            <a:endParaRPr lang="en-US" sz="1100" dirty="0"/>
          </a:p>
        </p:txBody>
      </p:sp>
      <p:sp>
        <p:nvSpPr>
          <p:cNvPr id="14" name="Text 12"/>
          <p:cNvSpPr/>
          <p:nvPr/>
        </p:nvSpPr>
        <p:spPr>
          <a:xfrm>
            <a:off x="4379976" y="1554480"/>
            <a:ext cx="1810512" cy="237744"/>
          </a:xfrm>
          <a:prstGeom prst="rect">
            <a:avLst/>
          </a:prstGeom>
          <a:noFill/>
          <a:ln/>
        </p:spPr>
        <p:txBody>
          <a:bodyPr wrap="square" lIns="0" tIns="0" rIns="0" bIns="0" rtlCol="0" anchor="ctr"/>
          <a:lstStyle/>
          <a:p>
            <a:pPr algn="ctr" indent="0" marL="0">
              <a:buNone/>
            </a:pPr>
            <a:r>
              <a:rPr lang="en-US" sz="900" b="1" dirty="0">
                <a:solidFill>
                  <a:srgbClr val="2F6F4E"/>
                </a:solidFill>
                <a:latin typeface="Calibri" pitchFamily="34" charset="0"/>
                <a:ea typeface="Calibri" pitchFamily="34" charset="-122"/>
                <a:cs typeface="Calibri" pitchFamily="34" charset="-120"/>
              </a:rPr>
              <a:t>MATCH</a:t>
            </a:r>
            <a:endParaRPr lang="en-US" sz="900" dirty="0"/>
          </a:p>
        </p:txBody>
      </p:sp>
      <p:sp>
        <p:nvSpPr>
          <p:cNvPr id="15" name="Shape 13"/>
          <p:cNvSpPr/>
          <p:nvPr/>
        </p:nvSpPr>
        <p:spPr>
          <a:xfrm>
            <a:off x="6199632" y="1581912"/>
            <a:ext cx="109728" cy="0"/>
          </a:xfrm>
          <a:prstGeom prst="line">
            <a:avLst/>
          </a:prstGeom>
          <a:noFill/>
          <a:ln w="19050">
            <a:solidFill>
              <a:srgbClr val="62708A"/>
            </a:solidFill>
            <a:prstDash val="solid"/>
            <a:tailEnd type="triangle"/>
          </a:ln>
        </p:spPr>
      </p:sp>
      <p:sp>
        <p:nvSpPr>
          <p:cNvPr id="16" name="Shape 14"/>
          <p:cNvSpPr/>
          <p:nvPr/>
        </p:nvSpPr>
        <p:spPr>
          <a:xfrm>
            <a:off x="6318504" y="1188720"/>
            <a:ext cx="1810512" cy="786384"/>
          </a:xfrm>
          <a:prstGeom prst="roundRect">
            <a:avLst>
              <a:gd name="adj" fmla="val 6977"/>
            </a:avLst>
          </a:prstGeom>
          <a:solidFill>
            <a:srgbClr val="FFFFFF"/>
          </a:solidFill>
          <a:ln w="15240">
            <a:solidFill>
              <a:srgbClr val="C77D14"/>
            </a:solidFill>
            <a:prstDash val="solid"/>
          </a:ln>
        </p:spPr>
      </p:sp>
      <p:sp>
        <p:nvSpPr>
          <p:cNvPr id="17" name="Text 15"/>
          <p:cNvSpPr/>
          <p:nvPr/>
        </p:nvSpPr>
        <p:spPr>
          <a:xfrm>
            <a:off x="6318504"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Model</a:t>
            </a:r>
            <a:endParaRPr lang="en-US" sz="1100" dirty="0"/>
          </a:p>
        </p:txBody>
      </p:sp>
      <p:sp>
        <p:nvSpPr>
          <p:cNvPr id="18" name="Text 16"/>
          <p:cNvSpPr/>
          <p:nvPr/>
        </p:nvSpPr>
        <p:spPr>
          <a:xfrm>
            <a:off x="6318504" y="1554480"/>
            <a:ext cx="1810512" cy="237744"/>
          </a:xfrm>
          <a:prstGeom prst="rect">
            <a:avLst/>
          </a:prstGeom>
          <a:noFill/>
          <a:ln/>
        </p:spPr>
        <p:txBody>
          <a:bodyPr wrap="square" lIns="0" tIns="0" rIns="0" bIns="0" rtlCol="0" anchor="ctr"/>
          <a:lstStyle/>
          <a:p>
            <a:pPr algn="ctr" indent="0" marL="0">
              <a:buNone/>
            </a:pPr>
            <a:r>
              <a:rPr lang="en-US" sz="900" b="1" dirty="0">
                <a:solidFill>
                  <a:srgbClr val="C77D14"/>
                </a:solidFill>
                <a:latin typeface="Calibri" pitchFamily="34" charset="0"/>
                <a:ea typeface="Calibri" pitchFamily="34" charset="-122"/>
                <a:cs typeface="Calibri" pitchFamily="34" charset="-120"/>
              </a:rPr>
              <a:t>PARTIAL</a:t>
            </a:r>
            <a:endParaRPr lang="en-US" sz="900" dirty="0"/>
          </a:p>
        </p:txBody>
      </p:sp>
      <p:sp>
        <p:nvSpPr>
          <p:cNvPr id="19" name="Shape 17"/>
          <p:cNvSpPr/>
          <p:nvPr/>
        </p:nvSpPr>
        <p:spPr>
          <a:xfrm>
            <a:off x="8138160" y="1581912"/>
            <a:ext cx="109728" cy="0"/>
          </a:xfrm>
          <a:prstGeom prst="line">
            <a:avLst/>
          </a:prstGeom>
          <a:noFill/>
          <a:ln w="19050">
            <a:solidFill>
              <a:srgbClr val="62708A"/>
            </a:solidFill>
            <a:prstDash val="solid"/>
            <a:tailEnd type="triangle"/>
          </a:ln>
        </p:spPr>
      </p:sp>
      <p:sp>
        <p:nvSpPr>
          <p:cNvPr id="20" name="Shape 18"/>
          <p:cNvSpPr/>
          <p:nvPr/>
        </p:nvSpPr>
        <p:spPr>
          <a:xfrm>
            <a:off x="8257032" y="1188720"/>
            <a:ext cx="1810512" cy="786384"/>
          </a:xfrm>
          <a:prstGeom prst="roundRect">
            <a:avLst>
              <a:gd name="adj" fmla="val 6977"/>
            </a:avLst>
          </a:prstGeom>
          <a:solidFill>
            <a:srgbClr val="FFFFFF"/>
          </a:solidFill>
          <a:ln w="15240">
            <a:solidFill>
              <a:srgbClr val="C77D14"/>
            </a:solidFill>
            <a:prstDash val="solid"/>
          </a:ln>
        </p:spPr>
      </p:sp>
      <p:sp>
        <p:nvSpPr>
          <p:cNvPr id="21" name="Text 19"/>
          <p:cNvSpPr/>
          <p:nvPr/>
        </p:nvSpPr>
        <p:spPr>
          <a:xfrm>
            <a:off x="8257032"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Training</a:t>
            </a:r>
            <a:endParaRPr lang="en-US" sz="1100" dirty="0"/>
          </a:p>
        </p:txBody>
      </p:sp>
      <p:sp>
        <p:nvSpPr>
          <p:cNvPr id="22" name="Text 20"/>
          <p:cNvSpPr/>
          <p:nvPr/>
        </p:nvSpPr>
        <p:spPr>
          <a:xfrm>
            <a:off x="8257032" y="1554480"/>
            <a:ext cx="1810512" cy="237744"/>
          </a:xfrm>
          <a:prstGeom prst="rect">
            <a:avLst/>
          </a:prstGeom>
          <a:noFill/>
          <a:ln/>
        </p:spPr>
        <p:txBody>
          <a:bodyPr wrap="square" lIns="0" tIns="0" rIns="0" bIns="0" rtlCol="0" anchor="ctr"/>
          <a:lstStyle/>
          <a:p>
            <a:pPr algn="ctr" indent="0" marL="0">
              <a:buNone/>
            </a:pPr>
            <a:r>
              <a:rPr lang="en-US" sz="900" b="1" dirty="0">
                <a:solidFill>
                  <a:srgbClr val="C77D14"/>
                </a:solidFill>
                <a:latin typeface="Calibri" pitchFamily="34" charset="0"/>
                <a:ea typeface="Calibri" pitchFamily="34" charset="-122"/>
                <a:cs typeface="Calibri" pitchFamily="34" charset="-120"/>
              </a:rPr>
              <a:t>PARTIAL</a:t>
            </a:r>
            <a:endParaRPr lang="en-US" sz="900" dirty="0"/>
          </a:p>
        </p:txBody>
      </p:sp>
      <p:sp>
        <p:nvSpPr>
          <p:cNvPr id="23" name="Shape 21"/>
          <p:cNvSpPr/>
          <p:nvPr/>
        </p:nvSpPr>
        <p:spPr>
          <a:xfrm>
            <a:off x="10076688" y="1581912"/>
            <a:ext cx="109728" cy="0"/>
          </a:xfrm>
          <a:prstGeom prst="line">
            <a:avLst/>
          </a:prstGeom>
          <a:noFill/>
          <a:ln w="19050">
            <a:solidFill>
              <a:srgbClr val="62708A"/>
            </a:solidFill>
            <a:prstDash val="solid"/>
            <a:tailEnd type="triangle"/>
          </a:ln>
        </p:spPr>
      </p:sp>
      <p:sp>
        <p:nvSpPr>
          <p:cNvPr id="24" name="Shape 22"/>
          <p:cNvSpPr/>
          <p:nvPr/>
        </p:nvSpPr>
        <p:spPr>
          <a:xfrm>
            <a:off x="10195560" y="1188720"/>
            <a:ext cx="1810512" cy="786384"/>
          </a:xfrm>
          <a:prstGeom prst="roundRect">
            <a:avLst>
              <a:gd name="adj" fmla="val 6977"/>
            </a:avLst>
          </a:prstGeom>
          <a:solidFill>
            <a:srgbClr val="FFFFFF"/>
          </a:solidFill>
          <a:ln w="15240">
            <a:solidFill>
              <a:srgbClr val="9E2A2B"/>
            </a:solidFill>
            <a:prstDash val="solid"/>
          </a:ln>
        </p:spPr>
      </p:sp>
      <p:sp>
        <p:nvSpPr>
          <p:cNvPr id="25" name="Text 23"/>
          <p:cNvSpPr/>
          <p:nvPr/>
        </p:nvSpPr>
        <p:spPr>
          <a:xfrm>
            <a:off x="10195560" y="1280160"/>
            <a:ext cx="1810512" cy="256032"/>
          </a:xfrm>
          <a:prstGeom prst="rect">
            <a:avLst/>
          </a:prstGeom>
          <a:noFill/>
          <a:ln/>
        </p:spPr>
        <p:txBody>
          <a:bodyPr wrap="square" lIns="0" tIns="0" rIns="0" bIns="0" rtlCol="0" anchor="ctr"/>
          <a:lstStyle/>
          <a:p>
            <a:pPr algn="ctr" indent="0" marL="0">
              <a:buNone/>
            </a:pPr>
            <a:r>
              <a:rPr lang="en-US" sz="1100" b="1" dirty="0">
                <a:solidFill>
                  <a:srgbClr val="14213D"/>
                </a:solidFill>
                <a:latin typeface="Calibri" pitchFamily="34" charset="0"/>
                <a:ea typeface="Calibri" pitchFamily="34" charset="-122"/>
                <a:cs typeface="Calibri" pitchFamily="34" charset="-120"/>
              </a:rPr>
              <a:t>Evaluation</a:t>
            </a:r>
            <a:endParaRPr lang="en-US" sz="1100" dirty="0"/>
          </a:p>
        </p:txBody>
      </p:sp>
      <p:sp>
        <p:nvSpPr>
          <p:cNvPr id="26" name="Text 24"/>
          <p:cNvSpPr/>
          <p:nvPr/>
        </p:nvSpPr>
        <p:spPr>
          <a:xfrm>
            <a:off x="10195560" y="1554480"/>
            <a:ext cx="1810512" cy="237744"/>
          </a:xfrm>
          <a:prstGeom prst="rect">
            <a:avLst/>
          </a:prstGeom>
          <a:noFill/>
          <a:ln/>
        </p:spPr>
        <p:txBody>
          <a:bodyPr wrap="square" lIns="0" tIns="0" rIns="0" bIns="0" rtlCol="0" anchor="ctr"/>
          <a:lstStyle/>
          <a:p>
            <a:pPr algn="ctr" indent="0" marL="0">
              <a:buNone/>
            </a:pPr>
            <a:r>
              <a:rPr lang="en-US" sz="900" b="1" dirty="0">
                <a:solidFill>
                  <a:srgbClr val="9E2A2B"/>
                </a:solidFill>
                <a:latin typeface="Calibri" pitchFamily="34" charset="0"/>
                <a:ea typeface="Calibri" pitchFamily="34" charset="-122"/>
                <a:cs typeface="Calibri" pitchFamily="34" charset="-120"/>
              </a:rPr>
              <a:t>MISMATCH</a:t>
            </a:r>
            <a:endParaRPr lang="en-US" sz="900" dirty="0"/>
          </a:p>
        </p:txBody>
      </p:sp>
      <p:sp>
        <p:nvSpPr>
          <p:cNvPr id="27" name="Shape 25"/>
          <p:cNvSpPr/>
          <p:nvPr/>
        </p:nvSpPr>
        <p:spPr>
          <a:xfrm>
            <a:off x="502920" y="2176272"/>
            <a:ext cx="11185855" cy="603504"/>
          </a:xfrm>
          <a:prstGeom prst="roundRect">
            <a:avLst>
              <a:gd name="adj" fmla="val 10606"/>
            </a:avLst>
          </a:prstGeom>
          <a:solidFill>
            <a:srgbClr val="F1F4F8"/>
          </a:solidFill>
          <a:ln w="9525">
            <a:solidFill>
              <a:srgbClr val="E6ECF3"/>
            </a:solidFill>
            <a:prstDash val="solid"/>
          </a:ln>
        </p:spPr>
      </p:sp>
      <p:sp>
        <p:nvSpPr>
          <p:cNvPr id="28" name="Shape 26"/>
          <p:cNvSpPr/>
          <p:nvPr/>
        </p:nvSpPr>
        <p:spPr>
          <a:xfrm>
            <a:off x="649224" y="2359152"/>
            <a:ext cx="749808" cy="237744"/>
          </a:xfrm>
          <a:prstGeom prst="roundRect">
            <a:avLst>
              <a:gd name="adj" fmla="val 50000"/>
            </a:avLst>
          </a:prstGeom>
          <a:solidFill>
            <a:srgbClr val="9E2A2B"/>
          </a:solidFill>
          <a:ln w="6350">
            <a:solidFill>
              <a:srgbClr val="9E2A2B"/>
            </a:solidFill>
            <a:prstDash val="solid"/>
          </a:ln>
        </p:spPr>
      </p:sp>
      <p:sp>
        <p:nvSpPr>
          <p:cNvPr id="29" name="Text 27"/>
          <p:cNvSpPr/>
          <p:nvPr/>
        </p:nvSpPr>
        <p:spPr>
          <a:xfrm>
            <a:off x="649224" y="2359152"/>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30" name="Text 28"/>
          <p:cNvSpPr/>
          <p:nvPr/>
        </p:nvSpPr>
        <p:spPr>
          <a:xfrm>
            <a:off x="1527048" y="2231136"/>
            <a:ext cx="585216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The KIBA matrix built at runtime is not the published one.</a:t>
            </a:r>
            <a:endParaRPr lang="en-US" sz="1050" dirty="0"/>
          </a:p>
        </p:txBody>
      </p:sp>
      <p:sp>
        <p:nvSpPr>
          <p:cNvPr id="31" name="Text 29"/>
          <p:cNvSpPr/>
          <p:nvPr/>
        </p:nvSpPr>
        <p:spPr>
          <a:xfrm>
            <a:off x="1527048" y="2478024"/>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Paper: 2111×229. Code produces 1954×217 with 109,296 pairs — an undocumented length filter runs on top of the already-filtered bundled files.</a:t>
            </a:r>
            <a:endParaRPr lang="en-US" sz="880" dirty="0"/>
          </a:p>
        </p:txBody>
      </p:sp>
      <p:sp>
        <p:nvSpPr>
          <p:cNvPr id="32" name="Shape 30"/>
          <p:cNvSpPr/>
          <p:nvPr/>
        </p:nvSpPr>
        <p:spPr>
          <a:xfrm>
            <a:off x="502920" y="2852928"/>
            <a:ext cx="11185855" cy="603504"/>
          </a:xfrm>
          <a:prstGeom prst="roundRect">
            <a:avLst>
              <a:gd name="adj" fmla="val 10606"/>
            </a:avLst>
          </a:prstGeom>
          <a:solidFill>
            <a:srgbClr val="F1F4F8"/>
          </a:solidFill>
          <a:ln w="9525">
            <a:solidFill>
              <a:srgbClr val="E6ECF3"/>
            </a:solidFill>
            <a:prstDash val="solid"/>
          </a:ln>
        </p:spPr>
      </p:sp>
      <p:sp>
        <p:nvSpPr>
          <p:cNvPr id="33" name="Shape 31"/>
          <p:cNvSpPr/>
          <p:nvPr/>
        </p:nvSpPr>
        <p:spPr>
          <a:xfrm>
            <a:off x="649224" y="3035808"/>
            <a:ext cx="749808" cy="237744"/>
          </a:xfrm>
          <a:prstGeom prst="roundRect">
            <a:avLst>
              <a:gd name="adj" fmla="val 50000"/>
            </a:avLst>
          </a:prstGeom>
          <a:solidFill>
            <a:srgbClr val="9E2A2B"/>
          </a:solidFill>
          <a:ln w="6350">
            <a:solidFill>
              <a:srgbClr val="9E2A2B"/>
            </a:solidFill>
            <a:prstDash val="solid"/>
          </a:ln>
        </p:spPr>
      </p:sp>
      <p:sp>
        <p:nvSpPr>
          <p:cNvPr id="34" name="Text 32"/>
          <p:cNvSpPr/>
          <p:nvPr/>
        </p:nvSpPr>
        <p:spPr>
          <a:xfrm>
            <a:off x="649224" y="3035808"/>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35" name="Text 33"/>
          <p:cNvSpPr/>
          <p:nvPr/>
        </p:nvSpPr>
        <p:spPr>
          <a:xfrm>
            <a:off x="1527048" y="2907792"/>
            <a:ext cx="585216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The paper’s KIBA affinity filter never runs.</a:t>
            </a:r>
            <a:endParaRPr lang="en-US" sz="1050" dirty="0"/>
          </a:p>
        </p:txBody>
      </p:sp>
      <p:sp>
        <p:nvSpPr>
          <p:cNvPr id="36" name="Text 34"/>
          <p:cNvSpPr/>
          <p:nvPr/>
        </p:nvSpPr>
        <p:spPr>
          <a:xfrm>
            <a:off x="1527048" y="3154680"/>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Runtime affinities still span 0.0–17.2, contradicting “removed pairs with affinity &lt; 10” and the paper’s own Fig. 5.</a:t>
            </a:r>
            <a:endParaRPr lang="en-US" sz="880" dirty="0"/>
          </a:p>
        </p:txBody>
      </p:sp>
      <p:sp>
        <p:nvSpPr>
          <p:cNvPr id="37" name="Shape 35"/>
          <p:cNvSpPr/>
          <p:nvPr/>
        </p:nvSpPr>
        <p:spPr>
          <a:xfrm>
            <a:off x="502920" y="3529584"/>
            <a:ext cx="11185855" cy="603504"/>
          </a:xfrm>
          <a:prstGeom prst="roundRect">
            <a:avLst>
              <a:gd name="adj" fmla="val 10606"/>
            </a:avLst>
          </a:prstGeom>
          <a:solidFill>
            <a:srgbClr val="F1F4F8"/>
          </a:solidFill>
          <a:ln w="9525">
            <a:solidFill>
              <a:srgbClr val="E6ECF3"/>
            </a:solidFill>
            <a:prstDash val="solid"/>
          </a:ln>
        </p:spPr>
      </p:sp>
      <p:sp>
        <p:nvSpPr>
          <p:cNvPr id="38" name="Shape 36"/>
          <p:cNvSpPr/>
          <p:nvPr/>
        </p:nvSpPr>
        <p:spPr>
          <a:xfrm>
            <a:off x="649224" y="3712464"/>
            <a:ext cx="749808" cy="237744"/>
          </a:xfrm>
          <a:prstGeom prst="roundRect">
            <a:avLst>
              <a:gd name="adj" fmla="val 50000"/>
            </a:avLst>
          </a:prstGeom>
          <a:solidFill>
            <a:srgbClr val="9E2A2B"/>
          </a:solidFill>
          <a:ln w="6350">
            <a:solidFill>
              <a:srgbClr val="9E2A2B"/>
            </a:solidFill>
            <a:prstDash val="solid"/>
          </a:ln>
        </p:spPr>
      </p:sp>
      <p:sp>
        <p:nvSpPr>
          <p:cNvPr id="39" name="Text 37"/>
          <p:cNvSpPr/>
          <p:nvPr/>
        </p:nvSpPr>
        <p:spPr>
          <a:xfrm>
            <a:off x="649224" y="3712464"/>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40" name="Text 38"/>
          <p:cNvSpPr/>
          <p:nvPr/>
        </p:nvSpPr>
        <p:spPr>
          <a:xfrm>
            <a:off x="1527048" y="3584448"/>
            <a:ext cx="585216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Hyperparameters, early stopping and reporting all use the test fold.</a:t>
            </a:r>
            <a:endParaRPr lang="en-US" sz="1050" dirty="0"/>
          </a:p>
        </p:txBody>
      </p:sp>
      <p:sp>
        <p:nvSpPr>
          <p:cNvPr id="41" name="Text 39"/>
          <p:cNvSpPr/>
          <p:nvPr/>
        </p:nvSpPr>
        <p:spPr>
          <a:xfrm>
            <a:off x="1527048" y="3831336"/>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val_sets is constructed and then discarded; test_sets is passed to both the grid search and the final evaluation.</a:t>
            </a:r>
            <a:endParaRPr lang="en-US" sz="880" dirty="0"/>
          </a:p>
        </p:txBody>
      </p:sp>
      <p:sp>
        <p:nvSpPr>
          <p:cNvPr id="42" name="Shape 40"/>
          <p:cNvSpPr/>
          <p:nvPr/>
        </p:nvSpPr>
        <p:spPr>
          <a:xfrm>
            <a:off x="502920" y="4206240"/>
            <a:ext cx="11185855" cy="603504"/>
          </a:xfrm>
          <a:prstGeom prst="roundRect">
            <a:avLst>
              <a:gd name="adj" fmla="val 10606"/>
            </a:avLst>
          </a:prstGeom>
          <a:solidFill>
            <a:srgbClr val="F1F4F8"/>
          </a:solidFill>
          <a:ln w="9525">
            <a:solidFill>
              <a:srgbClr val="E6ECF3"/>
            </a:solidFill>
            <a:prstDash val="solid"/>
          </a:ln>
        </p:spPr>
      </p:sp>
      <p:sp>
        <p:nvSpPr>
          <p:cNvPr id="43" name="Shape 41"/>
          <p:cNvSpPr/>
          <p:nvPr/>
        </p:nvSpPr>
        <p:spPr>
          <a:xfrm>
            <a:off x="649224" y="4389120"/>
            <a:ext cx="749808" cy="237744"/>
          </a:xfrm>
          <a:prstGeom prst="roundRect">
            <a:avLst>
              <a:gd name="adj" fmla="val 50000"/>
            </a:avLst>
          </a:prstGeom>
          <a:solidFill>
            <a:srgbClr val="C77D14"/>
          </a:solidFill>
          <a:ln w="6350">
            <a:solidFill>
              <a:srgbClr val="C77D14"/>
            </a:solidFill>
            <a:prstDash val="solid"/>
          </a:ln>
        </p:spPr>
      </p:sp>
      <p:sp>
        <p:nvSpPr>
          <p:cNvPr id="44" name="Text 42"/>
          <p:cNvSpPr/>
          <p:nvPr/>
        </p:nvSpPr>
        <p:spPr>
          <a:xfrm>
            <a:off x="649224" y="4389120"/>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45" name="Text 43"/>
          <p:cNvSpPr/>
          <p:nvPr/>
        </p:nvSpPr>
        <p:spPr>
          <a:xfrm>
            <a:off x="1527048" y="4261104"/>
            <a:ext cx="585216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One repetition, not ten; MAE never implemented.</a:t>
            </a:r>
            <a:endParaRPr lang="en-US" sz="1050" dirty="0"/>
          </a:p>
        </p:txBody>
      </p:sp>
      <p:sp>
        <p:nvSpPr>
          <p:cNvPr id="46" name="Text 44"/>
          <p:cNvSpPr/>
          <p:nvPr/>
        </p:nvSpPr>
        <p:spPr>
          <a:xfrm>
            <a:off x="1527048" y="4507992"/>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for i in range(1). MAE appears for every method in the paper’s Table 2 but has no implementation anywhere.</a:t>
            </a:r>
            <a:endParaRPr lang="en-US" sz="880" dirty="0"/>
          </a:p>
        </p:txBody>
      </p:sp>
      <p:sp>
        <p:nvSpPr>
          <p:cNvPr id="47" name="Shape 45"/>
          <p:cNvSpPr/>
          <p:nvPr/>
        </p:nvSpPr>
        <p:spPr>
          <a:xfrm>
            <a:off x="502920" y="4882896"/>
            <a:ext cx="11185855" cy="603504"/>
          </a:xfrm>
          <a:prstGeom prst="roundRect">
            <a:avLst>
              <a:gd name="adj" fmla="val 10606"/>
            </a:avLst>
          </a:prstGeom>
          <a:solidFill>
            <a:srgbClr val="F1F4F8"/>
          </a:solidFill>
          <a:ln w="9525">
            <a:solidFill>
              <a:srgbClr val="E6ECF3"/>
            </a:solidFill>
            <a:prstDash val="solid"/>
          </a:ln>
        </p:spPr>
      </p:sp>
      <p:sp>
        <p:nvSpPr>
          <p:cNvPr id="48" name="Shape 46"/>
          <p:cNvSpPr/>
          <p:nvPr/>
        </p:nvSpPr>
        <p:spPr>
          <a:xfrm>
            <a:off x="649224" y="5065776"/>
            <a:ext cx="749808" cy="237744"/>
          </a:xfrm>
          <a:prstGeom prst="roundRect">
            <a:avLst>
              <a:gd name="adj" fmla="val 50000"/>
            </a:avLst>
          </a:prstGeom>
          <a:solidFill>
            <a:srgbClr val="C77D14"/>
          </a:solidFill>
          <a:ln w="6350">
            <a:solidFill>
              <a:srgbClr val="C77D14"/>
            </a:solidFill>
            <a:prstDash val="solid"/>
          </a:ln>
        </p:spPr>
      </p:sp>
      <p:sp>
        <p:nvSpPr>
          <p:cNvPr id="49" name="Text 47"/>
          <p:cNvSpPr/>
          <p:nvPr/>
        </p:nvSpPr>
        <p:spPr>
          <a:xfrm>
            <a:off x="649224" y="5065776"/>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50" name="Text 48"/>
          <p:cNvSpPr/>
          <p:nvPr/>
        </p:nvSpPr>
        <p:spPr>
          <a:xfrm>
            <a:off x="1527048" y="4937760"/>
            <a:ext cx="585216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ε sampled at the wrong scale; average pooling, not max.</a:t>
            </a:r>
            <a:endParaRPr lang="en-US" sz="1050" dirty="0"/>
          </a:p>
        </p:txBody>
      </p:sp>
      <p:sp>
        <p:nvSpPr>
          <p:cNvPr id="51" name="Text 49"/>
          <p:cNvSpPr/>
          <p:nvPr/>
        </p:nvSpPr>
        <p:spPr>
          <a:xfrm>
            <a:off x="1527048" y="5184648"/>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normal_(0, 0.1) against a KL derived for N(0, I); AdaptiveAvgPool1d where the paper and figure say max-pooling.</a:t>
            </a:r>
            <a:endParaRPr lang="en-US" sz="880" dirty="0"/>
          </a:p>
        </p:txBody>
      </p:sp>
      <p:sp>
        <p:nvSpPr>
          <p:cNvPr id="52" name="Shape 50"/>
          <p:cNvSpPr/>
          <p:nvPr/>
        </p:nvSpPr>
        <p:spPr>
          <a:xfrm>
            <a:off x="502920" y="5559552"/>
            <a:ext cx="11185855" cy="603504"/>
          </a:xfrm>
          <a:prstGeom prst="roundRect">
            <a:avLst>
              <a:gd name="adj" fmla="val 10606"/>
            </a:avLst>
          </a:prstGeom>
          <a:solidFill>
            <a:srgbClr val="F1F4F8"/>
          </a:solidFill>
          <a:ln w="9525">
            <a:solidFill>
              <a:srgbClr val="E6ECF3"/>
            </a:solidFill>
            <a:prstDash val="solid"/>
          </a:ln>
        </p:spPr>
      </p:sp>
      <p:sp>
        <p:nvSpPr>
          <p:cNvPr id="53" name="Shape 51"/>
          <p:cNvSpPr/>
          <p:nvPr/>
        </p:nvSpPr>
        <p:spPr>
          <a:xfrm>
            <a:off x="649224" y="5742432"/>
            <a:ext cx="749808" cy="237744"/>
          </a:xfrm>
          <a:prstGeom prst="roundRect">
            <a:avLst>
              <a:gd name="adj" fmla="val 50000"/>
            </a:avLst>
          </a:prstGeom>
          <a:solidFill>
            <a:srgbClr val="2F6F4E"/>
          </a:solidFill>
          <a:ln w="6350">
            <a:solidFill>
              <a:srgbClr val="2F6F4E"/>
            </a:solidFill>
            <a:prstDash val="solid"/>
          </a:ln>
        </p:spPr>
      </p:sp>
      <p:sp>
        <p:nvSpPr>
          <p:cNvPr id="54" name="Text 52"/>
          <p:cNvSpPr/>
          <p:nvPr/>
        </p:nvSpPr>
        <p:spPr>
          <a:xfrm>
            <a:off x="649224" y="5742432"/>
            <a:ext cx="74980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VERIFIED</a:t>
            </a:r>
            <a:endParaRPr lang="en-US" sz="900" dirty="0"/>
          </a:p>
        </p:txBody>
      </p:sp>
      <p:sp>
        <p:nvSpPr>
          <p:cNvPr id="55" name="Text 53"/>
          <p:cNvSpPr/>
          <p:nvPr/>
        </p:nvSpPr>
        <p:spPr>
          <a:xfrm>
            <a:off x="1527048" y="5614416"/>
            <a:ext cx="5852160" cy="256032"/>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Code resolves what the paper left open.</a:t>
            </a:r>
            <a:endParaRPr lang="en-US" sz="1050" dirty="0"/>
          </a:p>
        </p:txBody>
      </p:sp>
      <p:sp>
        <p:nvSpPr>
          <p:cNvPr id="56" name="Text 54"/>
          <p:cNvSpPr/>
          <p:nvPr/>
        </p:nvSpPr>
        <p:spPr>
          <a:xfrm>
            <a:off x="1527048" y="5861304"/>
            <a:ext cx="10058400" cy="274320"/>
          </a:xfrm>
          <a:prstGeom prst="rect">
            <a:avLst/>
          </a:prstGeom>
          <a:noFill/>
          <a:ln/>
        </p:spPr>
        <p:txBody>
          <a:bodyPr wrap="square" lIns="0" tIns="0" rIns="0" bIns="0" rtlCol="0" anchor="ctr"/>
          <a:lstStyle/>
          <a:p>
            <a:pPr indent="0" marL="0">
              <a:buNone/>
            </a:pPr>
            <a:r>
              <a:rPr lang="en-US" sz="880" dirty="0">
                <a:solidFill>
                  <a:srgbClr val="2B3A55"/>
                </a:solidFill>
                <a:latin typeface="Calibri" pitchFamily="34" charset="0"/>
                <a:ea typeface="Calibri" pitchFamily="34" charset="-122"/>
                <a:cs typeface="Calibri" pitchFamily="34" charset="-120"/>
              </a:rPr>
              <a:t>λ is used as 10^λ, so the sign paradox does not occur; latent dimension is 96; FC widths are 96 / 192→1024→512→1.</a:t>
            </a:r>
            <a:endParaRPr lang="en-US" sz="880" dirty="0"/>
          </a:p>
        </p:txBody>
      </p:sp>
      <p:sp>
        <p:nvSpPr>
          <p:cNvPr id="57" name="Shape 55"/>
          <p:cNvSpPr/>
          <p:nvPr/>
        </p:nvSpPr>
        <p:spPr>
          <a:xfrm>
            <a:off x="502920" y="6254496"/>
            <a:ext cx="11185855" cy="457200"/>
          </a:xfrm>
          <a:prstGeom prst="roundRect">
            <a:avLst>
              <a:gd name="adj" fmla="val 14000"/>
            </a:avLst>
          </a:prstGeom>
          <a:solidFill>
            <a:srgbClr val="14213D"/>
          </a:solidFill>
          <a:ln w="12700">
            <a:solidFill>
              <a:srgbClr val="14213D"/>
            </a:solidFill>
            <a:prstDash val="solid"/>
          </a:ln>
        </p:spPr>
      </p:sp>
      <p:sp>
        <p:nvSpPr>
          <p:cNvPr id="58" name="Text 56"/>
          <p:cNvSpPr/>
          <p:nvPr/>
        </p:nvSpPr>
        <p:spPr>
          <a:xfrm>
            <a:off x="722376" y="6254496"/>
            <a:ext cx="10746943" cy="457200"/>
          </a:xfrm>
          <a:prstGeom prst="rect">
            <a:avLst/>
          </a:prstGeom>
          <a:noFill/>
          <a:ln/>
        </p:spPr>
        <p:txBody>
          <a:bodyPr wrap="square" lIns="0" tIns="0" rIns="0" bIns="0" rtlCol="0" anchor="ctr"/>
          <a:lstStyle/>
          <a:p>
            <a:pPr indent="0" marL="0">
              <a:buNone/>
            </a:pPr>
            <a:r>
              <a:rPr lang="en-US" sz="1050" b="1" dirty="0">
                <a:solidFill>
                  <a:srgbClr val="FFB4A2"/>
                </a:solidFill>
                <a:latin typeface="Calibri" pitchFamily="34" charset="0"/>
                <a:ea typeface="Calibri" pitchFamily="34" charset="-122"/>
                <a:cs typeface="Calibri" pitchFamily="34" charset="-120"/>
              </a:rPr>
              <a:t>Traceability verdict: RED.   </a:t>
            </a:r>
            <a:pPr indent="0" marL="0">
              <a:buNone/>
            </a:pPr>
            <a:r>
              <a:rPr lang="en-US" sz="1050" dirty="0">
                <a:solidFill>
                  <a:srgbClr val="C8D4E6"/>
                </a:solidFill>
                <a:latin typeface="Calibri" pitchFamily="34" charset="0"/>
                <a:ea typeface="Calibri" pitchFamily="34" charset="-122"/>
                <a:cs typeface="Calibri" pitchFamily="34" charset="-120"/>
              </a:rPr>
              <a:t>Three confirmed execution blockers: random.sample on a set (Python ≥ 3.11), --lamda omitted, and CUDA with no CPU fallback. Only Co-VAE is implemented — no baselines, no drug generation.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POPULATED ONLY FROM AUDITED EVIDENCE</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DCGAN-DTA vs Co-VAE — Audited Comparison</a:t>
            </a:r>
            <a:endParaRPr lang="en-US" sz="3000" dirty="0"/>
          </a:p>
        </p:txBody>
      </p:sp>
      <p:sp>
        <p:nvSpPr>
          <p:cNvPr id="4" name="Shape 2"/>
          <p:cNvSpPr/>
          <p:nvPr/>
        </p:nvSpPr>
        <p:spPr>
          <a:xfrm>
            <a:off x="502920" y="1170432"/>
            <a:ext cx="2331720" cy="365760"/>
          </a:xfrm>
          <a:prstGeom prst="rect">
            <a:avLst/>
          </a:prstGeom>
          <a:solidFill>
            <a:srgbClr val="14213D"/>
          </a:solidFill>
          <a:ln w="12700">
            <a:solidFill>
              <a:srgbClr val="14213D"/>
            </a:solidFill>
            <a:prstDash val="solid"/>
          </a:ln>
        </p:spPr>
      </p:sp>
      <p:sp>
        <p:nvSpPr>
          <p:cNvPr id="5" name="Shape 3"/>
          <p:cNvSpPr/>
          <p:nvPr/>
        </p:nvSpPr>
        <p:spPr>
          <a:xfrm>
            <a:off x="2834640" y="1170432"/>
            <a:ext cx="4425696" cy="365760"/>
          </a:xfrm>
          <a:prstGeom prst="rect">
            <a:avLst/>
          </a:prstGeom>
          <a:solidFill>
            <a:srgbClr val="0E7C86"/>
          </a:solidFill>
          <a:ln w="12700">
            <a:solidFill>
              <a:srgbClr val="0E7C86"/>
            </a:solidFill>
            <a:prstDash val="solid"/>
          </a:ln>
        </p:spPr>
      </p:sp>
      <p:sp>
        <p:nvSpPr>
          <p:cNvPr id="6" name="Shape 4"/>
          <p:cNvSpPr/>
          <p:nvPr/>
        </p:nvSpPr>
        <p:spPr>
          <a:xfrm>
            <a:off x="7260336" y="1170432"/>
            <a:ext cx="4425696" cy="365760"/>
          </a:xfrm>
          <a:prstGeom prst="rect">
            <a:avLst/>
          </a:prstGeom>
          <a:solidFill>
            <a:srgbClr val="6C4AB6"/>
          </a:solidFill>
          <a:ln w="12700">
            <a:solidFill>
              <a:srgbClr val="6C4AB6"/>
            </a:solidFill>
            <a:prstDash val="solid"/>
          </a:ln>
        </p:spPr>
      </p:sp>
      <p:sp>
        <p:nvSpPr>
          <p:cNvPr id="7" name="Text 5"/>
          <p:cNvSpPr/>
          <p:nvPr/>
        </p:nvSpPr>
        <p:spPr>
          <a:xfrm>
            <a:off x="612648" y="1170432"/>
            <a:ext cx="233172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p>
        </p:txBody>
      </p:sp>
      <p:sp>
        <p:nvSpPr>
          <p:cNvPr id="8" name="Text 6"/>
          <p:cNvSpPr/>
          <p:nvPr/>
        </p:nvSpPr>
        <p:spPr>
          <a:xfrm>
            <a:off x="2944368" y="1170432"/>
            <a:ext cx="4425696"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DCGAN-DTA</a:t>
            </a:r>
            <a:endParaRPr lang="en-US" sz="1050" dirty="0"/>
          </a:p>
        </p:txBody>
      </p:sp>
      <p:sp>
        <p:nvSpPr>
          <p:cNvPr id="9" name="Text 7"/>
          <p:cNvSpPr/>
          <p:nvPr/>
        </p:nvSpPr>
        <p:spPr>
          <a:xfrm>
            <a:off x="7370064" y="1170432"/>
            <a:ext cx="4425696"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Co-VAE</a:t>
            </a:r>
            <a:endParaRPr lang="en-US" sz="1050" dirty="0"/>
          </a:p>
        </p:txBody>
      </p:sp>
      <p:sp>
        <p:nvSpPr>
          <p:cNvPr id="10" name="Shape 8"/>
          <p:cNvSpPr/>
          <p:nvPr/>
        </p:nvSpPr>
        <p:spPr>
          <a:xfrm>
            <a:off x="502920" y="1536192"/>
            <a:ext cx="11183112" cy="397764"/>
          </a:xfrm>
          <a:prstGeom prst="rect">
            <a:avLst/>
          </a:prstGeom>
          <a:solidFill>
            <a:srgbClr val="FFFFFF"/>
          </a:solidFill>
          <a:ln w="6350">
            <a:solidFill>
              <a:srgbClr val="E6ECF3"/>
            </a:solidFill>
            <a:prstDash val="solid"/>
          </a:ln>
        </p:spPr>
      </p:sp>
      <p:sp>
        <p:nvSpPr>
          <p:cNvPr id="11" name="Text 9"/>
          <p:cNvSpPr/>
          <p:nvPr/>
        </p:nvSpPr>
        <p:spPr>
          <a:xfrm>
            <a:off x="612648" y="1536192"/>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Task</a:t>
            </a:r>
            <a:endParaRPr lang="en-US" sz="900" dirty="0"/>
          </a:p>
        </p:txBody>
      </p:sp>
      <p:sp>
        <p:nvSpPr>
          <p:cNvPr id="12" name="Text 10"/>
          <p:cNvSpPr/>
          <p:nvPr/>
        </p:nvSpPr>
        <p:spPr>
          <a:xfrm>
            <a:off x="2944368" y="1536192"/>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DTA regression on continuous affinity</a:t>
            </a:r>
            <a:endParaRPr lang="en-US" sz="850" dirty="0"/>
          </a:p>
        </p:txBody>
      </p:sp>
      <p:sp>
        <p:nvSpPr>
          <p:cNvPr id="13" name="Text 11"/>
          <p:cNvSpPr/>
          <p:nvPr/>
        </p:nvSpPr>
        <p:spPr>
          <a:xfrm>
            <a:off x="7370064" y="1536192"/>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DTA regression on continuous affinity</a:t>
            </a:r>
            <a:endParaRPr lang="en-US" sz="850" dirty="0"/>
          </a:p>
        </p:txBody>
      </p:sp>
      <p:sp>
        <p:nvSpPr>
          <p:cNvPr id="14" name="Shape 12"/>
          <p:cNvSpPr/>
          <p:nvPr/>
        </p:nvSpPr>
        <p:spPr>
          <a:xfrm>
            <a:off x="502920" y="1933956"/>
            <a:ext cx="11183112" cy="397764"/>
          </a:xfrm>
          <a:prstGeom prst="rect">
            <a:avLst/>
          </a:prstGeom>
          <a:solidFill>
            <a:srgbClr val="F1F4F8"/>
          </a:solidFill>
          <a:ln w="6350">
            <a:solidFill>
              <a:srgbClr val="E6ECF3"/>
            </a:solidFill>
            <a:prstDash val="solid"/>
          </a:ln>
        </p:spPr>
      </p:sp>
      <p:sp>
        <p:nvSpPr>
          <p:cNvPr id="15" name="Text 13"/>
          <p:cNvSpPr/>
          <p:nvPr/>
        </p:nvSpPr>
        <p:spPr>
          <a:xfrm>
            <a:off x="612648" y="1933956"/>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Model family</a:t>
            </a:r>
            <a:endParaRPr lang="en-US" sz="900" dirty="0"/>
          </a:p>
        </p:txBody>
      </p:sp>
      <p:sp>
        <p:nvSpPr>
          <p:cNvPr id="16" name="Text 14"/>
          <p:cNvSpPr/>
          <p:nvPr/>
        </p:nvSpPr>
        <p:spPr>
          <a:xfrm>
            <a:off x="2944368" y="1933956"/>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GAN (deep convolutional, adversarial)</a:t>
            </a:r>
            <a:endParaRPr lang="en-US" sz="850" dirty="0"/>
          </a:p>
        </p:txBody>
      </p:sp>
      <p:sp>
        <p:nvSpPr>
          <p:cNvPr id="17" name="Text 15"/>
          <p:cNvSpPr/>
          <p:nvPr/>
        </p:nvSpPr>
        <p:spPr>
          <a:xfrm>
            <a:off x="7370064" y="1933956"/>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VAE (co-regularised, latent-variable)</a:t>
            </a:r>
            <a:endParaRPr lang="en-US" sz="850" dirty="0"/>
          </a:p>
        </p:txBody>
      </p:sp>
      <p:sp>
        <p:nvSpPr>
          <p:cNvPr id="18" name="Shape 16"/>
          <p:cNvSpPr/>
          <p:nvPr/>
        </p:nvSpPr>
        <p:spPr>
          <a:xfrm>
            <a:off x="502920" y="2331720"/>
            <a:ext cx="11183112" cy="397764"/>
          </a:xfrm>
          <a:prstGeom prst="rect">
            <a:avLst/>
          </a:prstGeom>
          <a:solidFill>
            <a:srgbClr val="FFFFFF"/>
          </a:solidFill>
          <a:ln w="6350">
            <a:solidFill>
              <a:srgbClr val="E6ECF3"/>
            </a:solidFill>
            <a:prstDash val="solid"/>
          </a:ln>
        </p:spPr>
      </p:sp>
      <p:sp>
        <p:nvSpPr>
          <p:cNvPr id="19" name="Text 17"/>
          <p:cNvSpPr/>
          <p:nvPr/>
        </p:nvSpPr>
        <p:spPr>
          <a:xfrm>
            <a:off x="612648" y="2331720"/>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Main architecture</a:t>
            </a:r>
            <a:endParaRPr lang="en-US" sz="900" dirty="0"/>
          </a:p>
        </p:txBody>
      </p:sp>
      <p:sp>
        <p:nvSpPr>
          <p:cNvPr id="20" name="Text 18"/>
          <p:cNvSpPr/>
          <p:nvPr/>
        </p:nvSpPr>
        <p:spPr>
          <a:xfrm>
            <a:off x="2944368" y="2331720"/>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2 DCGANs → discriminator feature reuse → CNN → Add → FC</a:t>
            </a:r>
            <a:endParaRPr lang="en-US" sz="850" dirty="0"/>
          </a:p>
        </p:txBody>
      </p:sp>
      <p:sp>
        <p:nvSpPr>
          <p:cNvPr id="21" name="Text 19"/>
          <p:cNvSpPr/>
          <p:nvPr/>
        </p:nvSpPr>
        <p:spPr>
          <a:xfrm>
            <a:off x="7370064" y="2331720"/>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2 VAEs (GatedCNN enc / deconv dec) + regression block</a:t>
            </a:r>
            <a:endParaRPr lang="en-US" sz="850" dirty="0"/>
          </a:p>
        </p:txBody>
      </p:sp>
      <p:sp>
        <p:nvSpPr>
          <p:cNvPr id="22" name="Shape 20"/>
          <p:cNvSpPr/>
          <p:nvPr/>
        </p:nvSpPr>
        <p:spPr>
          <a:xfrm>
            <a:off x="502920" y="2729484"/>
            <a:ext cx="11183112" cy="397764"/>
          </a:xfrm>
          <a:prstGeom prst="rect">
            <a:avLst/>
          </a:prstGeom>
          <a:solidFill>
            <a:srgbClr val="F1F4F8"/>
          </a:solidFill>
          <a:ln w="6350">
            <a:solidFill>
              <a:srgbClr val="E6ECF3"/>
            </a:solidFill>
            <a:prstDash val="solid"/>
          </a:ln>
        </p:spPr>
      </p:sp>
      <p:sp>
        <p:nvSpPr>
          <p:cNvPr id="23" name="Text 21"/>
          <p:cNvSpPr/>
          <p:nvPr/>
        </p:nvSpPr>
        <p:spPr>
          <a:xfrm>
            <a:off x="612648" y="2729484"/>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Drug representation</a:t>
            </a:r>
            <a:endParaRPr lang="en-US" sz="900" dirty="0"/>
          </a:p>
        </p:txBody>
      </p:sp>
      <p:sp>
        <p:nvSpPr>
          <p:cNvPr id="24" name="Text 22"/>
          <p:cNvSpPr/>
          <p:nvPr/>
        </p:nvSpPr>
        <p:spPr>
          <a:xfrm>
            <a:off x="2944368" y="2729484"/>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SMILES → label encoding → embedding (32)</a:t>
            </a:r>
            <a:endParaRPr lang="en-US" sz="850" dirty="0"/>
          </a:p>
        </p:txBody>
      </p:sp>
      <p:sp>
        <p:nvSpPr>
          <p:cNvPr id="25" name="Text 23"/>
          <p:cNvSpPr/>
          <p:nvPr/>
        </p:nvSpPr>
        <p:spPr>
          <a:xfrm>
            <a:off x="7370064" y="2729484"/>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SMILES → label encoding → embedding (128)</a:t>
            </a:r>
            <a:endParaRPr lang="en-US" sz="850" dirty="0"/>
          </a:p>
        </p:txBody>
      </p:sp>
      <p:sp>
        <p:nvSpPr>
          <p:cNvPr id="26" name="Shape 24"/>
          <p:cNvSpPr/>
          <p:nvPr/>
        </p:nvSpPr>
        <p:spPr>
          <a:xfrm>
            <a:off x="502920" y="3127248"/>
            <a:ext cx="11183112" cy="397764"/>
          </a:xfrm>
          <a:prstGeom prst="rect">
            <a:avLst/>
          </a:prstGeom>
          <a:solidFill>
            <a:srgbClr val="FFFFFF"/>
          </a:solidFill>
          <a:ln w="6350">
            <a:solidFill>
              <a:srgbClr val="E6ECF3"/>
            </a:solidFill>
            <a:prstDash val="solid"/>
          </a:ln>
        </p:spPr>
      </p:sp>
      <p:sp>
        <p:nvSpPr>
          <p:cNvPr id="27" name="Text 25"/>
          <p:cNvSpPr/>
          <p:nvPr/>
        </p:nvSpPr>
        <p:spPr>
          <a:xfrm>
            <a:off x="612648" y="3127248"/>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Target representation</a:t>
            </a:r>
            <a:endParaRPr lang="en-US" sz="900" dirty="0"/>
          </a:p>
        </p:txBody>
      </p:sp>
      <p:sp>
        <p:nvSpPr>
          <p:cNvPr id="28" name="Text 26"/>
          <p:cNvSpPr/>
          <p:nvPr/>
        </p:nvSpPr>
        <p:spPr>
          <a:xfrm>
            <a:off x="2944368" y="3127248"/>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Label encoding (A) or BLOSUM — 20-dim in code, 25 claimed</a:t>
            </a:r>
            <a:endParaRPr lang="en-US" sz="850" dirty="0"/>
          </a:p>
        </p:txBody>
      </p:sp>
      <p:sp>
        <p:nvSpPr>
          <p:cNvPr id="29" name="Text 27"/>
          <p:cNvSpPr/>
          <p:nvPr/>
        </p:nvSpPr>
        <p:spPr>
          <a:xfrm>
            <a:off x="7370064" y="3127248"/>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Label encoding → embedding (128)</a:t>
            </a:r>
            <a:endParaRPr lang="en-US" sz="850" dirty="0"/>
          </a:p>
        </p:txBody>
      </p:sp>
      <p:sp>
        <p:nvSpPr>
          <p:cNvPr id="30" name="Shape 28"/>
          <p:cNvSpPr/>
          <p:nvPr/>
        </p:nvSpPr>
        <p:spPr>
          <a:xfrm>
            <a:off x="502920" y="3525012"/>
            <a:ext cx="11183112" cy="397764"/>
          </a:xfrm>
          <a:prstGeom prst="rect">
            <a:avLst/>
          </a:prstGeom>
          <a:solidFill>
            <a:srgbClr val="F1F4F8"/>
          </a:solidFill>
          <a:ln w="6350">
            <a:solidFill>
              <a:srgbClr val="E6ECF3"/>
            </a:solidFill>
            <a:prstDash val="solid"/>
          </a:ln>
        </p:spPr>
      </p:sp>
      <p:sp>
        <p:nvSpPr>
          <p:cNvPr id="31" name="Text 29"/>
          <p:cNvSpPr/>
          <p:nvPr/>
        </p:nvSpPr>
        <p:spPr>
          <a:xfrm>
            <a:off x="612648" y="3525012"/>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Datasets</a:t>
            </a:r>
            <a:endParaRPr lang="en-US" sz="900" dirty="0"/>
          </a:p>
        </p:txBody>
      </p:sp>
      <p:sp>
        <p:nvSpPr>
          <p:cNvPr id="32" name="Text 30"/>
          <p:cNvSpPr/>
          <p:nvPr/>
        </p:nvSpPr>
        <p:spPr>
          <a:xfrm>
            <a:off x="2944368" y="3525012"/>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BindingDB, PDBbind — counts match paper exactly</a:t>
            </a:r>
            <a:endParaRPr lang="en-US" sz="850" dirty="0"/>
          </a:p>
        </p:txBody>
      </p:sp>
      <p:sp>
        <p:nvSpPr>
          <p:cNvPr id="33" name="Text 31"/>
          <p:cNvSpPr/>
          <p:nvPr/>
        </p:nvSpPr>
        <p:spPr>
          <a:xfrm>
            <a:off x="7370064" y="3525012"/>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Davis matches; KIBA does not (1954×217 vs 2111×229)</a:t>
            </a:r>
            <a:endParaRPr lang="en-US" sz="850" dirty="0"/>
          </a:p>
        </p:txBody>
      </p:sp>
      <p:sp>
        <p:nvSpPr>
          <p:cNvPr id="34" name="Shape 32"/>
          <p:cNvSpPr/>
          <p:nvPr/>
        </p:nvSpPr>
        <p:spPr>
          <a:xfrm>
            <a:off x="502920" y="3922776"/>
            <a:ext cx="11183112" cy="397764"/>
          </a:xfrm>
          <a:prstGeom prst="rect">
            <a:avLst/>
          </a:prstGeom>
          <a:solidFill>
            <a:srgbClr val="FFFFFF"/>
          </a:solidFill>
          <a:ln w="6350">
            <a:solidFill>
              <a:srgbClr val="E6ECF3"/>
            </a:solidFill>
            <a:prstDash val="solid"/>
          </a:ln>
        </p:spPr>
      </p:sp>
      <p:sp>
        <p:nvSpPr>
          <p:cNvPr id="35" name="Text 33"/>
          <p:cNvSpPr/>
          <p:nvPr/>
        </p:nvSpPr>
        <p:spPr>
          <a:xfrm>
            <a:off x="612648" y="3922776"/>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Training strategy</a:t>
            </a:r>
            <a:endParaRPr lang="en-US" sz="900" dirty="0"/>
          </a:p>
        </p:txBody>
      </p:sp>
      <p:sp>
        <p:nvSpPr>
          <p:cNvPr id="36" name="Text 34"/>
          <p:cNvSpPr/>
          <p:nvPr/>
        </p:nvSpPr>
        <p:spPr>
          <a:xfrm>
            <a:off x="2944368" y="3922776"/>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300 epochs, batch 256, Adam; GAN retrained per fold/grid point</a:t>
            </a:r>
            <a:endParaRPr lang="en-US" sz="850" dirty="0"/>
          </a:p>
        </p:txBody>
      </p:sp>
      <p:sp>
        <p:nvSpPr>
          <p:cNvPr id="37" name="Text 35"/>
          <p:cNvSpPr/>
          <p:nvPr/>
        </p:nvSpPr>
        <p:spPr>
          <a:xfrm>
            <a:off x="7370064" y="3922776"/>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100 epochs, batch 256, Adam; single joint objective</a:t>
            </a:r>
            <a:endParaRPr lang="en-US" sz="850" dirty="0"/>
          </a:p>
        </p:txBody>
      </p:sp>
      <p:sp>
        <p:nvSpPr>
          <p:cNvPr id="38" name="Shape 36"/>
          <p:cNvSpPr/>
          <p:nvPr/>
        </p:nvSpPr>
        <p:spPr>
          <a:xfrm>
            <a:off x="502920" y="4320540"/>
            <a:ext cx="11183112" cy="397764"/>
          </a:xfrm>
          <a:prstGeom prst="rect">
            <a:avLst/>
          </a:prstGeom>
          <a:solidFill>
            <a:srgbClr val="F1F4F8"/>
          </a:solidFill>
          <a:ln w="6350">
            <a:solidFill>
              <a:srgbClr val="E6ECF3"/>
            </a:solidFill>
            <a:prstDash val="solid"/>
          </a:ln>
        </p:spPr>
      </p:sp>
      <p:sp>
        <p:nvSpPr>
          <p:cNvPr id="39" name="Text 37"/>
          <p:cNvSpPr/>
          <p:nvPr/>
        </p:nvSpPr>
        <p:spPr>
          <a:xfrm>
            <a:off x="612648" y="4320540"/>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Evaluation</a:t>
            </a:r>
            <a:endParaRPr lang="en-US" sz="900" dirty="0"/>
          </a:p>
        </p:txBody>
      </p:sp>
      <p:sp>
        <p:nvSpPr>
          <p:cNvPr id="40" name="Text 38"/>
          <p:cNvSpPr/>
          <p:nvPr/>
        </p:nvSpPr>
        <p:spPr>
          <a:xfrm>
            <a:off x="2944368" y="4320540"/>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CI (per-batch approx.), MSE, AUPR@7, r²m; folds from files</a:t>
            </a:r>
            <a:endParaRPr lang="en-US" sz="850" dirty="0"/>
          </a:p>
        </p:txBody>
      </p:sp>
      <p:sp>
        <p:nvSpPr>
          <p:cNvPr id="41" name="Text 39"/>
          <p:cNvSpPr/>
          <p:nvPr/>
        </p:nvSpPr>
        <p:spPr>
          <a:xfrm>
            <a:off x="7370064" y="4320540"/>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CI, MSE, r²m, AUC@7/12.1; folds generated at runtime</a:t>
            </a:r>
            <a:endParaRPr lang="en-US" sz="850" dirty="0"/>
          </a:p>
        </p:txBody>
      </p:sp>
      <p:sp>
        <p:nvSpPr>
          <p:cNvPr id="42" name="Shape 40"/>
          <p:cNvSpPr/>
          <p:nvPr/>
        </p:nvSpPr>
        <p:spPr>
          <a:xfrm>
            <a:off x="502920" y="4718304"/>
            <a:ext cx="11183112" cy="397764"/>
          </a:xfrm>
          <a:prstGeom prst="rect">
            <a:avLst/>
          </a:prstGeom>
          <a:solidFill>
            <a:srgbClr val="FFFFFF"/>
          </a:solidFill>
          <a:ln w="6350">
            <a:solidFill>
              <a:srgbClr val="E6ECF3"/>
            </a:solidFill>
            <a:prstDash val="solid"/>
          </a:ln>
        </p:spPr>
      </p:sp>
      <p:sp>
        <p:nvSpPr>
          <p:cNvPr id="43" name="Text 41"/>
          <p:cNvSpPr/>
          <p:nvPr/>
        </p:nvSpPr>
        <p:spPr>
          <a:xfrm>
            <a:off x="612648" y="4718304"/>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Code availability</a:t>
            </a:r>
            <a:endParaRPr lang="en-US" sz="900" dirty="0"/>
          </a:p>
        </p:txBody>
      </p:sp>
      <p:sp>
        <p:nvSpPr>
          <p:cNvPr id="44" name="Text 42"/>
          <p:cNvSpPr/>
          <p:nvPr/>
        </p:nvSpPr>
        <p:spPr>
          <a:xfrm>
            <a:off x="2944368" y="4718304"/>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Public, runs are plausible; no execution blocker confirmed</a:t>
            </a:r>
            <a:endParaRPr lang="en-US" sz="850" dirty="0"/>
          </a:p>
        </p:txBody>
      </p:sp>
      <p:sp>
        <p:nvSpPr>
          <p:cNvPr id="45" name="Text 43"/>
          <p:cNvSpPr/>
          <p:nvPr/>
        </p:nvSpPr>
        <p:spPr>
          <a:xfrm>
            <a:off x="7370064" y="4718304"/>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Public, but three confirmed execution blockers</a:t>
            </a:r>
            <a:endParaRPr lang="en-US" sz="850" dirty="0"/>
          </a:p>
        </p:txBody>
      </p:sp>
      <p:sp>
        <p:nvSpPr>
          <p:cNvPr id="46" name="Shape 44"/>
          <p:cNvSpPr/>
          <p:nvPr/>
        </p:nvSpPr>
        <p:spPr>
          <a:xfrm>
            <a:off x="502920" y="5116068"/>
            <a:ext cx="11183112" cy="397764"/>
          </a:xfrm>
          <a:prstGeom prst="rect">
            <a:avLst/>
          </a:prstGeom>
          <a:solidFill>
            <a:srgbClr val="F1F4F8"/>
          </a:solidFill>
          <a:ln w="6350">
            <a:solidFill>
              <a:srgbClr val="E6ECF3"/>
            </a:solidFill>
            <a:prstDash val="solid"/>
          </a:ln>
        </p:spPr>
      </p:sp>
      <p:sp>
        <p:nvSpPr>
          <p:cNvPr id="47" name="Text 45"/>
          <p:cNvSpPr/>
          <p:nvPr/>
        </p:nvSpPr>
        <p:spPr>
          <a:xfrm>
            <a:off x="612648" y="5116068"/>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Reproducibility status</a:t>
            </a:r>
            <a:endParaRPr lang="en-US" sz="900" dirty="0"/>
          </a:p>
        </p:txBody>
      </p:sp>
      <p:sp>
        <p:nvSpPr>
          <p:cNvPr id="48" name="Text 46"/>
          <p:cNvSpPr/>
          <p:nvPr/>
        </p:nvSpPr>
        <p:spPr>
          <a:xfrm>
            <a:off x="2944368" y="5116068"/>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RED — data solid, model and evaluation diverge</a:t>
            </a:r>
            <a:endParaRPr lang="en-US" sz="850" dirty="0"/>
          </a:p>
        </p:txBody>
      </p:sp>
      <p:sp>
        <p:nvSpPr>
          <p:cNvPr id="49" name="Text 47"/>
          <p:cNvSpPr/>
          <p:nvPr/>
        </p:nvSpPr>
        <p:spPr>
          <a:xfrm>
            <a:off x="7370064" y="5116068"/>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RED — data diverges, objective live but mis-scaled</a:t>
            </a:r>
            <a:endParaRPr lang="en-US" sz="850" dirty="0"/>
          </a:p>
        </p:txBody>
      </p:sp>
      <p:sp>
        <p:nvSpPr>
          <p:cNvPr id="50" name="Shape 48"/>
          <p:cNvSpPr/>
          <p:nvPr/>
        </p:nvSpPr>
        <p:spPr>
          <a:xfrm>
            <a:off x="502920" y="5513832"/>
            <a:ext cx="11183112" cy="397764"/>
          </a:xfrm>
          <a:prstGeom prst="rect">
            <a:avLst/>
          </a:prstGeom>
          <a:solidFill>
            <a:srgbClr val="FFFFFF"/>
          </a:solidFill>
          <a:ln w="6350">
            <a:solidFill>
              <a:srgbClr val="E6ECF3"/>
            </a:solidFill>
            <a:prstDash val="solid"/>
          </a:ln>
        </p:spPr>
      </p:sp>
      <p:sp>
        <p:nvSpPr>
          <p:cNvPr id="51" name="Text 49"/>
          <p:cNvSpPr/>
          <p:nvPr/>
        </p:nvSpPr>
        <p:spPr>
          <a:xfrm>
            <a:off x="612648" y="5513832"/>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Key audit finding</a:t>
            </a:r>
            <a:endParaRPr lang="en-US" sz="900" dirty="0"/>
          </a:p>
        </p:txBody>
      </p:sp>
      <p:sp>
        <p:nvSpPr>
          <p:cNvPr id="52" name="Text 50"/>
          <p:cNvSpPr/>
          <p:nvPr/>
        </p:nvSpPr>
        <p:spPr>
          <a:xfrm>
            <a:off x="2944368" y="5513832"/>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Transferred layer channel mismatch; 3 of 5 experiment families absent</a:t>
            </a:r>
            <a:endParaRPr lang="en-US" sz="850" dirty="0"/>
          </a:p>
        </p:txBody>
      </p:sp>
      <p:sp>
        <p:nvSpPr>
          <p:cNvPr id="53" name="Text 51"/>
          <p:cNvSpPr/>
          <p:nvPr/>
        </p:nvSpPr>
        <p:spPr>
          <a:xfrm>
            <a:off x="7370064" y="5513832"/>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Runtime KIBA ≠ published KIBA; test fold used for model selection</a:t>
            </a:r>
            <a:endParaRPr lang="en-US" sz="850" dirty="0"/>
          </a:p>
        </p:txBody>
      </p:sp>
      <p:sp>
        <p:nvSpPr>
          <p:cNvPr id="54" name="Shape 52"/>
          <p:cNvSpPr/>
          <p:nvPr/>
        </p:nvSpPr>
        <p:spPr>
          <a:xfrm>
            <a:off x="502920" y="5911596"/>
            <a:ext cx="11183112" cy="397764"/>
          </a:xfrm>
          <a:prstGeom prst="rect">
            <a:avLst/>
          </a:prstGeom>
          <a:solidFill>
            <a:srgbClr val="F1F4F8"/>
          </a:solidFill>
          <a:ln w="6350">
            <a:solidFill>
              <a:srgbClr val="E6ECF3"/>
            </a:solidFill>
            <a:prstDash val="solid"/>
          </a:ln>
        </p:spPr>
      </p:sp>
      <p:sp>
        <p:nvSpPr>
          <p:cNvPr id="55" name="Text 53"/>
          <p:cNvSpPr/>
          <p:nvPr/>
        </p:nvSpPr>
        <p:spPr>
          <a:xfrm>
            <a:off x="612648" y="5911596"/>
            <a:ext cx="2148840" cy="397764"/>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Current status</a:t>
            </a:r>
            <a:endParaRPr lang="en-US" sz="900" dirty="0"/>
          </a:p>
        </p:txBody>
      </p:sp>
      <p:sp>
        <p:nvSpPr>
          <p:cNvPr id="56" name="Text 54"/>
          <p:cNvSpPr/>
          <p:nvPr/>
        </p:nvSpPr>
        <p:spPr>
          <a:xfrm>
            <a:off x="2944368" y="5911596"/>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Paper + code audit complete; not executed</a:t>
            </a:r>
            <a:endParaRPr lang="en-US" sz="850" dirty="0"/>
          </a:p>
        </p:txBody>
      </p:sp>
      <p:sp>
        <p:nvSpPr>
          <p:cNvPr id="57" name="Text 55"/>
          <p:cNvSpPr/>
          <p:nvPr/>
        </p:nvSpPr>
        <p:spPr>
          <a:xfrm>
            <a:off x="7370064" y="5911596"/>
            <a:ext cx="4242816" cy="397764"/>
          </a:xfrm>
          <a:prstGeom prst="rect">
            <a:avLst/>
          </a:prstGeom>
          <a:noFill/>
          <a:ln/>
        </p:spPr>
        <p:txBody>
          <a:bodyPr wrap="square" lIns="0" tIns="0" rIns="0" bIns="0" rtlCol="0" anchor="ctr"/>
          <a:lstStyle/>
          <a:p>
            <a:pPr indent="0" marL="0">
              <a:buNone/>
            </a:pPr>
            <a:r>
              <a:rPr lang="en-US" sz="850" dirty="0">
                <a:solidFill>
                  <a:srgbClr val="2B3A55"/>
                </a:solidFill>
                <a:latin typeface="Calibri" pitchFamily="34" charset="0"/>
                <a:ea typeface="Calibri" pitchFamily="34" charset="-122"/>
                <a:cs typeface="Calibri" pitchFamily="34" charset="-120"/>
              </a:rPr>
              <a:t>Paper + code audit complete; not executed</a:t>
            </a:r>
            <a:endParaRPr lang="en-US" sz="850" dirty="0"/>
          </a:p>
        </p:txBody>
      </p:sp>
      <p:sp>
        <p:nvSpPr>
          <p:cNvPr id="58" name="Text 56"/>
          <p:cNvSpPr/>
          <p:nvPr/>
        </p:nvSpPr>
        <p:spPr>
          <a:xfrm>
            <a:off x="502920" y="6400800"/>
            <a:ext cx="11185855" cy="292608"/>
          </a:xfrm>
          <a:prstGeom prst="rect">
            <a:avLst/>
          </a:prstGeom>
          <a:noFill/>
          <a:ln/>
        </p:spPr>
        <p:txBody>
          <a:bodyPr wrap="square" lIns="0" tIns="0" rIns="0" bIns="0" rtlCol="0" anchor="ctr"/>
          <a:lstStyle/>
          <a:p>
            <a:pPr indent="0" marL="0">
              <a:buNone/>
            </a:pPr>
            <a:r>
              <a:rPr lang="en-US" sz="850" i="1" dirty="0">
                <a:solidFill>
                  <a:srgbClr val="62708A"/>
                </a:solidFill>
                <a:latin typeface="Calibri" pitchFamily="34" charset="0"/>
                <a:ea typeface="Calibri" pitchFamily="34" charset="-122"/>
                <a:cs typeface="Calibri" pitchFamily="34" charset="-120"/>
              </a:rPr>
              <a:t>Every cell is drawn from the Stage/Phase 2 paper audits and the Stage/Phase 3 code audits. “Not executed” is literal — no training run has been performed for either method.</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METHODOLOGICAL LESSONS</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the Code Audit Revealed</a:t>
            </a:r>
            <a:endParaRPr lang="en-US" sz="3000" dirty="0"/>
          </a:p>
        </p:txBody>
      </p:sp>
      <p:sp>
        <p:nvSpPr>
          <p:cNvPr id="4" name="Shape 2"/>
          <p:cNvSpPr/>
          <p:nvPr/>
        </p:nvSpPr>
        <p:spPr>
          <a:xfrm>
            <a:off x="502920" y="1207008"/>
            <a:ext cx="5669280" cy="1444752"/>
          </a:xfrm>
          <a:prstGeom prst="roundRect">
            <a:avLst>
              <a:gd name="adj" fmla="val 4430"/>
            </a:avLst>
          </a:prstGeom>
          <a:solidFill>
            <a:srgbClr val="FFFFFF"/>
          </a:solidFill>
          <a:ln w="14605">
            <a:solidFill>
              <a:srgbClr val="9E2A2B"/>
            </a:solidFill>
            <a:prstDash val="solid"/>
          </a:ln>
        </p:spPr>
      </p:sp>
      <p:sp>
        <p:nvSpPr>
          <p:cNvPr id="5" name="Shape 3"/>
          <p:cNvSpPr/>
          <p:nvPr/>
        </p:nvSpPr>
        <p:spPr>
          <a:xfrm>
            <a:off x="685800" y="1389888"/>
            <a:ext cx="384048" cy="384048"/>
          </a:xfrm>
          <a:prstGeom prst="ellipse">
            <a:avLst/>
          </a:prstGeom>
          <a:solidFill>
            <a:srgbClr val="9E2A2B"/>
          </a:solidFill>
          <a:ln w="12700">
            <a:solidFill>
              <a:srgbClr val="9E2A2B"/>
            </a:solidFill>
            <a:prstDash val="solid"/>
          </a:ln>
        </p:spPr>
      </p:sp>
      <p:sp>
        <p:nvSpPr>
          <p:cNvPr id="6" name="Text 4"/>
          <p:cNvSpPr/>
          <p:nvPr/>
        </p:nvSpPr>
        <p:spPr>
          <a:xfrm>
            <a:off x="685800" y="13898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16152" y="1353312"/>
            <a:ext cx="4754880" cy="4572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Paper description ≠ implementation</a:t>
            </a:r>
            <a:endParaRPr lang="en-US" sz="1150" dirty="0"/>
          </a:p>
        </p:txBody>
      </p:sp>
      <p:sp>
        <p:nvSpPr>
          <p:cNvPr id="8" name="Text 6"/>
          <p:cNvSpPr/>
          <p:nvPr/>
        </p:nvSpPr>
        <p:spPr>
          <a:xfrm>
            <a:off x="722376" y="1828800"/>
            <a:ext cx="5230368" cy="749808"/>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In both repositories the released code differs from the published method in ways a reader could not detect from the paper. DCGAN-DTA: BatchNorm present where the paper says removed. Co-VAE: average pooling where the paper says max.</a:t>
            </a:r>
            <a:endParaRPr lang="en-US" sz="900" dirty="0"/>
          </a:p>
        </p:txBody>
      </p:sp>
      <p:sp>
        <p:nvSpPr>
          <p:cNvPr id="9" name="Shape 7"/>
          <p:cNvSpPr/>
          <p:nvPr/>
        </p:nvSpPr>
        <p:spPr>
          <a:xfrm>
            <a:off x="6492240" y="1207008"/>
            <a:ext cx="5669280" cy="1444752"/>
          </a:xfrm>
          <a:prstGeom prst="roundRect">
            <a:avLst>
              <a:gd name="adj" fmla="val 4430"/>
            </a:avLst>
          </a:prstGeom>
          <a:solidFill>
            <a:srgbClr val="FFFFFF"/>
          </a:solidFill>
          <a:ln w="14605">
            <a:solidFill>
              <a:srgbClr val="9E2A2B"/>
            </a:solidFill>
            <a:prstDash val="solid"/>
          </a:ln>
        </p:spPr>
      </p:sp>
      <p:sp>
        <p:nvSpPr>
          <p:cNvPr id="10" name="Shape 8"/>
          <p:cNvSpPr/>
          <p:nvPr/>
        </p:nvSpPr>
        <p:spPr>
          <a:xfrm>
            <a:off x="6675120" y="1389888"/>
            <a:ext cx="384048" cy="384048"/>
          </a:xfrm>
          <a:prstGeom prst="ellipse">
            <a:avLst/>
          </a:prstGeom>
          <a:solidFill>
            <a:srgbClr val="9E2A2B"/>
          </a:solidFill>
          <a:ln w="12700">
            <a:solidFill>
              <a:srgbClr val="9E2A2B"/>
            </a:solidFill>
            <a:prstDash val="solid"/>
          </a:ln>
        </p:spPr>
      </p:sp>
      <p:sp>
        <p:nvSpPr>
          <p:cNvPr id="11" name="Text 9"/>
          <p:cNvSpPr/>
          <p:nvPr/>
        </p:nvSpPr>
        <p:spPr>
          <a:xfrm>
            <a:off x="6675120" y="13898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7205472" y="1353312"/>
            <a:ext cx="4754880" cy="4572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Dataset construction is not a detail</a:t>
            </a:r>
            <a:endParaRPr lang="en-US" sz="1150" dirty="0"/>
          </a:p>
        </p:txBody>
      </p:sp>
      <p:sp>
        <p:nvSpPr>
          <p:cNvPr id="13" name="Text 11"/>
          <p:cNvSpPr/>
          <p:nvPr/>
        </p:nvSpPr>
        <p:spPr>
          <a:xfrm>
            <a:off x="6711696" y="1828800"/>
            <a:ext cx="5230368" cy="749808"/>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Co-VAE’s runtime KIBA matrix is a different dataset from the published one — 1954×217 against 2111×229 — because of an undocumented filter. Every KIBA number depends on which matrix was used.</a:t>
            </a:r>
            <a:endParaRPr lang="en-US" sz="900" dirty="0"/>
          </a:p>
        </p:txBody>
      </p:sp>
      <p:sp>
        <p:nvSpPr>
          <p:cNvPr id="14" name="Shape 12"/>
          <p:cNvSpPr/>
          <p:nvPr/>
        </p:nvSpPr>
        <p:spPr>
          <a:xfrm>
            <a:off x="502920" y="2852928"/>
            <a:ext cx="5669280" cy="1444752"/>
          </a:xfrm>
          <a:prstGeom prst="roundRect">
            <a:avLst>
              <a:gd name="adj" fmla="val 4430"/>
            </a:avLst>
          </a:prstGeom>
          <a:solidFill>
            <a:srgbClr val="FFFFFF"/>
          </a:solidFill>
          <a:ln w="14605">
            <a:solidFill>
              <a:srgbClr val="9E2A2B"/>
            </a:solidFill>
            <a:prstDash val="solid"/>
          </a:ln>
        </p:spPr>
      </p:sp>
      <p:sp>
        <p:nvSpPr>
          <p:cNvPr id="15" name="Shape 13"/>
          <p:cNvSpPr/>
          <p:nvPr/>
        </p:nvSpPr>
        <p:spPr>
          <a:xfrm>
            <a:off x="685800" y="3035808"/>
            <a:ext cx="384048" cy="384048"/>
          </a:xfrm>
          <a:prstGeom prst="ellipse">
            <a:avLst/>
          </a:prstGeom>
          <a:solidFill>
            <a:srgbClr val="9E2A2B"/>
          </a:solidFill>
          <a:ln w="12700">
            <a:solidFill>
              <a:srgbClr val="9E2A2B"/>
            </a:solidFill>
            <a:prstDash val="solid"/>
          </a:ln>
        </p:spPr>
      </p:sp>
      <p:sp>
        <p:nvSpPr>
          <p:cNvPr id="16" name="Text 14"/>
          <p:cNvSpPr/>
          <p:nvPr/>
        </p:nvSpPr>
        <p:spPr>
          <a:xfrm>
            <a:off x="685800" y="30358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216152" y="2999232"/>
            <a:ext cx="4754880" cy="4572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Split handling decides what a number means</a:t>
            </a:r>
            <a:endParaRPr lang="en-US" sz="1150" dirty="0"/>
          </a:p>
        </p:txBody>
      </p:sp>
      <p:sp>
        <p:nvSpPr>
          <p:cNvPr id="18" name="Text 16"/>
          <p:cNvSpPr/>
          <p:nvPr/>
        </p:nvSpPr>
        <p:spPr>
          <a:xfrm>
            <a:off x="722376" y="3474720"/>
            <a:ext cx="5230368" cy="749808"/>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Both repositories build a validation set and then evaluate and early-stop on the test fold instead. Two unrelated codebases, the same pattern. Reported metrics are therefore selection-optimistic.</a:t>
            </a:r>
            <a:endParaRPr lang="en-US" sz="900" dirty="0"/>
          </a:p>
        </p:txBody>
      </p:sp>
      <p:sp>
        <p:nvSpPr>
          <p:cNvPr id="19" name="Shape 17"/>
          <p:cNvSpPr/>
          <p:nvPr/>
        </p:nvSpPr>
        <p:spPr>
          <a:xfrm>
            <a:off x="6492240" y="2852928"/>
            <a:ext cx="5669280" cy="1444752"/>
          </a:xfrm>
          <a:prstGeom prst="roundRect">
            <a:avLst>
              <a:gd name="adj" fmla="val 4430"/>
            </a:avLst>
          </a:prstGeom>
          <a:solidFill>
            <a:srgbClr val="FFFFFF"/>
          </a:solidFill>
          <a:ln w="14605">
            <a:solidFill>
              <a:srgbClr val="C77D14"/>
            </a:solidFill>
            <a:prstDash val="solid"/>
          </a:ln>
        </p:spPr>
      </p:sp>
      <p:sp>
        <p:nvSpPr>
          <p:cNvPr id="20" name="Shape 18"/>
          <p:cNvSpPr/>
          <p:nvPr/>
        </p:nvSpPr>
        <p:spPr>
          <a:xfrm>
            <a:off x="6675120" y="3035808"/>
            <a:ext cx="384048" cy="384048"/>
          </a:xfrm>
          <a:prstGeom prst="ellipse">
            <a:avLst/>
          </a:prstGeom>
          <a:solidFill>
            <a:srgbClr val="C77D14"/>
          </a:solidFill>
          <a:ln w="12700">
            <a:solidFill>
              <a:srgbClr val="C77D14"/>
            </a:solidFill>
            <a:prstDash val="solid"/>
          </a:ln>
        </p:spPr>
      </p:sp>
      <p:sp>
        <p:nvSpPr>
          <p:cNvPr id="21" name="Text 19"/>
          <p:cNvSpPr/>
          <p:nvPr/>
        </p:nvSpPr>
        <p:spPr>
          <a:xfrm>
            <a:off x="6675120" y="30358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7205472" y="2999232"/>
            <a:ext cx="4754880" cy="4572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Papers under-specify the training objective</a:t>
            </a:r>
            <a:endParaRPr lang="en-US" sz="1150" dirty="0"/>
          </a:p>
        </p:txBody>
      </p:sp>
      <p:sp>
        <p:nvSpPr>
          <p:cNvPr id="23" name="Text 21"/>
          <p:cNvSpPr/>
          <p:nvPr/>
        </p:nvSpPr>
        <p:spPr>
          <a:xfrm>
            <a:off x="6711696" y="3474720"/>
            <a:ext cx="5230368" cy="749808"/>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DCGAN-DTA states no loss function at all — its four equations are all metrics. Co-VAE derives its objective formally but omits the latent dimension. Neither model can be built from its paper alone.</a:t>
            </a:r>
            <a:endParaRPr lang="en-US" sz="900" dirty="0"/>
          </a:p>
        </p:txBody>
      </p:sp>
      <p:sp>
        <p:nvSpPr>
          <p:cNvPr id="24" name="Shape 22"/>
          <p:cNvSpPr/>
          <p:nvPr/>
        </p:nvSpPr>
        <p:spPr>
          <a:xfrm>
            <a:off x="502920" y="4498848"/>
            <a:ext cx="5669280" cy="1444752"/>
          </a:xfrm>
          <a:prstGeom prst="roundRect">
            <a:avLst>
              <a:gd name="adj" fmla="val 4430"/>
            </a:avLst>
          </a:prstGeom>
          <a:solidFill>
            <a:srgbClr val="FFFFFF"/>
          </a:solidFill>
          <a:ln w="14605">
            <a:solidFill>
              <a:srgbClr val="C77D14"/>
            </a:solidFill>
            <a:prstDash val="solid"/>
          </a:ln>
        </p:spPr>
      </p:sp>
      <p:sp>
        <p:nvSpPr>
          <p:cNvPr id="25" name="Shape 23"/>
          <p:cNvSpPr/>
          <p:nvPr/>
        </p:nvSpPr>
        <p:spPr>
          <a:xfrm>
            <a:off x="685800" y="4681728"/>
            <a:ext cx="384048" cy="384048"/>
          </a:xfrm>
          <a:prstGeom prst="ellipse">
            <a:avLst/>
          </a:prstGeom>
          <a:solidFill>
            <a:srgbClr val="C77D14"/>
          </a:solidFill>
          <a:ln w="12700">
            <a:solidFill>
              <a:srgbClr val="C77D14"/>
            </a:solidFill>
            <a:prstDash val="solid"/>
          </a:ln>
        </p:spPr>
      </p:sp>
      <p:sp>
        <p:nvSpPr>
          <p:cNvPr id="26" name="Text 24"/>
          <p:cNvSpPr/>
          <p:nvPr/>
        </p:nvSpPr>
        <p:spPr>
          <a:xfrm>
            <a:off x="685800" y="46817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1216152" y="4645152"/>
            <a:ext cx="4754880" cy="4572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Evaluation choices break comparability</a:t>
            </a:r>
            <a:endParaRPr lang="en-US" sz="1150" dirty="0"/>
          </a:p>
        </p:txBody>
      </p:sp>
      <p:sp>
        <p:nvSpPr>
          <p:cNvPr id="28" name="Text 26"/>
          <p:cNvSpPr/>
          <p:nvPr/>
        </p:nvSpPr>
        <p:spPr>
          <a:xfrm>
            <a:off x="722376" y="5120640"/>
            <a:ext cx="5230368" cy="749808"/>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DCGAN-DTA’s reported CI is a per-batch approximation, not its own Equation 1. Comparing that number against a baseline’s global CI is not a like-for-like comparison.</a:t>
            </a:r>
            <a:endParaRPr lang="en-US" sz="900" dirty="0"/>
          </a:p>
        </p:txBody>
      </p:sp>
      <p:sp>
        <p:nvSpPr>
          <p:cNvPr id="29" name="Shape 27"/>
          <p:cNvSpPr/>
          <p:nvPr/>
        </p:nvSpPr>
        <p:spPr>
          <a:xfrm>
            <a:off x="6492240" y="4498848"/>
            <a:ext cx="5669280" cy="1444752"/>
          </a:xfrm>
          <a:prstGeom prst="roundRect">
            <a:avLst>
              <a:gd name="adj" fmla="val 4430"/>
            </a:avLst>
          </a:prstGeom>
          <a:solidFill>
            <a:srgbClr val="FFFFFF"/>
          </a:solidFill>
          <a:ln w="14605">
            <a:solidFill>
              <a:srgbClr val="2F6F4E"/>
            </a:solidFill>
            <a:prstDash val="solid"/>
          </a:ln>
        </p:spPr>
      </p:sp>
      <p:sp>
        <p:nvSpPr>
          <p:cNvPr id="30" name="Shape 28"/>
          <p:cNvSpPr/>
          <p:nvPr/>
        </p:nvSpPr>
        <p:spPr>
          <a:xfrm>
            <a:off x="6675120" y="4681728"/>
            <a:ext cx="384048" cy="384048"/>
          </a:xfrm>
          <a:prstGeom prst="ellipse">
            <a:avLst/>
          </a:prstGeom>
          <a:solidFill>
            <a:srgbClr val="2F6F4E"/>
          </a:solidFill>
          <a:ln w="12700">
            <a:solidFill>
              <a:srgbClr val="2F6F4E"/>
            </a:solidFill>
            <a:prstDash val="solid"/>
          </a:ln>
        </p:spPr>
      </p:sp>
      <p:sp>
        <p:nvSpPr>
          <p:cNvPr id="31" name="Text 29"/>
          <p:cNvSpPr/>
          <p:nvPr/>
        </p:nvSpPr>
        <p:spPr>
          <a:xfrm>
            <a:off x="6675120" y="46817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p:nvPr/>
        </p:nvSpPr>
        <p:spPr>
          <a:xfrm>
            <a:off x="7205472" y="4645152"/>
            <a:ext cx="4754880" cy="45720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Reading code can also repair a paper</a:t>
            </a:r>
            <a:endParaRPr lang="en-US" sz="1150" dirty="0"/>
          </a:p>
        </p:txBody>
      </p:sp>
      <p:sp>
        <p:nvSpPr>
          <p:cNvPr id="33" name="Text 31"/>
          <p:cNvSpPr/>
          <p:nvPr/>
        </p:nvSpPr>
        <p:spPr>
          <a:xfrm>
            <a:off x="6711696" y="5120640"/>
            <a:ext cx="5230368" cy="749808"/>
          </a:xfrm>
          <a:prstGeom prst="rect">
            <a:avLst/>
          </a:prstGeom>
          <a:noFill/>
          <a:ln/>
        </p:spPr>
        <p:txBody>
          <a:bodyPr wrap="square" lIns="0" tIns="0" rIns="0" bIns="0" rtlCol="0" anchor="ctr"/>
          <a:lstStyle/>
          <a:p>
            <a:pPr indent="0" marL="0">
              <a:buNone/>
            </a:pPr>
            <a:r>
              <a:rPr lang="en-US" sz="900" dirty="0">
                <a:solidFill>
                  <a:srgbClr val="2B3A55"/>
                </a:solidFill>
                <a:latin typeface="Calibri" pitchFamily="34" charset="0"/>
                <a:ea typeface="Calibri" pitchFamily="34" charset="-122"/>
                <a:cs typeface="Calibri" pitchFamily="34" charset="-120"/>
              </a:rPr>
              <a:t>The Co-VAE code resolved three gaps the paper left open — λ is applied as 10^λ, the latent dimension is 96, and all FC widths are recoverable. Audit is not only a fault-finding exercise.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11185855" cy="219456"/>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HONEST STATUS BOARD</a:t>
            </a:r>
            <a:endParaRPr lang="en-US" sz="1100" dirty="0"/>
          </a:p>
        </p:txBody>
      </p:sp>
      <p:sp>
        <p:nvSpPr>
          <p:cNvPr id="3" name="Text 1"/>
          <p:cNvSpPr/>
          <p:nvPr/>
        </p:nvSpPr>
        <p:spPr>
          <a:xfrm>
            <a:off x="502920" y="530352"/>
            <a:ext cx="11185855" cy="566928"/>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Current Research Status</a:t>
            </a:r>
            <a:endParaRPr lang="en-US" sz="3000" dirty="0"/>
          </a:p>
        </p:txBody>
      </p:sp>
      <p:sp>
        <p:nvSpPr>
          <p:cNvPr id="4" name="Shape 2"/>
          <p:cNvSpPr/>
          <p:nvPr/>
        </p:nvSpPr>
        <p:spPr>
          <a:xfrm>
            <a:off x="502920" y="1188720"/>
            <a:ext cx="3703320" cy="4956048"/>
          </a:xfrm>
          <a:prstGeom prst="roundRect">
            <a:avLst>
              <a:gd name="adj" fmla="val 1975"/>
            </a:avLst>
          </a:prstGeom>
          <a:solidFill>
            <a:srgbClr val="F1F4F8"/>
          </a:solidFill>
          <a:ln w="9525">
            <a:solidFill>
              <a:srgbClr val="E6ECF3"/>
            </a:solidFill>
            <a:prstDash val="solid"/>
          </a:ln>
        </p:spPr>
      </p:sp>
      <p:sp>
        <p:nvSpPr>
          <p:cNvPr id="5" name="Shape 3"/>
          <p:cNvSpPr/>
          <p:nvPr/>
        </p:nvSpPr>
        <p:spPr>
          <a:xfrm>
            <a:off x="502920" y="1188720"/>
            <a:ext cx="3703320" cy="475488"/>
          </a:xfrm>
          <a:prstGeom prst="roundRect">
            <a:avLst>
              <a:gd name="adj" fmla="val 15385"/>
            </a:avLst>
          </a:prstGeom>
          <a:solidFill>
            <a:srgbClr val="2F6F4E"/>
          </a:solidFill>
          <a:ln w="12700">
            <a:solidFill>
              <a:srgbClr val="2F6F4E"/>
            </a:solidFill>
            <a:prstDash val="solid"/>
          </a:ln>
        </p:spPr>
      </p:sp>
      <p:sp>
        <p:nvSpPr>
          <p:cNvPr id="6" name="Text 4"/>
          <p:cNvSpPr/>
          <p:nvPr/>
        </p:nvSpPr>
        <p:spPr>
          <a:xfrm>
            <a:off x="502920" y="1188720"/>
            <a:ext cx="3703320" cy="475488"/>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COMPLETED</a:t>
            </a:r>
            <a:endParaRPr lang="en-US" sz="1200" dirty="0"/>
          </a:p>
        </p:txBody>
      </p:sp>
      <p:sp>
        <p:nvSpPr>
          <p:cNvPr id="7" name="Shape 5"/>
          <p:cNvSpPr/>
          <p:nvPr/>
        </p:nvSpPr>
        <p:spPr>
          <a:xfrm>
            <a:off x="704088" y="1879092"/>
            <a:ext cx="146304" cy="146304"/>
          </a:xfrm>
          <a:prstGeom prst="ellipse">
            <a:avLst/>
          </a:prstGeom>
          <a:solidFill>
            <a:srgbClr val="2F6F4E"/>
          </a:solidFill>
          <a:ln w="12700">
            <a:solidFill>
              <a:srgbClr val="2F6F4E"/>
            </a:solidFill>
            <a:prstDash val="solid"/>
          </a:ln>
        </p:spPr>
      </p:sp>
      <p:sp>
        <p:nvSpPr>
          <p:cNvPr id="8" name="Text 6"/>
          <p:cNvSpPr/>
          <p:nvPr/>
        </p:nvSpPr>
        <p:spPr>
          <a:xfrm>
            <a:off x="960120" y="1810512"/>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DTA problem definition and scoping</a:t>
            </a:r>
            <a:endParaRPr lang="en-US" sz="950" dirty="0"/>
          </a:p>
        </p:txBody>
      </p:sp>
      <p:sp>
        <p:nvSpPr>
          <p:cNvPr id="9" name="Shape 7"/>
          <p:cNvSpPr/>
          <p:nvPr/>
        </p:nvSpPr>
        <p:spPr>
          <a:xfrm>
            <a:off x="704088" y="2308860"/>
            <a:ext cx="146304" cy="146304"/>
          </a:xfrm>
          <a:prstGeom prst="ellipse">
            <a:avLst/>
          </a:prstGeom>
          <a:solidFill>
            <a:srgbClr val="2F6F4E"/>
          </a:solidFill>
          <a:ln w="12700">
            <a:solidFill>
              <a:srgbClr val="2F6F4E"/>
            </a:solidFill>
            <a:prstDash val="solid"/>
          </a:ln>
        </p:spPr>
      </p:sp>
      <p:sp>
        <p:nvSpPr>
          <p:cNvPr id="10" name="Text 8"/>
          <p:cNvSpPr/>
          <p:nvPr/>
        </p:nvSpPr>
        <p:spPr>
          <a:xfrm>
            <a:off x="960120" y="2240280"/>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Literature / survey analysis</a:t>
            </a:r>
            <a:endParaRPr lang="en-US" sz="950" dirty="0"/>
          </a:p>
        </p:txBody>
      </p:sp>
      <p:sp>
        <p:nvSpPr>
          <p:cNvPr id="11" name="Shape 9"/>
          <p:cNvSpPr/>
          <p:nvPr/>
        </p:nvSpPr>
        <p:spPr>
          <a:xfrm>
            <a:off x="704088" y="2738628"/>
            <a:ext cx="146304" cy="146304"/>
          </a:xfrm>
          <a:prstGeom prst="ellipse">
            <a:avLst/>
          </a:prstGeom>
          <a:solidFill>
            <a:srgbClr val="2F6F4E"/>
          </a:solidFill>
          <a:ln w="12700">
            <a:solidFill>
              <a:srgbClr val="2F6F4E"/>
            </a:solidFill>
            <a:prstDash val="solid"/>
          </a:ln>
        </p:spPr>
      </p:sp>
      <p:sp>
        <p:nvSpPr>
          <p:cNvPr id="12" name="Text 10"/>
          <p:cNvSpPr/>
          <p:nvPr/>
        </p:nvSpPr>
        <p:spPr>
          <a:xfrm>
            <a:off x="960120" y="2670048"/>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Selection of the two papers</a:t>
            </a:r>
            <a:endParaRPr lang="en-US" sz="950" dirty="0"/>
          </a:p>
        </p:txBody>
      </p:sp>
      <p:sp>
        <p:nvSpPr>
          <p:cNvPr id="13" name="Shape 11"/>
          <p:cNvSpPr/>
          <p:nvPr/>
        </p:nvSpPr>
        <p:spPr>
          <a:xfrm>
            <a:off x="704088" y="3168396"/>
            <a:ext cx="146304" cy="146304"/>
          </a:xfrm>
          <a:prstGeom prst="ellipse">
            <a:avLst/>
          </a:prstGeom>
          <a:solidFill>
            <a:srgbClr val="2F6F4E"/>
          </a:solidFill>
          <a:ln w="12700">
            <a:solidFill>
              <a:srgbClr val="2F6F4E"/>
            </a:solidFill>
            <a:prstDash val="solid"/>
          </a:ln>
        </p:spPr>
      </p:sp>
      <p:sp>
        <p:nvSpPr>
          <p:cNvPr id="14" name="Text 12"/>
          <p:cNvSpPr/>
          <p:nvPr/>
        </p:nvSpPr>
        <p:spPr>
          <a:xfrm>
            <a:off x="960120" y="3099816"/>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DCGAN-DTA paper forensic audit</a:t>
            </a:r>
            <a:endParaRPr lang="en-US" sz="950" dirty="0"/>
          </a:p>
        </p:txBody>
      </p:sp>
      <p:sp>
        <p:nvSpPr>
          <p:cNvPr id="15" name="Shape 13"/>
          <p:cNvSpPr/>
          <p:nvPr/>
        </p:nvSpPr>
        <p:spPr>
          <a:xfrm>
            <a:off x="704088" y="3598164"/>
            <a:ext cx="146304" cy="146304"/>
          </a:xfrm>
          <a:prstGeom prst="ellipse">
            <a:avLst/>
          </a:prstGeom>
          <a:solidFill>
            <a:srgbClr val="2F6F4E"/>
          </a:solidFill>
          <a:ln w="12700">
            <a:solidFill>
              <a:srgbClr val="2F6F4E"/>
            </a:solidFill>
            <a:prstDash val="solid"/>
          </a:ln>
        </p:spPr>
      </p:sp>
      <p:sp>
        <p:nvSpPr>
          <p:cNvPr id="16" name="Text 14"/>
          <p:cNvSpPr/>
          <p:nvPr/>
        </p:nvSpPr>
        <p:spPr>
          <a:xfrm>
            <a:off x="960120" y="3529584"/>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Co-VAE paper forensic audit</a:t>
            </a:r>
            <a:endParaRPr lang="en-US" sz="950" dirty="0"/>
          </a:p>
        </p:txBody>
      </p:sp>
      <p:sp>
        <p:nvSpPr>
          <p:cNvPr id="17" name="Shape 15"/>
          <p:cNvSpPr/>
          <p:nvPr/>
        </p:nvSpPr>
        <p:spPr>
          <a:xfrm>
            <a:off x="704088" y="4027932"/>
            <a:ext cx="146304" cy="146304"/>
          </a:xfrm>
          <a:prstGeom prst="ellipse">
            <a:avLst/>
          </a:prstGeom>
          <a:solidFill>
            <a:srgbClr val="2F6F4E"/>
          </a:solidFill>
          <a:ln w="12700">
            <a:solidFill>
              <a:srgbClr val="2F6F4E"/>
            </a:solidFill>
            <a:prstDash val="solid"/>
          </a:ln>
        </p:spPr>
      </p:sp>
      <p:sp>
        <p:nvSpPr>
          <p:cNvPr id="18" name="Text 16"/>
          <p:cNvSpPr/>
          <p:nvPr/>
        </p:nvSpPr>
        <p:spPr>
          <a:xfrm>
            <a:off x="960120" y="3959352"/>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Repository reconnaissance (both)</a:t>
            </a:r>
            <a:endParaRPr lang="en-US" sz="950" dirty="0"/>
          </a:p>
        </p:txBody>
      </p:sp>
      <p:sp>
        <p:nvSpPr>
          <p:cNvPr id="19" name="Shape 17"/>
          <p:cNvSpPr/>
          <p:nvPr/>
        </p:nvSpPr>
        <p:spPr>
          <a:xfrm>
            <a:off x="704088" y="4457700"/>
            <a:ext cx="146304" cy="146304"/>
          </a:xfrm>
          <a:prstGeom prst="ellipse">
            <a:avLst/>
          </a:prstGeom>
          <a:solidFill>
            <a:srgbClr val="2F6F4E"/>
          </a:solidFill>
          <a:ln w="12700">
            <a:solidFill>
              <a:srgbClr val="2F6F4E"/>
            </a:solidFill>
            <a:prstDash val="solid"/>
          </a:ln>
        </p:spPr>
      </p:sp>
      <p:sp>
        <p:nvSpPr>
          <p:cNvPr id="20" name="Text 18"/>
          <p:cNvSpPr/>
          <p:nvPr/>
        </p:nvSpPr>
        <p:spPr>
          <a:xfrm>
            <a:off x="960120" y="4389120"/>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DCGAN-DTA code traceability audit</a:t>
            </a:r>
            <a:endParaRPr lang="en-US" sz="950" dirty="0"/>
          </a:p>
        </p:txBody>
      </p:sp>
      <p:sp>
        <p:nvSpPr>
          <p:cNvPr id="21" name="Shape 19"/>
          <p:cNvSpPr/>
          <p:nvPr/>
        </p:nvSpPr>
        <p:spPr>
          <a:xfrm>
            <a:off x="704088" y="4887468"/>
            <a:ext cx="146304" cy="146304"/>
          </a:xfrm>
          <a:prstGeom prst="ellipse">
            <a:avLst/>
          </a:prstGeom>
          <a:solidFill>
            <a:srgbClr val="2F6F4E"/>
          </a:solidFill>
          <a:ln w="12700">
            <a:solidFill>
              <a:srgbClr val="2F6F4E"/>
            </a:solidFill>
            <a:prstDash val="solid"/>
          </a:ln>
        </p:spPr>
      </p:sp>
      <p:sp>
        <p:nvSpPr>
          <p:cNvPr id="22" name="Text 20"/>
          <p:cNvSpPr/>
          <p:nvPr/>
        </p:nvSpPr>
        <p:spPr>
          <a:xfrm>
            <a:off x="960120" y="4818888"/>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Co-VAE code traceability audit</a:t>
            </a:r>
            <a:endParaRPr lang="en-US" sz="950" dirty="0"/>
          </a:p>
        </p:txBody>
      </p:sp>
      <p:sp>
        <p:nvSpPr>
          <p:cNvPr id="23" name="Shape 21"/>
          <p:cNvSpPr/>
          <p:nvPr/>
        </p:nvSpPr>
        <p:spPr>
          <a:xfrm>
            <a:off x="704088" y="5317236"/>
            <a:ext cx="146304" cy="146304"/>
          </a:xfrm>
          <a:prstGeom prst="ellipse">
            <a:avLst/>
          </a:prstGeom>
          <a:solidFill>
            <a:srgbClr val="2F6F4E"/>
          </a:solidFill>
          <a:ln w="12700">
            <a:solidFill>
              <a:srgbClr val="2F6F4E"/>
            </a:solidFill>
            <a:prstDash val="solid"/>
          </a:ln>
        </p:spPr>
      </p:sp>
      <p:sp>
        <p:nvSpPr>
          <p:cNvPr id="24" name="Text 22"/>
          <p:cNvSpPr/>
          <p:nvPr/>
        </p:nvSpPr>
        <p:spPr>
          <a:xfrm>
            <a:off x="960120" y="5248656"/>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Dataset + fold verification (4 datasets)</a:t>
            </a:r>
            <a:endParaRPr lang="en-US" sz="950" dirty="0"/>
          </a:p>
        </p:txBody>
      </p:sp>
      <p:sp>
        <p:nvSpPr>
          <p:cNvPr id="25" name="Shape 23"/>
          <p:cNvSpPr/>
          <p:nvPr/>
        </p:nvSpPr>
        <p:spPr>
          <a:xfrm>
            <a:off x="704088" y="5747004"/>
            <a:ext cx="146304" cy="146304"/>
          </a:xfrm>
          <a:prstGeom prst="ellipse">
            <a:avLst/>
          </a:prstGeom>
          <a:solidFill>
            <a:srgbClr val="2F6F4E"/>
          </a:solidFill>
          <a:ln w="12700">
            <a:solidFill>
              <a:srgbClr val="2F6F4E"/>
            </a:solidFill>
            <a:prstDash val="solid"/>
          </a:ln>
        </p:spPr>
      </p:sp>
      <p:sp>
        <p:nvSpPr>
          <p:cNvPr id="26" name="Text 24"/>
          <p:cNvSpPr/>
          <p:nvPr/>
        </p:nvSpPr>
        <p:spPr>
          <a:xfrm>
            <a:off x="960120" y="5678424"/>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Architecture and objective tracing</a:t>
            </a:r>
            <a:endParaRPr lang="en-US" sz="950" dirty="0"/>
          </a:p>
        </p:txBody>
      </p:sp>
      <p:sp>
        <p:nvSpPr>
          <p:cNvPr id="27" name="Shape 25"/>
          <p:cNvSpPr/>
          <p:nvPr/>
        </p:nvSpPr>
        <p:spPr>
          <a:xfrm>
            <a:off x="4471416" y="1188720"/>
            <a:ext cx="3703320" cy="4956048"/>
          </a:xfrm>
          <a:prstGeom prst="roundRect">
            <a:avLst>
              <a:gd name="adj" fmla="val 1975"/>
            </a:avLst>
          </a:prstGeom>
          <a:solidFill>
            <a:srgbClr val="F1F4F8"/>
          </a:solidFill>
          <a:ln w="9525">
            <a:solidFill>
              <a:srgbClr val="E6ECF3"/>
            </a:solidFill>
            <a:prstDash val="solid"/>
          </a:ln>
        </p:spPr>
      </p:sp>
      <p:sp>
        <p:nvSpPr>
          <p:cNvPr id="28" name="Shape 26"/>
          <p:cNvSpPr/>
          <p:nvPr/>
        </p:nvSpPr>
        <p:spPr>
          <a:xfrm>
            <a:off x="4471416" y="1188720"/>
            <a:ext cx="3703320" cy="475488"/>
          </a:xfrm>
          <a:prstGeom prst="roundRect">
            <a:avLst>
              <a:gd name="adj" fmla="val 15385"/>
            </a:avLst>
          </a:prstGeom>
          <a:solidFill>
            <a:srgbClr val="C77D14"/>
          </a:solidFill>
          <a:ln w="12700">
            <a:solidFill>
              <a:srgbClr val="C77D14"/>
            </a:solidFill>
            <a:prstDash val="solid"/>
          </a:ln>
        </p:spPr>
      </p:sp>
      <p:sp>
        <p:nvSpPr>
          <p:cNvPr id="29" name="Text 27"/>
          <p:cNvSpPr/>
          <p:nvPr/>
        </p:nvSpPr>
        <p:spPr>
          <a:xfrm>
            <a:off x="4471416" y="1188720"/>
            <a:ext cx="3703320" cy="475488"/>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OPEN / TO VERIFY</a:t>
            </a:r>
            <a:endParaRPr lang="en-US" sz="1200" dirty="0"/>
          </a:p>
        </p:txBody>
      </p:sp>
      <p:sp>
        <p:nvSpPr>
          <p:cNvPr id="30" name="Shape 28"/>
          <p:cNvSpPr/>
          <p:nvPr/>
        </p:nvSpPr>
        <p:spPr>
          <a:xfrm>
            <a:off x="4672584" y="1879092"/>
            <a:ext cx="146304" cy="146304"/>
          </a:xfrm>
          <a:prstGeom prst="ellipse">
            <a:avLst/>
          </a:prstGeom>
          <a:solidFill>
            <a:srgbClr val="C77D14"/>
          </a:solidFill>
          <a:ln w="12700">
            <a:solidFill>
              <a:srgbClr val="C77D14"/>
            </a:solidFill>
            <a:prstDash val="solid"/>
          </a:ln>
        </p:spPr>
      </p:sp>
      <p:sp>
        <p:nvSpPr>
          <p:cNvPr id="31" name="Text 29"/>
          <p:cNvSpPr/>
          <p:nvPr/>
        </p:nvSpPr>
        <p:spPr>
          <a:xfrm>
            <a:off x="4928616" y="1810512"/>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Do DCGAN-DTA models construct at all?</a:t>
            </a:r>
            <a:endParaRPr lang="en-US" sz="950" dirty="0"/>
          </a:p>
        </p:txBody>
      </p:sp>
      <p:sp>
        <p:nvSpPr>
          <p:cNvPr id="32" name="Shape 30"/>
          <p:cNvSpPr/>
          <p:nvPr/>
        </p:nvSpPr>
        <p:spPr>
          <a:xfrm>
            <a:off x="4672584" y="2308860"/>
            <a:ext cx="146304" cy="146304"/>
          </a:xfrm>
          <a:prstGeom prst="ellipse">
            <a:avLst/>
          </a:prstGeom>
          <a:solidFill>
            <a:srgbClr val="C77D14"/>
          </a:solidFill>
          <a:ln w="12700">
            <a:solidFill>
              <a:srgbClr val="C77D14"/>
            </a:solidFill>
            <a:prstDash val="solid"/>
          </a:ln>
        </p:spPr>
      </p:sp>
      <p:sp>
        <p:nvSpPr>
          <p:cNvPr id="33" name="Text 31"/>
          <p:cNvSpPr/>
          <p:nvPr/>
        </p:nvSpPr>
        <p:spPr>
          <a:xfrm>
            <a:off x="4928616" y="2240280"/>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Co-VAE in-place .exp_() effect on the KL</a:t>
            </a:r>
            <a:endParaRPr lang="en-US" sz="950" dirty="0"/>
          </a:p>
        </p:txBody>
      </p:sp>
      <p:sp>
        <p:nvSpPr>
          <p:cNvPr id="34" name="Shape 32"/>
          <p:cNvSpPr/>
          <p:nvPr/>
        </p:nvSpPr>
        <p:spPr>
          <a:xfrm>
            <a:off x="4672584" y="2738628"/>
            <a:ext cx="146304" cy="146304"/>
          </a:xfrm>
          <a:prstGeom prst="ellipse">
            <a:avLst/>
          </a:prstGeom>
          <a:solidFill>
            <a:srgbClr val="C77D14"/>
          </a:solidFill>
          <a:ln w="12700">
            <a:solidFill>
              <a:srgbClr val="C77D14"/>
            </a:solidFill>
            <a:prstDash val="solid"/>
          </a:ln>
        </p:spPr>
      </p:sp>
      <p:sp>
        <p:nvSpPr>
          <p:cNvPr id="35" name="Text 33"/>
          <p:cNvSpPr/>
          <p:nvPr/>
        </p:nvSpPr>
        <p:spPr>
          <a:xfrm>
            <a:off x="4928616" y="2670048"/>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Provenance of DCGAN-DTA pretraining corpora</a:t>
            </a:r>
            <a:endParaRPr lang="en-US" sz="950" dirty="0"/>
          </a:p>
        </p:txBody>
      </p:sp>
      <p:sp>
        <p:nvSpPr>
          <p:cNvPr id="36" name="Shape 34"/>
          <p:cNvSpPr/>
          <p:nvPr/>
        </p:nvSpPr>
        <p:spPr>
          <a:xfrm>
            <a:off x="4672584" y="3168396"/>
            <a:ext cx="146304" cy="146304"/>
          </a:xfrm>
          <a:prstGeom prst="ellipse">
            <a:avLst/>
          </a:prstGeom>
          <a:solidFill>
            <a:srgbClr val="C77D14"/>
          </a:solidFill>
          <a:ln w="12700">
            <a:solidFill>
              <a:srgbClr val="C77D14"/>
            </a:solidFill>
            <a:prstDash val="solid"/>
          </a:ln>
        </p:spPr>
      </p:sp>
      <p:sp>
        <p:nvSpPr>
          <p:cNvPr id="37" name="Text 35"/>
          <p:cNvSpPr/>
          <p:nvPr/>
        </p:nvSpPr>
        <p:spPr>
          <a:xfrm>
            <a:off x="4928616" y="3099816"/>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Whether published baselines came from either repo</a:t>
            </a:r>
            <a:endParaRPr lang="en-US" sz="950" dirty="0"/>
          </a:p>
        </p:txBody>
      </p:sp>
      <p:sp>
        <p:nvSpPr>
          <p:cNvPr id="38" name="Shape 36"/>
          <p:cNvSpPr/>
          <p:nvPr/>
        </p:nvSpPr>
        <p:spPr>
          <a:xfrm>
            <a:off x="4672584" y="3598164"/>
            <a:ext cx="146304" cy="146304"/>
          </a:xfrm>
          <a:prstGeom prst="ellipse">
            <a:avLst/>
          </a:prstGeom>
          <a:solidFill>
            <a:srgbClr val="C77D14"/>
          </a:solidFill>
          <a:ln w="12700">
            <a:solidFill>
              <a:srgbClr val="C77D14"/>
            </a:solidFill>
            <a:prstDash val="solid"/>
          </a:ln>
        </p:spPr>
      </p:sp>
      <p:sp>
        <p:nvSpPr>
          <p:cNvPr id="39" name="Text 37"/>
          <p:cNvSpPr/>
          <p:nvPr/>
        </p:nvSpPr>
        <p:spPr>
          <a:xfrm>
            <a:off x="4928616" y="3529584"/>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Can the published 2111×229 KIBA be recovered?</a:t>
            </a:r>
            <a:endParaRPr lang="en-US" sz="950" dirty="0"/>
          </a:p>
        </p:txBody>
      </p:sp>
      <p:sp>
        <p:nvSpPr>
          <p:cNvPr id="40" name="Shape 38"/>
          <p:cNvSpPr/>
          <p:nvPr/>
        </p:nvSpPr>
        <p:spPr>
          <a:xfrm>
            <a:off x="4672584" y="4027932"/>
            <a:ext cx="146304" cy="146304"/>
          </a:xfrm>
          <a:prstGeom prst="ellipse">
            <a:avLst/>
          </a:prstGeom>
          <a:solidFill>
            <a:srgbClr val="C77D14"/>
          </a:solidFill>
          <a:ln w="12700">
            <a:solidFill>
              <a:srgbClr val="C77D14"/>
            </a:solidFill>
            <a:prstDash val="solid"/>
          </a:ln>
        </p:spPr>
      </p:sp>
      <p:sp>
        <p:nvSpPr>
          <p:cNvPr id="41" name="Text 39"/>
          <p:cNvSpPr/>
          <p:nvPr/>
        </p:nvSpPr>
        <p:spPr>
          <a:xfrm>
            <a:off x="4928616" y="3959352"/>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Size of the CI discrepancy in DCGAN-DTA</a:t>
            </a:r>
            <a:endParaRPr lang="en-US" sz="950" dirty="0"/>
          </a:p>
        </p:txBody>
      </p:sp>
      <p:sp>
        <p:nvSpPr>
          <p:cNvPr id="42" name="Shape 40"/>
          <p:cNvSpPr/>
          <p:nvPr/>
        </p:nvSpPr>
        <p:spPr>
          <a:xfrm>
            <a:off x="4672584" y="4457700"/>
            <a:ext cx="146304" cy="146304"/>
          </a:xfrm>
          <a:prstGeom prst="ellipse">
            <a:avLst/>
          </a:prstGeom>
          <a:solidFill>
            <a:srgbClr val="C77D14"/>
          </a:solidFill>
          <a:ln w="12700">
            <a:solidFill>
              <a:srgbClr val="C77D14"/>
            </a:solidFill>
            <a:prstDash val="solid"/>
          </a:ln>
        </p:spPr>
      </p:sp>
      <p:sp>
        <p:nvSpPr>
          <p:cNvPr id="43" name="Text 41"/>
          <p:cNvSpPr/>
          <p:nvPr/>
        </p:nvSpPr>
        <p:spPr>
          <a:xfrm>
            <a:off x="4928616" y="4389120"/>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Viable TensorFlow / Keras version window</a:t>
            </a:r>
            <a:endParaRPr lang="en-US" sz="950" dirty="0"/>
          </a:p>
        </p:txBody>
      </p:sp>
      <p:sp>
        <p:nvSpPr>
          <p:cNvPr id="44" name="Shape 42"/>
          <p:cNvSpPr/>
          <p:nvPr/>
        </p:nvSpPr>
        <p:spPr>
          <a:xfrm>
            <a:off x="4672584" y="4887468"/>
            <a:ext cx="146304" cy="146304"/>
          </a:xfrm>
          <a:prstGeom prst="ellipse">
            <a:avLst/>
          </a:prstGeom>
          <a:solidFill>
            <a:srgbClr val="C77D14"/>
          </a:solidFill>
          <a:ln w="12700">
            <a:solidFill>
              <a:srgbClr val="C77D14"/>
            </a:solidFill>
            <a:prstDash val="solid"/>
          </a:ln>
        </p:spPr>
      </p:sp>
      <p:sp>
        <p:nvSpPr>
          <p:cNvPr id="45" name="Text 43"/>
          <p:cNvSpPr/>
          <p:nvPr/>
        </p:nvSpPr>
        <p:spPr>
          <a:xfrm>
            <a:off x="4928616" y="4818888"/>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Effect of the test-fold selection on reported margins</a:t>
            </a:r>
            <a:endParaRPr lang="en-US" sz="950" dirty="0"/>
          </a:p>
        </p:txBody>
      </p:sp>
      <p:sp>
        <p:nvSpPr>
          <p:cNvPr id="46" name="Shape 44"/>
          <p:cNvSpPr/>
          <p:nvPr/>
        </p:nvSpPr>
        <p:spPr>
          <a:xfrm>
            <a:off x="8439912" y="1188720"/>
            <a:ext cx="3703320" cy="4956048"/>
          </a:xfrm>
          <a:prstGeom prst="roundRect">
            <a:avLst>
              <a:gd name="adj" fmla="val 1975"/>
            </a:avLst>
          </a:prstGeom>
          <a:solidFill>
            <a:srgbClr val="F1F4F8"/>
          </a:solidFill>
          <a:ln w="9525">
            <a:solidFill>
              <a:srgbClr val="E6ECF3"/>
            </a:solidFill>
            <a:prstDash val="solid"/>
          </a:ln>
        </p:spPr>
      </p:sp>
      <p:sp>
        <p:nvSpPr>
          <p:cNvPr id="47" name="Shape 45"/>
          <p:cNvSpPr/>
          <p:nvPr/>
        </p:nvSpPr>
        <p:spPr>
          <a:xfrm>
            <a:off x="8439912" y="1188720"/>
            <a:ext cx="3703320" cy="475488"/>
          </a:xfrm>
          <a:prstGeom prst="roundRect">
            <a:avLst>
              <a:gd name="adj" fmla="val 15385"/>
            </a:avLst>
          </a:prstGeom>
          <a:solidFill>
            <a:srgbClr val="0E7C86"/>
          </a:solidFill>
          <a:ln w="12700">
            <a:solidFill>
              <a:srgbClr val="0E7C86"/>
            </a:solidFill>
            <a:prstDash val="solid"/>
          </a:ln>
        </p:spPr>
      </p:sp>
      <p:sp>
        <p:nvSpPr>
          <p:cNvPr id="48" name="Text 46"/>
          <p:cNvSpPr/>
          <p:nvPr/>
        </p:nvSpPr>
        <p:spPr>
          <a:xfrm>
            <a:off x="8439912" y="1188720"/>
            <a:ext cx="3703320" cy="475488"/>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PLANNED</a:t>
            </a:r>
            <a:endParaRPr lang="en-US" sz="1200" dirty="0"/>
          </a:p>
        </p:txBody>
      </p:sp>
      <p:sp>
        <p:nvSpPr>
          <p:cNvPr id="49" name="Shape 47"/>
          <p:cNvSpPr/>
          <p:nvPr/>
        </p:nvSpPr>
        <p:spPr>
          <a:xfrm>
            <a:off x="8641080" y="1879092"/>
            <a:ext cx="146304" cy="146304"/>
          </a:xfrm>
          <a:prstGeom prst="ellipse">
            <a:avLst/>
          </a:prstGeom>
          <a:solidFill>
            <a:srgbClr val="0E7C86"/>
          </a:solidFill>
          <a:ln w="12700">
            <a:solidFill>
              <a:srgbClr val="0E7C86"/>
            </a:solidFill>
            <a:prstDash val="solid"/>
          </a:ln>
        </p:spPr>
      </p:sp>
      <p:sp>
        <p:nvSpPr>
          <p:cNvPr id="50" name="Text 48"/>
          <p:cNvSpPr/>
          <p:nvPr/>
        </p:nvSpPr>
        <p:spPr>
          <a:xfrm>
            <a:off x="8897112" y="1810512"/>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Clear the three Co-VAE execution blockers</a:t>
            </a:r>
            <a:endParaRPr lang="en-US" sz="950" dirty="0"/>
          </a:p>
        </p:txBody>
      </p:sp>
      <p:sp>
        <p:nvSpPr>
          <p:cNvPr id="51" name="Shape 49"/>
          <p:cNvSpPr/>
          <p:nvPr/>
        </p:nvSpPr>
        <p:spPr>
          <a:xfrm>
            <a:off x="8641080" y="2308860"/>
            <a:ext cx="146304" cy="146304"/>
          </a:xfrm>
          <a:prstGeom prst="ellipse">
            <a:avLst/>
          </a:prstGeom>
          <a:solidFill>
            <a:srgbClr val="0E7C86"/>
          </a:solidFill>
          <a:ln w="12700">
            <a:solidFill>
              <a:srgbClr val="0E7C86"/>
            </a:solidFill>
            <a:prstDash val="solid"/>
          </a:ln>
        </p:spPr>
      </p:sp>
      <p:sp>
        <p:nvSpPr>
          <p:cNvPr id="52" name="Text 50"/>
          <p:cNvSpPr/>
          <p:nvPr/>
        </p:nvSpPr>
        <p:spPr>
          <a:xfrm>
            <a:off x="8897112" y="2240280"/>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Minimal construction / smoke tests</a:t>
            </a:r>
            <a:endParaRPr lang="en-US" sz="950" dirty="0"/>
          </a:p>
        </p:txBody>
      </p:sp>
      <p:sp>
        <p:nvSpPr>
          <p:cNvPr id="53" name="Shape 51"/>
          <p:cNvSpPr/>
          <p:nvPr/>
        </p:nvSpPr>
        <p:spPr>
          <a:xfrm>
            <a:off x="8641080" y="2738628"/>
            <a:ext cx="146304" cy="146304"/>
          </a:xfrm>
          <a:prstGeom prst="ellipse">
            <a:avLst/>
          </a:prstGeom>
          <a:solidFill>
            <a:srgbClr val="0E7C86"/>
          </a:solidFill>
          <a:ln w="12700">
            <a:solidFill>
              <a:srgbClr val="0E7C86"/>
            </a:solidFill>
            <a:prstDash val="solid"/>
          </a:ln>
        </p:spPr>
      </p:sp>
      <p:sp>
        <p:nvSpPr>
          <p:cNvPr id="54" name="Text 52"/>
          <p:cNvSpPr/>
          <p:nvPr/>
        </p:nvSpPr>
        <p:spPr>
          <a:xfrm>
            <a:off x="8897112" y="2670048"/>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Quantify metric and protocol deviations</a:t>
            </a:r>
            <a:endParaRPr lang="en-US" sz="950" dirty="0"/>
          </a:p>
        </p:txBody>
      </p:sp>
      <p:sp>
        <p:nvSpPr>
          <p:cNvPr id="55" name="Shape 53"/>
          <p:cNvSpPr/>
          <p:nvPr/>
        </p:nvSpPr>
        <p:spPr>
          <a:xfrm>
            <a:off x="8641080" y="3168396"/>
            <a:ext cx="146304" cy="146304"/>
          </a:xfrm>
          <a:prstGeom prst="ellipse">
            <a:avLst/>
          </a:prstGeom>
          <a:solidFill>
            <a:srgbClr val="0E7C86"/>
          </a:solidFill>
          <a:ln w="12700">
            <a:solidFill>
              <a:srgbClr val="0E7C86"/>
            </a:solidFill>
            <a:prstDash val="solid"/>
          </a:ln>
        </p:spPr>
      </p:sp>
      <p:sp>
        <p:nvSpPr>
          <p:cNvPr id="56" name="Text 54"/>
          <p:cNvSpPr/>
          <p:nvPr/>
        </p:nvSpPr>
        <p:spPr>
          <a:xfrm>
            <a:off x="8897112" y="3099816"/>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Design a common evaluation protocol</a:t>
            </a:r>
            <a:endParaRPr lang="en-US" sz="950" dirty="0"/>
          </a:p>
        </p:txBody>
      </p:sp>
      <p:sp>
        <p:nvSpPr>
          <p:cNvPr id="57" name="Shape 55"/>
          <p:cNvSpPr/>
          <p:nvPr/>
        </p:nvSpPr>
        <p:spPr>
          <a:xfrm>
            <a:off x="8641080" y="3598164"/>
            <a:ext cx="146304" cy="146304"/>
          </a:xfrm>
          <a:prstGeom prst="ellipse">
            <a:avLst/>
          </a:prstGeom>
          <a:solidFill>
            <a:srgbClr val="0E7C86"/>
          </a:solidFill>
          <a:ln w="12700">
            <a:solidFill>
              <a:srgbClr val="0E7C86"/>
            </a:solidFill>
            <a:prstDash val="solid"/>
          </a:ln>
        </p:spPr>
      </p:sp>
      <p:sp>
        <p:nvSpPr>
          <p:cNvPr id="58" name="Text 56"/>
          <p:cNvSpPr/>
          <p:nvPr/>
        </p:nvSpPr>
        <p:spPr>
          <a:xfrm>
            <a:off x="8897112" y="3529584"/>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Controlled comparative experiments</a:t>
            </a:r>
            <a:endParaRPr lang="en-US" sz="950" dirty="0"/>
          </a:p>
        </p:txBody>
      </p:sp>
      <p:sp>
        <p:nvSpPr>
          <p:cNvPr id="59" name="Shape 57"/>
          <p:cNvSpPr/>
          <p:nvPr/>
        </p:nvSpPr>
        <p:spPr>
          <a:xfrm>
            <a:off x="8641080" y="4027932"/>
            <a:ext cx="146304" cy="146304"/>
          </a:xfrm>
          <a:prstGeom prst="ellipse">
            <a:avLst/>
          </a:prstGeom>
          <a:solidFill>
            <a:srgbClr val="0E7C86"/>
          </a:solidFill>
          <a:ln w="12700">
            <a:solidFill>
              <a:srgbClr val="0E7C86"/>
            </a:solidFill>
            <a:prstDash val="solid"/>
          </a:ln>
        </p:spPr>
      </p:sp>
      <p:sp>
        <p:nvSpPr>
          <p:cNvPr id="60" name="Text 58"/>
          <p:cNvSpPr/>
          <p:nvPr/>
        </p:nvSpPr>
        <p:spPr>
          <a:xfrm>
            <a:off x="8897112" y="3959352"/>
            <a:ext cx="3044952" cy="402336"/>
          </a:xfrm>
          <a:prstGeom prst="rect">
            <a:avLst/>
          </a:prstGeom>
          <a:noFill/>
          <a:ln/>
        </p:spPr>
        <p:txBody>
          <a:bodyPr wrap="square" lIns="0" tIns="0" rIns="0" bIns="0" rtlCol="0" anchor="ctr"/>
          <a:lstStyle/>
          <a:p>
            <a:pPr indent="0" marL="0">
              <a:buNone/>
            </a:pPr>
            <a:r>
              <a:rPr lang="en-US" sz="950" dirty="0">
                <a:solidFill>
                  <a:srgbClr val="2B3A55"/>
                </a:solidFill>
                <a:latin typeface="Calibri" pitchFamily="34" charset="0"/>
                <a:ea typeface="Calibri" pitchFamily="34" charset="-122"/>
                <a:cs typeface="Calibri" pitchFamily="34" charset="-120"/>
              </a:rPr>
              <a:t>Analysis and write-up</a:t>
            </a:r>
            <a:endParaRPr lang="en-US" sz="950" dirty="0"/>
          </a:p>
        </p:txBody>
      </p:sp>
      <p:sp>
        <p:nvSpPr>
          <p:cNvPr id="61" name="Shape 59"/>
          <p:cNvSpPr/>
          <p:nvPr/>
        </p:nvSpPr>
        <p:spPr>
          <a:xfrm>
            <a:off x="502920" y="6291072"/>
            <a:ext cx="11185855" cy="420624"/>
          </a:xfrm>
          <a:prstGeom prst="roundRect">
            <a:avLst>
              <a:gd name="adj" fmla="val 15217"/>
            </a:avLst>
          </a:prstGeom>
          <a:solidFill>
            <a:srgbClr val="FBF3E4"/>
          </a:solidFill>
          <a:ln w="12700">
            <a:solidFill>
              <a:srgbClr val="C77D14"/>
            </a:solidFill>
            <a:prstDash val="solid"/>
          </a:ln>
        </p:spPr>
      </p:sp>
      <p:sp>
        <p:nvSpPr>
          <p:cNvPr id="62" name="Text 60"/>
          <p:cNvSpPr/>
          <p:nvPr/>
        </p:nvSpPr>
        <p:spPr>
          <a:xfrm>
            <a:off x="704088" y="6291072"/>
            <a:ext cx="10783519" cy="420624"/>
          </a:xfrm>
          <a:prstGeom prst="rect">
            <a:avLst/>
          </a:prstGeom>
          <a:noFill/>
          <a:ln/>
        </p:spPr>
        <p:txBody>
          <a:bodyPr wrap="square" lIns="0" tIns="0" rIns="0" bIns="0" rtlCol="0" anchor="ctr"/>
          <a:lstStyle/>
          <a:p>
            <a:pPr indent="0" marL="0">
              <a:buNone/>
            </a:pPr>
            <a:r>
              <a:rPr lang="en-US" sz="1050" dirty="0">
                <a:solidFill>
                  <a:srgbClr val="6B4A12"/>
                </a:solidFill>
                <a:latin typeface="Calibri" pitchFamily="34" charset="0"/>
                <a:ea typeface="Calibri" pitchFamily="34" charset="-122"/>
                <a:cs typeface="Calibri" pitchFamily="34" charset="-120"/>
              </a:rPr>
              <a:t>Nothing in the PLANNED column has been started. Nothing in the OPEN column has been resolved. No training run has been executed for either method.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02920" y="384048"/>
            <a:ext cx="11185855" cy="237744"/>
          </a:xfrm>
          <a:prstGeom prst="rect">
            <a:avLst/>
          </a:prstGeom>
          <a:noFill/>
          <a:ln/>
        </p:spPr>
        <p:txBody>
          <a:bodyPr wrap="square" lIns="0" tIns="0" rIns="0" bIns="0" rtlCol="0" anchor="ctr"/>
          <a:lstStyle/>
          <a:p>
            <a:pPr indent="0" marL="0">
              <a:buNone/>
            </a:pPr>
            <a:r>
              <a:rPr lang="en-US" sz="1100" b="1" spc="160" kern="0" dirty="0">
                <a:solidFill>
                  <a:srgbClr val="0E7C86"/>
                </a:solidFill>
                <a:latin typeface="Calibri" pitchFamily="34" charset="0"/>
                <a:ea typeface="Calibri" pitchFamily="34" charset="-122"/>
                <a:cs typeface="Calibri" pitchFamily="34" charset="-120"/>
              </a:rPr>
              <a:t>RESEARCH ROADMAP</a:t>
            </a:r>
            <a:endParaRPr lang="en-US" sz="1100" dirty="0"/>
          </a:p>
        </p:txBody>
      </p:sp>
      <p:sp>
        <p:nvSpPr>
          <p:cNvPr id="3" name="Text 1"/>
          <p:cNvSpPr/>
          <p:nvPr/>
        </p:nvSpPr>
        <p:spPr>
          <a:xfrm>
            <a:off x="502920" y="621792"/>
            <a:ext cx="11185855" cy="4572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the project stands, and what comes next</a:t>
            </a:r>
            <a:endParaRPr lang="en-US" sz="2800" dirty="0"/>
          </a:p>
        </p:txBody>
      </p:sp>
      <p:sp>
        <p:nvSpPr>
          <p:cNvPr id="4" name="Shape 2"/>
          <p:cNvSpPr/>
          <p:nvPr/>
        </p:nvSpPr>
        <p:spPr>
          <a:xfrm>
            <a:off x="502920" y="1481328"/>
            <a:ext cx="2148840" cy="658368"/>
          </a:xfrm>
          <a:prstGeom prst="roundRect">
            <a:avLst>
              <a:gd name="adj" fmla="val 9722"/>
            </a:avLst>
          </a:prstGeom>
          <a:solidFill>
            <a:srgbClr val="0E7C86"/>
          </a:solidFill>
          <a:ln w="13970">
            <a:solidFill>
              <a:srgbClr val="0E7C86"/>
            </a:solidFill>
            <a:prstDash val="solid"/>
          </a:ln>
        </p:spPr>
      </p:sp>
      <p:sp>
        <p:nvSpPr>
          <p:cNvPr id="5" name="Text 3"/>
          <p:cNvSpPr/>
          <p:nvPr/>
        </p:nvSpPr>
        <p:spPr>
          <a:xfrm>
            <a:off x="576072" y="1481328"/>
            <a:ext cx="2002536"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Literature review</a:t>
            </a:r>
            <a:endParaRPr lang="en-US" sz="1000" dirty="0"/>
          </a:p>
        </p:txBody>
      </p:sp>
      <p:sp>
        <p:nvSpPr>
          <p:cNvPr id="6" name="Text 4"/>
          <p:cNvSpPr/>
          <p:nvPr/>
        </p:nvSpPr>
        <p:spPr>
          <a:xfrm>
            <a:off x="2359152" y="15179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2660904" y="1810512"/>
            <a:ext cx="182880" cy="0"/>
          </a:xfrm>
          <a:prstGeom prst="line">
            <a:avLst/>
          </a:prstGeom>
          <a:noFill/>
          <a:ln w="19050">
            <a:solidFill>
              <a:srgbClr val="5C7099"/>
            </a:solidFill>
            <a:prstDash val="solid"/>
            <a:tailEnd type="triangle"/>
          </a:ln>
        </p:spPr>
      </p:sp>
      <p:sp>
        <p:nvSpPr>
          <p:cNvPr id="8" name="Shape 6"/>
          <p:cNvSpPr/>
          <p:nvPr/>
        </p:nvSpPr>
        <p:spPr>
          <a:xfrm>
            <a:off x="2852928" y="1481328"/>
            <a:ext cx="2148840" cy="658368"/>
          </a:xfrm>
          <a:prstGeom prst="roundRect">
            <a:avLst>
              <a:gd name="adj" fmla="val 9722"/>
            </a:avLst>
          </a:prstGeom>
          <a:solidFill>
            <a:srgbClr val="0E7C86"/>
          </a:solidFill>
          <a:ln w="13970">
            <a:solidFill>
              <a:srgbClr val="0E7C86"/>
            </a:solidFill>
            <a:prstDash val="solid"/>
          </a:ln>
        </p:spPr>
      </p:sp>
      <p:sp>
        <p:nvSpPr>
          <p:cNvPr id="9" name="Text 7"/>
          <p:cNvSpPr/>
          <p:nvPr/>
        </p:nvSpPr>
        <p:spPr>
          <a:xfrm>
            <a:off x="2926080" y="1481328"/>
            <a:ext cx="2002536"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Problem definition</a:t>
            </a:r>
            <a:endParaRPr lang="en-US" sz="1000" dirty="0"/>
          </a:p>
        </p:txBody>
      </p:sp>
      <p:sp>
        <p:nvSpPr>
          <p:cNvPr id="10" name="Text 8"/>
          <p:cNvSpPr/>
          <p:nvPr/>
        </p:nvSpPr>
        <p:spPr>
          <a:xfrm>
            <a:off x="4709160" y="15179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10912" y="1810512"/>
            <a:ext cx="182880" cy="0"/>
          </a:xfrm>
          <a:prstGeom prst="line">
            <a:avLst/>
          </a:prstGeom>
          <a:noFill/>
          <a:ln w="19050">
            <a:solidFill>
              <a:srgbClr val="5C7099"/>
            </a:solidFill>
            <a:prstDash val="solid"/>
            <a:tailEnd type="triangle"/>
          </a:ln>
        </p:spPr>
      </p:sp>
      <p:sp>
        <p:nvSpPr>
          <p:cNvPr id="12" name="Shape 10"/>
          <p:cNvSpPr/>
          <p:nvPr/>
        </p:nvSpPr>
        <p:spPr>
          <a:xfrm>
            <a:off x="5202936" y="1481328"/>
            <a:ext cx="2148840" cy="658368"/>
          </a:xfrm>
          <a:prstGeom prst="roundRect">
            <a:avLst>
              <a:gd name="adj" fmla="val 9722"/>
            </a:avLst>
          </a:prstGeom>
          <a:solidFill>
            <a:srgbClr val="0E7C86"/>
          </a:solidFill>
          <a:ln w="13970">
            <a:solidFill>
              <a:srgbClr val="0E7C86"/>
            </a:solidFill>
            <a:prstDash val="solid"/>
          </a:ln>
        </p:spPr>
      </p:sp>
      <p:sp>
        <p:nvSpPr>
          <p:cNvPr id="13" name="Text 11"/>
          <p:cNvSpPr/>
          <p:nvPr/>
        </p:nvSpPr>
        <p:spPr>
          <a:xfrm>
            <a:off x="5276088" y="1481328"/>
            <a:ext cx="2002536"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selection</a:t>
            </a:r>
            <a:endParaRPr lang="en-US" sz="1000" dirty="0"/>
          </a:p>
        </p:txBody>
      </p:sp>
      <p:sp>
        <p:nvSpPr>
          <p:cNvPr id="14" name="Text 12"/>
          <p:cNvSpPr/>
          <p:nvPr/>
        </p:nvSpPr>
        <p:spPr>
          <a:xfrm>
            <a:off x="7059168" y="15179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7360920" y="1810512"/>
            <a:ext cx="182880" cy="0"/>
          </a:xfrm>
          <a:prstGeom prst="line">
            <a:avLst/>
          </a:prstGeom>
          <a:noFill/>
          <a:ln w="19050">
            <a:solidFill>
              <a:srgbClr val="5C7099"/>
            </a:solidFill>
            <a:prstDash val="solid"/>
            <a:tailEnd type="triangle"/>
          </a:ln>
        </p:spPr>
      </p:sp>
      <p:sp>
        <p:nvSpPr>
          <p:cNvPr id="16" name="Shape 14"/>
          <p:cNvSpPr/>
          <p:nvPr/>
        </p:nvSpPr>
        <p:spPr>
          <a:xfrm>
            <a:off x="7552944" y="1481328"/>
            <a:ext cx="2148840" cy="658368"/>
          </a:xfrm>
          <a:prstGeom prst="roundRect">
            <a:avLst>
              <a:gd name="adj" fmla="val 9722"/>
            </a:avLst>
          </a:prstGeom>
          <a:solidFill>
            <a:srgbClr val="0E7C86"/>
          </a:solidFill>
          <a:ln w="13970">
            <a:solidFill>
              <a:srgbClr val="0E7C86"/>
            </a:solidFill>
            <a:prstDash val="solid"/>
          </a:ln>
        </p:spPr>
      </p:sp>
      <p:sp>
        <p:nvSpPr>
          <p:cNvPr id="17" name="Text 15"/>
          <p:cNvSpPr/>
          <p:nvPr/>
        </p:nvSpPr>
        <p:spPr>
          <a:xfrm>
            <a:off x="7626096" y="1481328"/>
            <a:ext cx="2002536"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analysis</a:t>
            </a:r>
            <a:endParaRPr lang="en-US" sz="1000" dirty="0"/>
          </a:p>
        </p:txBody>
      </p:sp>
      <p:sp>
        <p:nvSpPr>
          <p:cNvPr id="18" name="Text 16"/>
          <p:cNvSpPr/>
          <p:nvPr/>
        </p:nvSpPr>
        <p:spPr>
          <a:xfrm>
            <a:off x="9409176" y="15179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9710928" y="1810512"/>
            <a:ext cx="182880" cy="0"/>
          </a:xfrm>
          <a:prstGeom prst="line">
            <a:avLst/>
          </a:prstGeom>
          <a:noFill/>
          <a:ln w="19050">
            <a:solidFill>
              <a:srgbClr val="5C7099"/>
            </a:solidFill>
            <a:prstDash val="solid"/>
            <a:tailEnd type="triangle"/>
          </a:ln>
        </p:spPr>
      </p:sp>
      <p:sp>
        <p:nvSpPr>
          <p:cNvPr id="20" name="Shape 18"/>
          <p:cNvSpPr/>
          <p:nvPr/>
        </p:nvSpPr>
        <p:spPr>
          <a:xfrm>
            <a:off x="9902952" y="1481328"/>
            <a:ext cx="2148840" cy="658368"/>
          </a:xfrm>
          <a:prstGeom prst="roundRect">
            <a:avLst>
              <a:gd name="adj" fmla="val 9722"/>
            </a:avLst>
          </a:prstGeom>
          <a:solidFill>
            <a:srgbClr val="0E7C86"/>
          </a:solidFill>
          <a:ln w="13970">
            <a:solidFill>
              <a:srgbClr val="0E7C86"/>
            </a:solidFill>
            <a:prstDash val="solid"/>
          </a:ln>
        </p:spPr>
      </p:sp>
      <p:sp>
        <p:nvSpPr>
          <p:cNvPr id="21" name="Text 19"/>
          <p:cNvSpPr/>
          <p:nvPr/>
        </p:nvSpPr>
        <p:spPr>
          <a:xfrm>
            <a:off x="9976104" y="1481328"/>
            <a:ext cx="2002536"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Code audit</a:t>
            </a:r>
            <a:endParaRPr lang="en-US" sz="1000" dirty="0"/>
          </a:p>
        </p:txBody>
      </p:sp>
      <p:sp>
        <p:nvSpPr>
          <p:cNvPr id="22" name="Text 20"/>
          <p:cNvSpPr/>
          <p:nvPr/>
        </p:nvSpPr>
        <p:spPr>
          <a:xfrm>
            <a:off x="11759184" y="15179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502920" y="3054096"/>
            <a:ext cx="2148840" cy="658368"/>
          </a:xfrm>
          <a:prstGeom prst="roundRect">
            <a:avLst>
              <a:gd name="adj" fmla="val 9722"/>
            </a:avLst>
          </a:prstGeom>
          <a:solidFill>
            <a:srgbClr val="22304F"/>
          </a:solidFill>
          <a:ln w="13970">
            <a:solidFill>
              <a:srgbClr val="3E5378"/>
            </a:solidFill>
            <a:prstDash val="solid"/>
          </a:ln>
        </p:spPr>
      </p:sp>
      <p:sp>
        <p:nvSpPr>
          <p:cNvPr id="24" name="Text 22"/>
          <p:cNvSpPr/>
          <p:nvPr/>
        </p:nvSpPr>
        <p:spPr>
          <a:xfrm>
            <a:off x="576072" y="3054096"/>
            <a:ext cx="2002536" cy="658368"/>
          </a:xfrm>
          <a:prstGeom prst="rect">
            <a:avLst/>
          </a:prstGeom>
          <a:noFill/>
          <a:ln/>
        </p:spPr>
        <p:txBody>
          <a:bodyPr wrap="square" lIns="0" tIns="0" rIns="0" bIns="0" rtlCol="0" anchor="ctr"/>
          <a:lstStyle/>
          <a:p>
            <a:pPr algn="ctr" indent="0" marL="0">
              <a:buNone/>
            </a:pPr>
            <a:r>
              <a:rPr lang="en-US" sz="1000" b="1" dirty="0">
                <a:solidFill>
                  <a:srgbClr val="9FB3D1"/>
                </a:solidFill>
                <a:latin typeface="Calibri" pitchFamily="34" charset="0"/>
                <a:ea typeface="Calibri" pitchFamily="34" charset="-122"/>
                <a:cs typeface="Calibri" pitchFamily="34" charset="-120"/>
              </a:rPr>
              <a:t>Experimental verification</a:t>
            </a:r>
            <a:endParaRPr lang="en-US" sz="1000" dirty="0"/>
          </a:p>
        </p:txBody>
      </p:sp>
      <p:sp>
        <p:nvSpPr>
          <p:cNvPr id="25" name="Shape 23"/>
          <p:cNvSpPr/>
          <p:nvPr/>
        </p:nvSpPr>
        <p:spPr>
          <a:xfrm>
            <a:off x="2660904" y="3383280"/>
            <a:ext cx="182880" cy="0"/>
          </a:xfrm>
          <a:prstGeom prst="line">
            <a:avLst/>
          </a:prstGeom>
          <a:noFill/>
          <a:ln w="19050">
            <a:solidFill>
              <a:srgbClr val="5C7099"/>
            </a:solidFill>
            <a:prstDash val="solid"/>
            <a:tailEnd type="triangle"/>
          </a:ln>
        </p:spPr>
      </p:sp>
      <p:sp>
        <p:nvSpPr>
          <p:cNvPr id="26" name="Shape 24"/>
          <p:cNvSpPr/>
          <p:nvPr/>
        </p:nvSpPr>
        <p:spPr>
          <a:xfrm>
            <a:off x="2852928" y="3054096"/>
            <a:ext cx="2148840" cy="658368"/>
          </a:xfrm>
          <a:prstGeom prst="roundRect">
            <a:avLst>
              <a:gd name="adj" fmla="val 9722"/>
            </a:avLst>
          </a:prstGeom>
          <a:solidFill>
            <a:srgbClr val="22304F"/>
          </a:solidFill>
          <a:ln w="13970">
            <a:solidFill>
              <a:srgbClr val="3E5378"/>
            </a:solidFill>
            <a:prstDash val="solid"/>
          </a:ln>
        </p:spPr>
      </p:sp>
      <p:sp>
        <p:nvSpPr>
          <p:cNvPr id="27" name="Text 25"/>
          <p:cNvSpPr/>
          <p:nvPr/>
        </p:nvSpPr>
        <p:spPr>
          <a:xfrm>
            <a:off x="2926080" y="3054096"/>
            <a:ext cx="2002536" cy="658368"/>
          </a:xfrm>
          <a:prstGeom prst="rect">
            <a:avLst/>
          </a:prstGeom>
          <a:noFill/>
          <a:ln/>
        </p:spPr>
        <p:txBody>
          <a:bodyPr wrap="square" lIns="0" tIns="0" rIns="0" bIns="0" rtlCol="0" anchor="ctr"/>
          <a:lstStyle/>
          <a:p>
            <a:pPr algn="ctr" indent="0" marL="0">
              <a:buNone/>
            </a:pPr>
            <a:r>
              <a:rPr lang="en-US" sz="1000" b="1" dirty="0">
                <a:solidFill>
                  <a:srgbClr val="9FB3D1"/>
                </a:solidFill>
                <a:latin typeface="Calibri" pitchFamily="34" charset="0"/>
                <a:ea typeface="Calibri" pitchFamily="34" charset="-122"/>
                <a:cs typeface="Calibri" pitchFamily="34" charset="-120"/>
              </a:rPr>
              <a:t>Common evaluation protocol</a:t>
            </a:r>
            <a:endParaRPr lang="en-US" sz="1000" dirty="0"/>
          </a:p>
        </p:txBody>
      </p:sp>
      <p:sp>
        <p:nvSpPr>
          <p:cNvPr id="28" name="Shape 26"/>
          <p:cNvSpPr/>
          <p:nvPr/>
        </p:nvSpPr>
        <p:spPr>
          <a:xfrm>
            <a:off x="5010912" y="3383280"/>
            <a:ext cx="182880" cy="0"/>
          </a:xfrm>
          <a:prstGeom prst="line">
            <a:avLst/>
          </a:prstGeom>
          <a:noFill/>
          <a:ln w="19050">
            <a:solidFill>
              <a:srgbClr val="5C7099"/>
            </a:solidFill>
            <a:prstDash val="solid"/>
            <a:tailEnd type="triangle"/>
          </a:ln>
        </p:spPr>
      </p:sp>
      <p:sp>
        <p:nvSpPr>
          <p:cNvPr id="29" name="Shape 27"/>
          <p:cNvSpPr/>
          <p:nvPr/>
        </p:nvSpPr>
        <p:spPr>
          <a:xfrm>
            <a:off x="5202936" y="3054096"/>
            <a:ext cx="2148840" cy="658368"/>
          </a:xfrm>
          <a:prstGeom prst="roundRect">
            <a:avLst>
              <a:gd name="adj" fmla="val 9722"/>
            </a:avLst>
          </a:prstGeom>
          <a:solidFill>
            <a:srgbClr val="22304F"/>
          </a:solidFill>
          <a:ln w="13970">
            <a:solidFill>
              <a:srgbClr val="3E5378"/>
            </a:solidFill>
            <a:prstDash val="solid"/>
          </a:ln>
        </p:spPr>
      </p:sp>
      <p:sp>
        <p:nvSpPr>
          <p:cNvPr id="30" name="Text 28"/>
          <p:cNvSpPr/>
          <p:nvPr/>
        </p:nvSpPr>
        <p:spPr>
          <a:xfrm>
            <a:off x="5276088" y="3054096"/>
            <a:ext cx="2002536" cy="658368"/>
          </a:xfrm>
          <a:prstGeom prst="rect">
            <a:avLst/>
          </a:prstGeom>
          <a:noFill/>
          <a:ln/>
        </p:spPr>
        <p:txBody>
          <a:bodyPr wrap="square" lIns="0" tIns="0" rIns="0" bIns="0" rtlCol="0" anchor="ctr"/>
          <a:lstStyle/>
          <a:p>
            <a:pPr algn="ctr" indent="0" marL="0">
              <a:buNone/>
            </a:pPr>
            <a:r>
              <a:rPr lang="en-US" sz="1000" b="1" dirty="0">
                <a:solidFill>
                  <a:srgbClr val="9FB3D1"/>
                </a:solidFill>
                <a:latin typeface="Calibri" pitchFamily="34" charset="0"/>
                <a:ea typeface="Calibri" pitchFamily="34" charset="-122"/>
                <a:cs typeface="Calibri" pitchFamily="34" charset="-120"/>
              </a:rPr>
              <a:t>Comparative experiments</a:t>
            </a:r>
            <a:endParaRPr lang="en-US" sz="1000" dirty="0"/>
          </a:p>
        </p:txBody>
      </p:sp>
      <p:sp>
        <p:nvSpPr>
          <p:cNvPr id="31" name="Shape 29"/>
          <p:cNvSpPr/>
          <p:nvPr/>
        </p:nvSpPr>
        <p:spPr>
          <a:xfrm>
            <a:off x="7360920" y="3383280"/>
            <a:ext cx="182880" cy="0"/>
          </a:xfrm>
          <a:prstGeom prst="line">
            <a:avLst/>
          </a:prstGeom>
          <a:noFill/>
          <a:ln w="19050">
            <a:solidFill>
              <a:srgbClr val="5C7099"/>
            </a:solidFill>
            <a:prstDash val="solid"/>
            <a:tailEnd type="triangle"/>
          </a:ln>
        </p:spPr>
      </p:sp>
      <p:sp>
        <p:nvSpPr>
          <p:cNvPr id="32" name="Shape 30"/>
          <p:cNvSpPr/>
          <p:nvPr/>
        </p:nvSpPr>
        <p:spPr>
          <a:xfrm>
            <a:off x="7552944" y="3054096"/>
            <a:ext cx="2148840" cy="658368"/>
          </a:xfrm>
          <a:prstGeom prst="roundRect">
            <a:avLst>
              <a:gd name="adj" fmla="val 9722"/>
            </a:avLst>
          </a:prstGeom>
          <a:solidFill>
            <a:srgbClr val="22304F"/>
          </a:solidFill>
          <a:ln w="13970">
            <a:solidFill>
              <a:srgbClr val="3E5378"/>
            </a:solidFill>
            <a:prstDash val="solid"/>
          </a:ln>
        </p:spPr>
      </p:sp>
      <p:sp>
        <p:nvSpPr>
          <p:cNvPr id="33" name="Text 31"/>
          <p:cNvSpPr/>
          <p:nvPr/>
        </p:nvSpPr>
        <p:spPr>
          <a:xfrm>
            <a:off x="7626096" y="3054096"/>
            <a:ext cx="2002536" cy="658368"/>
          </a:xfrm>
          <a:prstGeom prst="rect">
            <a:avLst/>
          </a:prstGeom>
          <a:noFill/>
          <a:ln/>
        </p:spPr>
        <p:txBody>
          <a:bodyPr wrap="square" lIns="0" tIns="0" rIns="0" bIns="0" rtlCol="0" anchor="ctr"/>
          <a:lstStyle/>
          <a:p>
            <a:pPr algn="ctr" indent="0" marL="0">
              <a:buNone/>
            </a:pPr>
            <a:r>
              <a:rPr lang="en-US" sz="1000" b="1" dirty="0">
                <a:solidFill>
                  <a:srgbClr val="9FB3D1"/>
                </a:solidFill>
                <a:latin typeface="Calibri" pitchFamily="34" charset="0"/>
                <a:ea typeface="Calibri" pitchFamily="34" charset="-122"/>
                <a:cs typeface="Calibri" pitchFamily="34" charset="-120"/>
              </a:rPr>
              <a:t>Analysis</a:t>
            </a:r>
            <a:endParaRPr lang="en-US" sz="1000" dirty="0"/>
          </a:p>
        </p:txBody>
      </p:sp>
      <p:sp>
        <p:nvSpPr>
          <p:cNvPr id="34" name="Shape 32"/>
          <p:cNvSpPr/>
          <p:nvPr/>
        </p:nvSpPr>
        <p:spPr>
          <a:xfrm>
            <a:off x="9710928" y="3383280"/>
            <a:ext cx="182880" cy="0"/>
          </a:xfrm>
          <a:prstGeom prst="line">
            <a:avLst/>
          </a:prstGeom>
          <a:noFill/>
          <a:ln w="19050">
            <a:solidFill>
              <a:srgbClr val="5C7099"/>
            </a:solidFill>
            <a:prstDash val="solid"/>
            <a:tailEnd type="triangle"/>
          </a:ln>
        </p:spPr>
      </p:sp>
      <p:sp>
        <p:nvSpPr>
          <p:cNvPr id="35" name="Shape 33"/>
          <p:cNvSpPr/>
          <p:nvPr/>
        </p:nvSpPr>
        <p:spPr>
          <a:xfrm>
            <a:off x="9902952" y="3054096"/>
            <a:ext cx="2148840" cy="658368"/>
          </a:xfrm>
          <a:prstGeom prst="roundRect">
            <a:avLst>
              <a:gd name="adj" fmla="val 9722"/>
            </a:avLst>
          </a:prstGeom>
          <a:solidFill>
            <a:srgbClr val="22304F"/>
          </a:solidFill>
          <a:ln w="13970">
            <a:solidFill>
              <a:srgbClr val="3E5378"/>
            </a:solidFill>
            <a:prstDash val="solid"/>
          </a:ln>
        </p:spPr>
      </p:sp>
      <p:sp>
        <p:nvSpPr>
          <p:cNvPr id="36" name="Text 34"/>
          <p:cNvSpPr/>
          <p:nvPr/>
        </p:nvSpPr>
        <p:spPr>
          <a:xfrm>
            <a:off x="9976104" y="3054096"/>
            <a:ext cx="2002536" cy="658368"/>
          </a:xfrm>
          <a:prstGeom prst="rect">
            <a:avLst/>
          </a:prstGeom>
          <a:noFill/>
          <a:ln/>
        </p:spPr>
        <p:txBody>
          <a:bodyPr wrap="square" lIns="0" tIns="0" rIns="0" bIns="0" rtlCol="0" anchor="ctr"/>
          <a:lstStyle/>
          <a:p>
            <a:pPr algn="ctr" indent="0" marL="0">
              <a:buNone/>
            </a:pPr>
            <a:r>
              <a:rPr lang="en-US" sz="1000" b="1" dirty="0">
                <a:solidFill>
                  <a:srgbClr val="9FB3D1"/>
                </a:solidFill>
                <a:latin typeface="Calibri" pitchFamily="34" charset="0"/>
                <a:ea typeface="Calibri" pitchFamily="34" charset="-122"/>
                <a:cs typeface="Calibri" pitchFamily="34" charset="-120"/>
              </a:rPr>
              <a:t>Thesis results</a:t>
            </a:r>
            <a:endParaRPr lang="en-US" sz="1000" dirty="0"/>
          </a:p>
        </p:txBody>
      </p:sp>
      <p:sp>
        <p:nvSpPr>
          <p:cNvPr id="37" name="Shape 35"/>
          <p:cNvSpPr/>
          <p:nvPr/>
        </p:nvSpPr>
        <p:spPr>
          <a:xfrm>
            <a:off x="10977372" y="2139696"/>
            <a:ext cx="0" cy="301752"/>
          </a:xfrm>
          <a:prstGeom prst="line">
            <a:avLst/>
          </a:prstGeom>
          <a:noFill/>
          <a:ln w="17780">
            <a:solidFill>
              <a:srgbClr val="5C7099"/>
            </a:solidFill>
            <a:prstDash val="solid"/>
          </a:ln>
        </p:spPr>
      </p:sp>
      <p:sp>
        <p:nvSpPr>
          <p:cNvPr id="38" name="Shape 36"/>
          <p:cNvSpPr/>
          <p:nvPr/>
        </p:nvSpPr>
        <p:spPr>
          <a:xfrm>
            <a:off x="1577340" y="2441448"/>
            <a:ext cx="9400032" cy="0"/>
          </a:xfrm>
          <a:prstGeom prst="line">
            <a:avLst/>
          </a:prstGeom>
          <a:noFill/>
          <a:ln w="17780">
            <a:solidFill>
              <a:srgbClr val="5C7099"/>
            </a:solidFill>
            <a:prstDash val="solid"/>
          </a:ln>
        </p:spPr>
      </p:sp>
      <p:sp>
        <p:nvSpPr>
          <p:cNvPr id="39" name="Shape 37"/>
          <p:cNvSpPr/>
          <p:nvPr/>
        </p:nvSpPr>
        <p:spPr>
          <a:xfrm>
            <a:off x="1577340" y="2441448"/>
            <a:ext cx="0" cy="612648"/>
          </a:xfrm>
          <a:prstGeom prst="line">
            <a:avLst/>
          </a:prstGeom>
          <a:noFill/>
          <a:ln w="17780">
            <a:solidFill>
              <a:srgbClr val="5C7099"/>
            </a:solidFill>
            <a:prstDash val="solid"/>
            <a:tailEnd type="triangle"/>
          </a:ln>
        </p:spPr>
      </p:sp>
      <p:sp>
        <p:nvSpPr>
          <p:cNvPr id="40" name="Shape 38"/>
          <p:cNvSpPr/>
          <p:nvPr/>
        </p:nvSpPr>
        <p:spPr>
          <a:xfrm>
            <a:off x="1965960" y="2578608"/>
            <a:ext cx="2697480" cy="384048"/>
          </a:xfrm>
          <a:prstGeom prst="roundRect">
            <a:avLst>
              <a:gd name="adj" fmla="val 47619"/>
            </a:avLst>
          </a:prstGeom>
          <a:solidFill>
            <a:srgbClr val="C77D14"/>
          </a:solidFill>
          <a:ln w="12700">
            <a:solidFill>
              <a:srgbClr val="C77D14"/>
            </a:solidFill>
            <a:prstDash val="solid"/>
          </a:ln>
        </p:spPr>
      </p:sp>
      <p:sp>
        <p:nvSpPr>
          <p:cNvPr id="41" name="Text 39"/>
          <p:cNvSpPr/>
          <p:nvPr/>
        </p:nvSpPr>
        <p:spPr>
          <a:xfrm>
            <a:off x="1965960" y="2578608"/>
            <a:ext cx="2697480" cy="384048"/>
          </a:xfrm>
          <a:prstGeom prst="rect">
            <a:avLst/>
          </a:prstGeom>
          <a:noFill/>
          <a:ln/>
        </p:spPr>
        <p:txBody>
          <a:bodyPr wrap="square" lIns="0" tIns="0" rIns="0" bIns="0" rtlCol="0" anchor="ctr"/>
          <a:lstStyle/>
          <a:p>
            <a:pPr algn="ctr" indent="0" marL="0">
              <a:buNone/>
            </a:pPr>
            <a:r>
              <a:rPr lang="en-US" sz="1000" b="1" dirty="0">
                <a:solidFill>
                  <a:srgbClr val="3A2708"/>
                </a:solidFill>
                <a:latin typeface="Calibri" pitchFamily="34" charset="0"/>
                <a:ea typeface="Calibri" pitchFamily="34" charset="-122"/>
                <a:cs typeface="Calibri" pitchFamily="34" charset="-120"/>
              </a:rPr>
              <a:t>CURRENT POSITION</a:t>
            </a:r>
            <a:endParaRPr lang="en-US" sz="1000" dirty="0"/>
          </a:p>
        </p:txBody>
      </p:sp>
      <p:sp>
        <p:nvSpPr>
          <p:cNvPr id="42" name="Shape 40"/>
          <p:cNvSpPr/>
          <p:nvPr/>
        </p:nvSpPr>
        <p:spPr>
          <a:xfrm>
            <a:off x="502920" y="4498848"/>
            <a:ext cx="11185855" cy="1389888"/>
          </a:xfrm>
          <a:prstGeom prst="roundRect">
            <a:avLst>
              <a:gd name="adj" fmla="val 5921"/>
            </a:avLst>
          </a:prstGeom>
          <a:solidFill>
            <a:srgbClr val="1E3157"/>
          </a:solidFill>
          <a:ln w="16510">
            <a:solidFill>
              <a:srgbClr val="0E7C86"/>
            </a:solidFill>
            <a:prstDash val="solid"/>
          </a:ln>
        </p:spPr>
      </p:sp>
      <p:sp>
        <p:nvSpPr>
          <p:cNvPr id="43" name="Text 41"/>
          <p:cNvSpPr/>
          <p:nvPr/>
        </p:nvSpPr>
        <p:spPr>
          <a:xfrm>
            <a:off x="777240" y="4645152"/>
            <a:ext cx="10637215" cy="237744"/>
          </a:xfrm>
          <a:prstGeom prst="rect">
            <a:avLst/>
          </a:prstGeom>
          <a:noFill/>
          <a:ln/>
        </p:spPr>
        <p:txBody>
          <a:bodyPr wrap="square" lIns="0" tIns="0" rIns="0" bIns="0" rtlCol="0" anchor="ctr"/>
          <a:lstStyle/>
          <a:p>
            <a:pPr indent="0" marL="0">
              <a:buNone/>
            </a:pPr>
            <a:r>
              <a:rPr lang="en-US" sz="1000" b="1" spc="140" kern="0" dirty="0">
                <a:solidFill>
                  <a:srgbClr val="0E7C86"/>
                </a:solidFill>
                <a:latin typeface="Calibri" pitchFamily="34" charset="0"/>
                <a:ea typeface="Calibri" pitchFamily="34" charset="-122"/>
                <a:cs typeface="Calibri" pitchFamily="34" charset="-120"/>
              </a:rPr>
              <a:t>THE NEXT RESEARCH QUESTION</a:t>
            </a:r>
            <a:endParaRPr lang="en-US" sz="1000" dirty="0"/>
          </a:p>
        </p:txBody>
      </p:sp>
      <p:sp>
        <p:nvSpPr>
          <p:cNvPr id="44" name="Text 42"/>
          <p:cNvSpPr/>
          <p:nvPr/>
        </p:nvSpPr>
        <p:spPr>
          <a:xfrm>
            <a:off x="777240" y="4882896"/>
            <a:ext cx="10637215" cy="566928"/>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“How do GAN-based and VAE-based approaches compare for drug–target affinity prediction under a controlled and reproducible evaluation protocol?”</a:t>
            </a:r>
            <a:endParaRPr lang="en-US" sz="1700" dirty="0"/>
          </a:p>
        </p:txBody>
      </p:sp>
      <p:sp>
        <p:nvSpPr>
          <p:cNvPr id="45" name="Text 43"/>
          <p:cNvSpPr/>
          <p:nvPr/>
        </p:nvSpPr>
        <p:spPr>
          <a:xfrm>
            <a:off x="777240" y="5504688"/>
            <a:ext cx="10637215" cy="310896"/>
          </a:xfrm>
          <a:prstGeom prst="rect">
            <a:avLst/>
          </a:prstGeom>
          <a:noFill/>
          <a:ln/>
        </p:spPr>
        <p:txBody>
          <a:bodyPr wrap="square" lIns="0" tIns="0" rIns="0" bIns="0" rtlCol="0" anchor="ctr"/>
          <a:lstStyle/>
          <a:p>
            <a:pPr indent="0" marL="0">
              <a:buNone/>
            </a:pPr>
            <a:r>
              <a:rPr lang="en-US" sz="1000" dirty="0">
                <a:solidFill>
                  <a:srgbClr val="9FB3D1"/>
                </a:solidFill>
                <a:latin typeface="Calibri" pitchFamily="34" charset="0"/>
                <a:ea typeface="Calibri" pitchFamily="34" charset="-122"/>
                <a:cs typeface="Calibri" pitchFamily="34" charset="-120"/>
              </a:rPr>
              <a:t>Open question, not an established result. The audits establish that the published numbers cannot answer it — the two papers share no dataset, and in both repositories the reported metrics are selection-optimistic.</a:t>
            </a:r>
            <a:endParaRPr lang="en-US" sz="1000" dirty="0"/>
          </a:p>
        </p:txBody>
      </p:sp>
      <p:sp>
        <p:nvSpPr>
          <p:cNvPr id="46" name="Text 44"/>
          <p:cNvSpPr/>
          <p:nvPr/>
        </p:nvSpPr>
        <p:spPr>
          <a:xfrm>
            <a:off x="502920" y="6144768"/>
            <a:ext cx="11185855" cy="365760"/>
          </a:xfrm>
          <a:prstGeom prst="rect">
            <a:avLst/>
          </a:prstGeom>
          <a:noFill/>
          <a:ln/>
        </p:spPr>
        <p:txBody>
          <a:bodyPr wrap="square" lIns="0" tIns="0" rIns="0" bIns="0" rtlCol="0" anchor="ctr"/>
          <a:lstStyle/>
          <a:p>
            <a:pPr indent="0" marL="0">
              <a:buNone/>
            </a:pPr>
            <a:r>
              <a:rPr lang="en-US" sz="1100" b="1" dirty="0">
                <a:solidFill>
                  <a:srgbClr val="C77D14"/>
                </a:solidFill>
                <a:latin typeface="Calibri" pitchFamily="34" charset="0"/>
                <a:ea typeface="Calibri" pitchFamily="34" charset="-122"/>
                <a:cs typeface="Calibri" pitchFamily="34" charset="-120"/>
              </a:rPr>
              <a:t>Immediate next step: clear the three Co-VAE execution blockers and run construction-only smoke tests on both codebases — before any comparative experiment is attempted.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Drug-Target Affinity Prediction: Research Path, Model Selection &amp; Code Audit</dc:title>
  <dc:subject>PptxGenJS Presentation</dc:subject>
  <dc:creator>MSc Thesis — Status Report</dc:creator>
  <cp:lastModifiedBy>MSc Thesis — Status Report</cp:lastModifiedBy>
  <cp:revision>1</cp:revision>
  <dcterms:created xsi:type="dcterms:W3CDTF">2026-09-11T20:22:30Z</dcterms:created>
  <dcterms:modified xsi:type="dcterms:W3CDTF">2026-09-11T20:22:30Z</dcterms:modified>
</cp:coreProperties>
</file>